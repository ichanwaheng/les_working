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CYLINDER_RE150 — FROM ZERO TO VORTEX SHEDDING</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Flow past a cylinder at Re = 150</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A step-by-step walkthrough you can reproduce: build the mesh, extract the staggered grid, discretise the
Navier–Stokes equations, march in time, check the answer, make the pictures.</a:t>
            </a:r>
          </a:p>
        </p:txBody>
      </p:sp>
      <p:pic>
        <p:nvPicPr>
          <p:cNvPr id="6" name="Picture 5" descr="ns_fine_shedding_frame.png"/>
          <p:cNvPicPr>
            <a:picLocks noChangeAspect="1"/>
          </p:cNvPicPr>
          <p:nvPr/>
        </p:nvPicPr>
        <p:blipFill>
          <a:blip r:embed="rId2"/>
          <a:stretch>
            <a:fillRect/>
          </a:stretch>
        </p:blipFill>
        <p:spPr>
          <a:xfrm>
            <a:off x="8503920" y="411480"/>
            <a:ext cx="2209434" cy="2377440"/>
          </a:xfrm>
          <a:prstGeom prst="rect">
            <a:avLst/>
          </a:prstGeom>
        </p:spPr>
      </p:pic>
      <p:sp>
        <p:nvSpPr>
          <p:cNvPr id="7" name="TextBox 6"/>
          <p:cNvSpPr txBox="1"/>
          <p:nvPr/>
        </p:nvSpPr>
        <p:spPr>
          <a:xfrm>
            <a:off x="822960" y="5669280"/>
            <a:ext cx="7315200" cy="822960"/>
          </a:xfrm>
          <a:prstGeom prst="rect">
            <a:avLst/>
          </a:prstGeom>
          <a:noFill/>
        </p:spPr>
        <p:txBody>
          <a:bodyPr wrap="square">
            <a:spAutoFit/>
          </a:bodyPr>
          <a:lstStyle/>
          <a:p>
            <a:r>
              <a:rPr sz="1100">
                <a:solidFill>
                  <a:srgbClr val="BBC8D8"/>
                </a:solidFill>
              </a:rPr>
              <a:t>Method: Griebel, Dornseifer &amp; Neunhoeffer (1998) projection scheme, as in github.com/CaptainProton42/NavierStokes,
with finite-volume operators on the multiblock O–H mesh of mesh_from_known_sizes.py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0  </a:t>
            </a:r>
            <a:r>
              <a:rPr sz="2600" b="1">
                <a:solidFill>
                  <a:srgbClr val="1F3A5F"/>
                </a:solidFill>
              </a:rPr>
              <a:t>What you will build, and what you need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a:t>
            </a:r>
          </a:p>
        </p:txBody>
      </p:sp>
      <p:sp>
        <p:nvSpPr>
          <p:cNvPr id="5" name="TextBox 4"/>
          <p:cNvSpPr txBox="1"/>
          <p:nvPr/>
        </p:nvSpPr>
        <p:spPr>
          <a:xfrm>
            <a:off x="548640" y="1188720"/>
            <a:ext cx="6766560" cy="5029200"/>
          </a:xfrm>
          <a:prstGeom prst="rect">
            <a:avLst/>
          </a:prstGeom>
          <a:noFill/>
        </p:spPr>
        <p:txBody>
          <a:bodyPr wrap="square">
            <a:spAutoFit/>
          </a:bodyPr>
          <a:lstStyle/>
          <a:p>
            <a:pPr>
              <a:spcAft>
                <a:spcPts val="500"/>
              </a:spcAft>
            </a:pPr>
            <a:r>
              <a:rPr sz="1400" b="1">
                <a:solidFill>
                  <a:srgbClr val="444444"/>
                </a:solidFill>
              </a:rPr>
              <a:t>• What you will build</a:t>
            </a:r>
          </a:p>
          <a:p>
            <a:pPr lvl="1">
              <a:spcAft>
                <a:spcPts val="500"/>
              </a:spcAft>
            </a:pPr>
            <a:r>
              <a:rPr sz="1200" b="0">
                <a:solidFill>
                  <a:srgbClr val="444444"/>
                </a:solidFill>
              </a:rPr>
              <a:t>– a 2-D incompressible Navier–Stokes solver that produces the von Kármán vortex street behind a cylinder</a:t>
            </a:r>
          </a:p>
          <a:p>
            <a:pPr lvl="1">
              <a:spcAft>
                <a:spcPts val="500"/>
              </a:spcAft>
            </a:pPr>
            <a:r>
              <a:rPr sz="1200" b="0">
                <a:solidFill>
                  <a:srgbClr val="444444"/>
                </a:solidFill>
              </a:rPr>
              <a:t>– on a body-fitted multiblock mesh (26,444 cells) with small cells on the walls and large cells far away</a:t>
            </a:r>
          </a:p>
          <a:p>
            <a:pPr lvl="1">
              <a:spcAft>
                <a:spcPts val="500"/>
              </a:spcAft>
            </a:pPr>
            <a:r>
              <a:rPr sz="1200" b="0">
                <a:solidFill>
                  <a:srgbClr val="444444"/>
                </a:solidFill>
              </a:rPr>
              <a:t>– with checks: mass conservation to 1e-12, lift/drag history, Strouhal number ≈ 0.21</a:t>
            </a:r>
          </a:p>
          <a:p>
            <a:pPr>
              <a:spcAft>
                <a:spcPts val="500"/>
              </a:spcAft>
            </a:pPr>
            <a:r>
              <a:rPr sz="1400" b="1">
                <a:solidFill>
                  <a:srgbClr val="444444"/>
                </a:solidFill>
              </a:rPr>
              <a:t>• What you need</a:t>
            </a:r>
          </a:p>
          <a:p>
            <a:pPr lvl="1">
              <a:spcAft>
                <a:spcPts val="500"/>
              </a:spcAft>
            </a:pPr>
            <a:r>
              <a:rPr sz="1200" b="0">
                <a:solidFill>
                  <a:srgbClr val="444444"/>
                </a:solidFill>
              </a:rPr>
              <a:t>– Python 3.10+, numpy, scipy, matplotlib  (pip install numpy scipy matplotlib);  ffmpeg only for the mp4</a:t>
            </a:r>
          </a:p>
          <a:p>
            <a:pPr lvl="1">
              <a:spcAft>
                <a:spcPts val="500"/>
              </a:spcAft>
            </a:pPr>
            <a:r>
              <a:rPr sz="1200" b="0">
                <a:solidFill>
                  <a:srgbClr val="444444"/>
                </a:solidFill>
              </a:rPr>
              <a:t>– the two files:  mesh_from_known_sizes.py  (mesh + staggered grid)   and   ns_staggered_euler.py  (solver)</a:t>
            </a:r>
          </a:p>
          <a:p>
            <a:pPr lvl="1">
              <a:spcAft>
                <a:spcPts val="500"/>
              </a:spcAft>
            </a:pPr>
            <a:r>
              <a:rPr sz="1200" b="0">
                <a:solidFill>
                  <a:srgbClr val="444444"/>
                </a:solidFill>
              </a:rPr>
              <a:t>– ≈ 6 min of CPU for the fine run to tU/D = 120 on one core (12 ms per step × 26,600 steps)</a:t>
            </a:r>
          </a:p>
          <a:p>
            <a:pPr>
              <a:spcAft>
                <a:spcPts val="500"/>
              </a:spcAft>
            </a:pPr>
            <a:r>
              <a:rPr sz="1400" b="1">
                <a:solidFill>
                  <a:srgbClr val="444444"/>
                </a:solidFill>
              </a:rPr>
              <a:t>• What you should already know</a:t>
            </a:r>
          </a:p>
          <a:p>
            <a:pPr lvl="1">
              <a:spcAft>
                <a:spcPts val="500"/>
              </a:spcAft>
            </a:pPr>
            <a:r>
              <a:rPr sz="1200" b="0">
                <a:solidFill>
                  <a:srgbClr val="444444"/>
                </a:solidFill>
              </a:rPr>
              <a:t>– what a partial derivative, a divergence and a gradient are;  numpy arrays and fancy indexing (a[idx])</a:t>
            </a:r>
          </a:p>
          <a:p>
            <a:pPr lvl="1">
              <a:spcAft>
                <a:spcPts val="500"/>
              </a:spcAft>
            </a:pPr>
            <a:r>
              <a:rPr sz="1200" b="0">
                <a:solidFill>
                  <a:srgbClr val="444444"/>
                </a:solidFill>
              </a:rPr>
              <a:t>– nothing about CFD — every discretisation is derived here before it is used</a:t>
            </a:r>
          </a:p>
        </p:txBody>
      </p:sp>
      <p:graphicFrame>
        <p:nvGraphicFramePr>
          <p:cNvPr id="6" name="Table 5"/>
          <p:cNvGraphicFramePr>
            <a:graphicFrameLocks noGrp="1"/>
          </p:cNvGraphicFramePr>
          <p:nvPr/>
        </p:nvGraphicFramePr>
        <p:xfrm>
          <a:off x="7589520" y="1280160"/>
          <a:ext cx="4206240" cy="2468880"/>
        </p:xfrm>
        <a:graphic>
          <a:graphicData uri="http://schemas.openxmlformats.org/drawingml/2006/table">
            <a:tbl>
              <a:tblPr firstRow="1" bandRow="1">
                <a:tableStyleId>{5C22544A-7EE6-4342-B048-85BDC9FD1C3A}</a:tableStyleId>
              </a:tblPr>
              <a:tblGrid>
                <a:gridCol w="822960"/>
                <a:gridCol w="2103120"/>
                <a:gridCol w="1280160"/>
              </a:tblGrid>
              <a:tr h="274320">
                <a:tc>
                  <a:txBody>
                    <a:bodyPr/>
                    <a:lstStyle/>
                    <a:p>
                      <a:r>
                        <a:rPr sz="1100" b="1"/>
                        <a:t>symbol</a:t>
                      </a:r>
                    </a:p>
                  </a:txBody>
                  <a:tcPr marT="27432" marB="27432"/>
                </a:tc>
                <a:tc>
                  <a:txBody>
                    <a:bodyPr/>
                    <a:lstStyle/>
                    <a:p>
                      <a:r>
                        <a:rPr sz="1100" b="1"/>
                        <a:t>meaning</a:t>
                      </a:r>
                    </a:p>
                  </a:txBody>
                  <a:tcPr marT="27432" marB="27432"/>
                </a:tc>
                <a:tc>
                  <a:txBody>
                    <a:bodyPr/>
                    <a:lstStyle/>
                    <a:p>
                      <a:r>
                        <a:rPr sz="1100" b="1"/>
                        <a:t>value here</a:t>
                      </a:r>
                    </a:p>
                  </a:txBody>
                  <a:tcPr marT="27432" marB="27432"/>
                </a:tc>
              </a:tr>
              <a:tr h="274320">
                <a:tc>
                  <a:txBody>
                    <a:bodyPr/>
                    <a:lstStyle/>
                    <a:p>
                      <a:r>
                        <a:rPr sz="1100" b="0"/>
                        <a:t>D</a:t>
                      </a:r>
                    </a:p>
                  </a:txBody>
                  <a:tcPr marT="27432" marB="27432"/>
                </a:tc>
                <a:tc>
                  <a:txBody>
                    <a:bodyPr/>
                    <a:lstStyle/>
                    <a:p>
                      <a:r>
                        <a:rPr sz="1100" b="0"/>
                        <a:t>cylinder diameter (length unit)</a:t>
                      </a:r>
                    </a:p>
                  </a:txBody>
                  <a:tcPr marT="27432" marB="27432"/>
                </a:tc>
                <a:tc>
                  <a:txBody>
                    <a:bodyPr/>
                    <a:lstStyle/>
                    <a:p>
                      <a:r>
                        <a:rPr sz="1100" b="0"/>
                        <a:t>1</a:t>
                      </a:r>
                    </a:p>
                  </a:txBody>
                  <a:tcPr marT="27432" marB="27432"/>
                </a:tc>
              </a:tr>
              <a:tr h="274320">
                <a:tc>
                  <a:txBody>
                    <a:bodyPr/>
                    <a:lstStyle/>
                    <a:p>
                      <a:r>
                        <a:rPr sz="1100" b="0"/>
                        <a:t>U∞</a:t>
                      </a:r>
                    </a:p>
                  </a:txBody>
                  <a:tcPr marT="27432" marB="27432"/>
                </a:tc>
                <a:tc>
                  <a:txBody>
                    <a:bodyPr/>
                    <a:lstStyle/>
                    <a:p>
                      <a:r>
                        <a:rPr sz="1100" b="0"/>
                        <a:t>inlet speed (velocity unit)</a:t>
                      </a:r>
                    </a:p>
                  </a:txBody>
                  <a:tcPr marT="27432" marB="27432"/>
                </a:tc>
                <a:tc>
                  <a:txBody>
                    <a:bodyPr/>
                    <a:lstStyle/>
                    <a:p>
                      <a:r>
                        <a:rPr sz="1100" b="0"/>
                        <a:t>1</a:t>
                      </a:r>
                    </a:p>
                  </a:txBody>
                  <a:tcPr marT="27432" marB="27432"/>
                </a:tc>
              </a:tr>
              <a:tr h="274320">
                <a:tc>
                  <a:txBody>
                    <a:bodyPr/>
                    <a:lstStyle/>
                    <a:p>
                      <a:r>
                        <a:rPr sz="1100" b="0"/>
                        <a:t>ρ</a:t>
                      </a:r>
                    </a:p>
                  </a:txBody>
                  <a:tcPr marT="27432" marB="27432"/>
                </a:tc>
                <a:tc>
                  <a:txBody>
                    <a:bodyPr/>
                    <a:lstStyle/>
                    <a:p>
                      <a:r>
                        <a:rPr sz="1100" b="0"/>
                        <a:t>density</a:t>
                      </a:r>
                    </a:p>
                  </a:txBody>
                  <a:tcPr marT="27432" marB="27432"/>
                </a:tc>
                <a:tc>
                  <a:txBody>
                    <a:bodyPr/>
                    <a:lstStyle/>
                    <a:p>
                      <a:r>
                        <a:rPr sz="1100" b="0"/>
                        <a:t>1</a:t>
                      </a:r>
                    </a:p>
                  </a:txBody>
                  <a:tcPr marT="27432" marB="27432"/>
                </a:tc>
              </a:tr>
              <a:tr h="274320">
                <a:tc>
                  <a:txBody>
                    <a:bodyPr/>
                    <a:lstStyle/>
                    <a:p>
                      <a:r>
                        <a:rPr sz="1100" b="0"/>
                        <a:t>Re</a:t>
                      </a:r>
                    </a:p>
                  </a:txBody>
                  <a:tcPr marT="27432" marB="27432"/>
                </a:tc>
                <a:tc>
                  <a:txBody>
                    <a:bodyPr/>
                    <a:lstStyle/>
                    <a:p>
                      <a:r>
                        <a:rPr sz="1100" b="0"/>
                        <a:t>U∞ D / ν</a:t>
                      </a:r>
                    </a:p>
                  </a:txBody>
                  <a:tcPr marT="27432" marB="27432"/>
                </a:tc>
                <a:tc>
                  <a:txBody>
                    <a:bodyPr/>
                    <a:lstStyle/>
                    <a:p>
                      <a:r>
                        <a:rPr sz="1100" b="0"/>
                        <a:t>150</a:t>
                      </a:r>
                    </a:p>
                  </a:txBody>
                  <a:tcPr marT="27432" marB="27432"/>
                </a:tc>
              </a:tr>
              <a:tr h="274320">
                <a:tc>
                  <a:txBody>
                    <a:bodyPr/>
                    <a:lstStyle/>
                    <a:p>
                      <a:r>
                        <a:rPr sz="1100" b="0"/>
                        <a:t>ν</a:t>
                      </a:r>
                    </a:p>
                  </a:txBody>
                  <a:tcPr marT="27432" marB="27432"/>
                </a:tc>
                <a:tc>
                  <a:txBody>
                    <a:bodyPr/>
                    <a:lstStyle/>
                    <a:p>
                      <a:r>
                        <a:rPr sz="1100" b="0"/>
                        <a:t>kinematic viscosity = 1/Re</a:t>
                      </a:r>
                    </a:p>
                  </a:txBody>
                  <a:tcPr marT="27432" marB="27432"/>
                </a:tc>
                <a:tc>
                  <a:txBody>
                    <a:bodyPr/>
                    <a:lstStyle/>
                    <a:p>
                      <a:r>
                        <a:rPr sz="1100" b="0"/>
                        <a:t>0.00667</a:t>
                      </a:r>
                    </a:p>
                  </a:txBody>
                  <a:tcPr marT="27432" marB="27432"/>
                </a:tc>
              </a:tr>
              <a:tr h="274320">
                <a:tc>
                  <a:txBody>
                    <a:bodyPr/>
                    <a:lstStyle/>
                    <a:p>
                      <a:r>
                        <a:rPr sz="1100" b="0"/>
                        <a:t>t</a:t>
                      </a:r>
                    </a:p>
                  </a:txBody>
                  <a:tcPr marT="27432" marB="27432"/>
                </a:tc>
                <a:tc>
                  <a:txBody>
                    <a:bodyPr/>
                    <a:lstStyle/>
                    <a:p>
                      <a:r>
                        <a:rPr sz="1100" b="0"/>
                        <a:t>time in units of D/U∞</a:t>
                      </a:r>
                    </a:p>
                  </a:txBody>
                  <a:tcPr marT="27432" marB="27432"/>
                </a:tc>
                <a:tc>
                  <a:txBody>
                    <a:bodyPr/>
                    <a:lstStyle/>
                    <a:p>
                      <a:r>
                        <a:rPr sz="1100" b="0"/>
                        <a:t>0 … 120</a:t>
                      </a:r>
                    </a:p>
                  </a:txBody>
                  <a:tcPr marT="27432" marB="27432"/>
                </a:tc>
              </a:tr>
              <a:tr h="274320">
                <a:tc>
                  <a:txBody>
                    <a:bodyPr/>
                    <a:lstStyle/>
                    <a:p>
                      <a:r>
                        <a:rPr sz="1100" b="0"/>
                        <a:t>St</a:t>
                      </a:r>
                    </a:p>
                  </a:txBody>
                  <a:tcPr marT="27432" marB="27432"/>
                </a:tc>
                <a:tc>
                  <a:txBody>
                    <a:bodyPr/>
                    <a:lstStyle/>
                    <a:p>
                      <a:r>
                        <a:rPr sz="1100" b="0"/>
                        <a:t>shedding frequency × D / U∞</a:t>
                      </a:r>
                    </a:p>
                  </a:txBody>
                  <a:tcPr marT="27432" marB="27432"/>
                </a:tc>
                <a:tc>
                  <a:txBody>
                    <a:bodyPr/>
                    <a:lstStyle/>
                    <a:p>
                      <a:r>
                        <a:rPr sz="1100" b="0"/>
                        <a:t>≈ 0.18 (lit.)</a:t>
                      </a:r>
                    </a:p>
                  </a:txBody>
                  <a:tcPr marT="27432" marB="27432"/>
                </a:tc>
              </a:tr>
              <a:tr h="274320">
                <a:tc>
                  <a:txBody>
                    <a:bodyPr/>
                    <a:lstStyle/>
                    <a:p>
                      <a:r>
                        <a:rPr sz="1100" b="0"/>
                        <a:t>Cd, Cl</a:t>
                      </a:r>
                    </a:p>
                  </a:txBody>
                  <a:tcPr marT="27432" marB="27432"/>
                </a:tc>
                <a:tc>
                  <a:txBody>
                    <a:bodyPr/>
                    <a:lstStyle/>
                    <a:p>
                      <a:r>
                        <a:rPr sz="1100" b="0"/>
                        <a:t>force / (½ ρ U∞² D)</a:t>
                      </a:r>
                    </a:p>
                  </a:txBody>
                  <a:tcPr marT="27432" marB="27432"/>
                </a:tc>
                <a:tc>
                  <a:txBody>
                    <a:bodyPr/>
                    <a:lstStyle/>
                    <a:p>
                      <a:r>
                        <a:rPr sz="1100" b="0"/>
                        <a:t>≈ 1.33, ±0.5 (lit.)</a:t>
                      </a:r>
                    </a:p>
                  </a:txBody>
                  <a:tcPr marT="27432" marB="27432"/>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0  </a:t>
            </a:r>
            <a:r>
              <a:rPr sz="2600" b="1">
                <a:solidFill>
                  <a:srgbClr val="1F3A5F"/>
                </a:solidFill>
              </a:rPr>
              <a:t>Roadmap</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a:t>
            </a:r>
          </a:p>
        </p:txBody>
      </p:sp>
      <p:graphicFrame>
        <p:nvGraphicFramePr>
          <p:cNvPr id="5" name="Table 4"/>
          <p:cNvGraphicFramePr>
            <a:graphicFrameLocks noGrp="1"/>
          </p:cNvGraphicFramePr>
          <p:nvPr/>
        </p:nvGraphicFramePr>
        <p:xfrm>
          <a:off x="548640" y="1188720"/>
          <a:ext cx="11064240" cy="3291840"/>
        </p:xfrm>
        <a:graphic>
          <a:graphicData uri="http://schemas.openxmlformats.org/drawingml/2006/table">
            <a:tbl>
              <a:tblPr firstRow="1" bandRow="1">
                <a:tableStyleId>{5C22544A-7EE6-4342-B048-85BDC9FD1C3A}</a:tableStyleId>
              </a:tblPr>
              <a:tblGrid>
                <a:gridCol w="640080"/>
                <a:gridCol w="4937760"/>
                <a:gridCol w="4023360"/>
                <a:gridCol w="1463040"/>
              </a:tblGrid>
              <a:tr h="274320">
                <a:tc>
                  <a:txBody>
                    <a:bodyPr/>
                    <a:lstStyle/>
                    <a:p>
                      <a:r>
                        <a:rPr sz="1200" b="1"/>
                        <a:t>part</a:t>
                      </a:r>
                    </a:p>
                  </a:txBody>
                  <a:tcPr marT="27432" marB="27432"/>
                </a:tc>
                <a:tc>
                  <a:txBody>
                    <a:bodyPr/>
                    <a:lstStyle/>
                    <a:p>
                      <a:r>
                        <a:rPr sz="1200" b="1"/>
                        <a:t>what we do</a:t>
                      </a:r>
                    </a:p>
                  </a:txBody>
                  <a:tcPr marT="27432" marB="27432"/>
                </a:tc>
                <a:tc>
                  <a:txBody>
                    <a:bodyPr/>
                    <a:lstStyle/>
                    <a:p>
                      <a:r>
                        <a:rPr sz="1200" b="1"/>
                        <a:t>file / function</a:t>
                      </a:r>
                    </a:p>
                  </a:txBody>
                  <a:tcPr marT="27432" marB="27432"/>
                </a:tc>
                <a:tc>
                  <a:txBody>
                    <a:bodyPr/>
                    <a:lstStyle/>
                    <a:p>
                      <a:r>
                        <a:rPr sz="1200" b="1"/>
                        <a:t>steps</a:t>
                      </a:r>
                    </a:p>
                  </a:txBody>
                  <a:tcPr marT="27432" marB="27432"/>
                </a:tc>
              </a:tr>
              <a:tr h="274320">
                <a:tc>
                  <a:txBody>
                    <a:bodyPr/>
                    <a:lstStyle/>
                    <a:p>
                      <a:r>
                        <a:rPr sz="1200" b="0"/>
                        <a:t>A</a:t>
                      </a:r>
                    </a:p>
                  </a:txBody>
                  <a:tcPr marT="27432" marB="27432"/>
                </a:tc>
                <a:tc>
                  <a:txBody>
                    <a:bodyPr/>
                    <a:lstStyle/>
                    <a:p>
                      <a:r>
                        <a:rPr sz="1200" b="0"/>
                        <a:t>state the physical problem and the equations</a:t>
                      </a:r>
                    </a:p>
                  </a:txBody>
                  <a:tcPr marT="27432" marB="27432"/>
                </a:tc>
                <a:tc>
                  <a:txBody>
                    <a:bodyPr/>
                    <a:lstStyle/>
                    <a:p>
                      <a:r>
                        <a:rPr sz="1200" b="0"/>
                        <a:t>—</a:t>
                      </a:r>
                    </a:p>
                  </a:txBody>
                  <a:tcPr marT="27432" marB="27432"/>
                </a:tc>
                <a:tc>
                  <a:txBody>
                    <a:bodyPr/>
                    <a:lstStyle/>
                    <a:p>
                      <a:r>
                        <a:rPr sz="1200" b="0"/>
                        <a:t>A1–A2</a:t>
                      </a:r>
                    </a:p>
                  </a:txBody>
                  <a:tcPr marT="27432" marB="27432"/>
                </a:tc>
              </a:tr>
              <a:tr h="274320">
                <a:tc>
                  <a:txBody>
                    <a:bodyPr/>
                    <a:lstStyle/>
                    <a:p>
                      <a:r>
                        <a:rPr sz="1200" b="0"/>
                        <a:t>B</a:t>
                      </a:r>
                    </a:p>
                  </a:txBody>
                  <a:tcPr marT="27432" marB="27432"/>
                </a:tc>
                <a:tc>
                  <a:txBody>
                    <a:bodyPr/>
                    <a:lstStyle/>
                    <a:p>
                      <a:r>
                        <a:rPr sz="1200" b="0"/>
                        <a:t>build a mesh from three numbers: d_min, d_max, growth</a:t>
                      </a:r>
                    </a:p>
                  </a:txBody>
                  <a:tcPr marT="27432" marB="27432"/>
                </a:tc>
                <a:tc>
                  <a:txBody>
                    <a:bodyPr/>
                    <a:lstStyle/>
                    <a:p>
                      <a:r>
                        <a:rPr sz="1200" b="0"/>
                        <a:t>mesh_from_known_sizes.py</a:t>
                      </a:r>
                    </a:p>
                  </a:txBody>
                  <a:tcPr marT="27432" marB="27432"/>
                </a:tc>
                <a:tc>
                  <a:txBody>
                    <a:bodyPr/>
                    <a:lstStyle/>
                    <a:p>
                      <a:r>
                        <a:rPr sz="1200" b="0"/>
                        <a:t>B1–B4</a:t>
                      </a:r>
                    </a:p>
                  </a:txBody>
                  <a:tcPr marT="27432" marB="27432"/>
                </a:tc>
              </a:tr>
              <a:tr h="274320">
                <a:tc>
                  <a:txBody>
                    <a:bodyPr/>
                    <a:lstStyle/>
                    <a:p>
                      <a:r>
                        <a:rPr sz="1200" b="0"/>
                        <a:t>C</a:t>
                      </a:r>
                    </a:p>
                  </a:txBody>
                  <a:tcPr marT="27432" marB="27432"/>
                </a:tc>
                <a:tc>
                  <a:txBody>
                    <a:bodyPr/>
                    <a:lstStyle/>
                    <a:p>
                      <a:r>
                        <a:rPr sz="1200" b="0"/>
                        <a:t>turn the quads into a staggered grid: cells, faces, owner/neighbour</a:t>
                      </a:r>
                    </a:p>
                  </a:txBody>
                  <a:tcPr marT="27432" marB="27432"/>
                </a:tc>
                <a:tc>
                  <a:txBody>
                    <a:bodyPr/>
                    <a:lstStyle/>
                    <a:p>
                      <a:r>
                        <a:rPr sz="1200" b="0"/>
                        <a:t>extract_staggered, build_topology</a:t>
                      </a:r>
                    </a:p>
                  </a:txBody>
                  <a:tcPr marT="27432" marB="27432"/>
                </a:tc>
                <a:tc>
                  <a:txBody>
                    <a:bodyPr/>
                    <a:lstStyle/>
                    <a:p>
                      <a:r>
                        <a:rPr sz="1200" b="0"/>
                        <a:t>C1–C4</a:t>
                      </a:r>
                    </a:p>
                  </a:txBody>
                  <a:tcPr marT="27432" marB="27432"/>
                </a:tc>
              </a:tr>
              <a:tr h="274320">
                <a:tc>
                  <a:txBody>
                    <a:bodyPr/>
                    <a:lstStyle/>
                    <a:p>
                      <a:r>
                        <a:rPr sz="1200" b="0"/>
                        <a:t>D</a:t>
                      </a:r>
                    </a:p>
                  </a:txBody>
                  <a:tcPr marT="27432" marB="27432"/>
                </a:tc>
                <a:tc>
                  <a:txBody>
                    <a:bodyPr/>
                    <a:lstStyle/>
                    <a:p>
                      <a:r>
                        <a:rPr sz="1200" b="0"/>
                        <a:t>discretise each term of Navier–Stokes on that grid</a:t>
                      </a:r>
                    </a:p>
                  </a:txBody>
                  <a:tcPr marT="27432" marB="27432"/>
                </a:tc>
                <a:tc>
                  <a:txBody>
                    <a:bodyPr/>
                    <a:lstStyle/>
                    <a:p>
                      <a:r>
                        <a:rPr sz="1200" b="0"/>
                        <a:t>_convective, _laplacian, _div, _grad</a:t>
                      </a:r>
                    </a:p>
                  </a:txBody>
                  <a:tcPr marT="27432" marB="27432"/>
                </a:tc>
                <a:tc>
                  <a:txBody>
                    <a:bodyPr/>
                    <a:lstStyle/>
                    <a:p>
                      <a:r>
                        <a:rPr sz="1200" b="0"/>
                        <a:t>D1–D5</a:t>
                      </a:r>
                    </a:p>
                  </a:txBody>
                  <a:tcPr marT="27432" marB="27432"/>
                </a:tc>
              </a:tr>
              <a:tr h="274320">
                <a:tc>
                  <a:txBody>
                    <a:bodyPr/>
                    <a:lstStyle/>
                    <a:p>
                      <a:r>
                        <a:rPr sz="1200" b="0"/>
                        <a:t>E</a:t>
                      </a:r>
                    </a:p>
                  </a:txBody>
                  <a:tcPr marT="27432" marB="27432"/>
                </a:tc>
                <a:tc>
                  <a:txBody>
                    <a:bodyPr/>
                    <a:lstStyle/>
                    <a:p>
                      <a:r>
                        <a:rPr sz="1200" b="0"/>
                        <a:t>derive the pressure equation and assemble/solve it</a:t>
                      </a:r>
                    </a:p>
                  </a:txBody>
                  <a:tcPr marT="27432" marB="27432"/>
                </a:tc>
                <a:tc>
                  <a:txBody>
                    <a:bodyPr/>
                    <a:lstStyle/>
                    <a:p>
                      <a:r>
                        <a:rPr sz="1200" b="0"/>
                        <a:t>_build_poisson, _solve_poisson</a:t>
                      </a:r>
                    </a:p>
                  </a:txBody>
                  <a:tcPr marT="27432" marB="27432"/>
                </a:tc>
                <a:tc>
                  <a:txBody>
                    <a:bodyPr/>
                    <a:lstStyle/>
                    <a:p>
                      <a:r>
                        <a:rPr sz="1200" b="0"/>
                        <a:t>E1–E3</a:t>
                      </a:r>
                    </a:p>
                  </a:txBody>
                  <a:tcPr marT="27432" marB="27432"/>
                </a:tc>
              </a:tr>
              <a:tr h="274320">
                <a:tc>
                  <a:txBody>
                    <a:bodyPr/>
                    <a:lstStyle/>
                    <a:p>
                      <a:r>
                        <a:rPr sz="1200" b="0"/>
                        <a:t>F</a:t>
                      </a:r>
                    </a:p>
                  </a:txBody>
                  <a:tcPr marT="27432" marB="27432"/>
                </a:tc>
                <a:tc>
                  <a:txBody>
                    <a:bodyPr/>
                    <a:lstStyle/>
                    <a:p>
                      <a:r>
                        <a:rPr sz="1200" b="0"/>
                        <a:t>boundary conditions, Δt, initial condition</a:t>
                      </a:r>
                    </a:p>
                  </a:txBody>
                  <a:tcPr marT="27432" marB="27432"/>
                </a:tc>
                <a:tc>
                  <a:txBody>
                    <a:bodyPr/>
                    <a:lstStyle/>
                    <a:p>
                      <a:r>
                        <a:rPr sz="1200" b="0"/>
                        <a:t>_enforce_Un_bc, _balance_outlet, stable_dt</a:t>
                      </a:r>
                    </a:p>
                  </a:txBody>
                  <a:tcPr marT="27432" marB="27432"/>
                </a:tc>
                <a:tc>
                  <a:txBody>
                    <a:bodyPr/>
                    <a:lstStyle/>
                    <a:p>
                      <a:r>
                        <a:rPr sz="1200" b="0"/>
                        <a:t>F1–F3</a:t>
                      </a:r>
                    </a:p>
                  </a:txBody>
                  <a:tcPr marT="27432" marB="27432"/>
                </a:tc>
              </a:tr>
              <a:tr h="274320">
                <a:tc>
                  <a:txBody>
                    <a:bodyPr/>
                    <a:lstStyle/>
                    <a:p>
                      <a:r>
                        <a:rPr sz="1200" b="0"/>
                        <a:t>G</a:t>
                      </a:r>
                    </a:p>
                  </a:txBody>
                  <a:tcPr marT="27432" marB="27432"/>
                </a:tc>
                <a:tc>
                  <a:txBody>
                    <a:bodyPr/>
                    <a:lstStyle/>
                    <a:p>
                      <a:r>
                        <a:rPr sz="1200" b="0"/>
                        <a:t>one complete time step, then the loop</a:t>
                      </a:r>
                    </a:p>
                  </a:txBody>
                  <a:tcPr marT="27432" marB="27432"/>
                </a:tc>
                <a:tc>
                  <a:txBody>
                    <a:bodyPr/>
                    <a:lstStyle/>
                    <a:p>
                      <a:r>
                        <a:rPr sz="1200" b="0"/>
                        <a:t>step(), main()</a:t>
                      </a:r>
                    </a:p>
                  </a:txBody>
                  <a:tcPr marT="27432" marB="27432"/>
                </a:tc>
                <a:tc>
                  <a:txBody>
                    <a:bodyPr/>
                    <a:lstStyle/>
                    <a:p>
                      <a:r>
                        <a:rPr sz="1200" b="0"/>
                        <a:t>G1–G3</a:t>
                      </a:r>
                    </a:p>
                  </a:txBody>
                  <a:tcPr marT="27432" marB="27432"/>
                </a:tc>
              </a:tr>
              <a:tr h="274320">
                <a:tc>
                  <a:txBody>
                    <a:bodyPr/>
                    <a:lstStyle/>
                    <a:p>
                      <a:r>
                        <a:rPr sz="1200" b="0"/>
                        <a:t>H</a:t>
                      </a:r>
                    </a:p>
                  </a:txBody>
                  <a:tcPr marT="27432" marB="27432"/>
                </a:tc>
                <a:tc>
                  <a:txBody>
                    <a:bodyPr/>
                    <a:lstStyle/>
                    <a:p>
                      <a:r>
                        <a:rPr sz="1200" b="0"/>
                        <a:t>run it: commands, flags, console output, files</a:t>
                      </a:r>
                    </a:p>
                  </a:txBody>
                  <a:tcPr marT="27432" marB="27432"/>
                </a:tc>
                <a:tc>
                  <a:txBody>
                    <a:bodyPr/>
                    <a:lstStyle/>
                    <a:p>
                      <a:r>
                        <a:rPr sz="1200" b="0"/>
                        <a:t>CLI</a:t>
                      </a:r>
                    </a:p>
                  </a:txBody>
                  <a:tcPr marT="27432" marB="27432"/>
                </a:tc>
                <a:tc>
                  <a:txBody>
                    <a:bodyPr/>
                    <a:lstStyle/>
                    <a:p>
                      <a:r>
                        <a:rPr sz="1200" b="0"/>
                        <a:t>H1–H3</a:t>
                      </a:r>
                    </a:p>
                  </a:txBody>
                  <a:tcPr marT="27432" marB="27432"/>
                </a:tc>
              </a:tr>
              <a:tr h="274320">
                <a:tc>
                  <a:txBody>
                    <a:bodyPr/>
                    <a:lstStyle/>
                    <a:p>
                      <a:r>
                        <a:rPr sz="1200" b="0"/>
                        <a:t>I</a:t>
                      </a:r>
                    </a:p>
                  </a:txBody>
                  <a:tcPr marT="27432" marB="27432"/>
                </a:tc>
                <a:tc>
                  <a:txBody>
                    <a:bodyPr/>
                    <a:lstStyle/>
                    <a:p>
                      <a:r>
                        <a:rPr sz="1200" b="0"/>
                        <a:t>check the answer: divergence, Cd/Cl, St, literature</a:t>
                      </a:r>
                    </a:p>
                  </a:txBody>
                  <a:tcPr marT="27432" marB="27432"/>
                </a:tc>
                <a:tc>
                  <a:txBody>
                    <a:bodyPr/>
                    <a:lstStyle/>
                    <a:p>
                      <a:r>
                        <a:rPr sz="1200" b="0"/>
                        <a:t>force_coefficients, plot_forces</a:t>
                      </a:r>
                    </a:p>
                  </a:txBody>
                  <a:tcPr marT="27432" marB="27432"/>
                </a:tc>
                <a:tc>
                  <a:txBody>
                    <a:bodyPr/>
                    <a:lstStyle/>
                    <a:p>
                      <a:r>
                        <a:rPr sz="1200" b="0"/>
                        <a:t>I1–I2</a:t>
                      </a:r>
                    </a:p>
                  </a:txBody>
                  <a:tcPr marT="27432" marB="27432"/>
                </a:tc>
              </a:tr>
              <a:tr h="274320">
                <a:tc>
                  <a:txBody>
                    <a:bodyPr/>
                    <a:lstStyle/>
                    <a:p>
                      <a:r>
                        <a:rPr sz="1200" b="0"/>
                        <a:t>J</a:t>
                      </a:r>
                    </a:p>
                  </a:txBody>
                  <a:tcPr marT="27432" marB="27432"/>
                </a:tc>
                <a:tc>
                  <a:txBody>
                    <a:bodyPr/>
                    <a:lstStyle/>
                    <a:p>
                      <a:r>
                        <a:rPr sz="1200" b="0"/>
                        <a:t>make the pictures and understand what they show</a:t>
                      </a:r>
                    </a:p>
                  </a:txBody>
                  <a:tcPr marT="27432" marB="27432"/>
                </a:tc>
                <a:tc>
                  <a:txBody>
                    <a:bodyPr/>
                    <a:lstStyle/>
                    <a:p>
                      <a:r>
                        <a:rPr sz="1200" b="0"/>
                        <a:t>save_wake_frame, build_gif</a:t>
                      </a:r>
                    </a:p>
                  </a:txBody>
                  <a:tcPr marT="27432" marB="27432"/>
                </a:tc>
                <a:tc>
                  <a:txBody>
                    <a:bodyPr/>
                    <a:lstStyle/>
                    <a:p>
                      <a:r>
                        <a:rPr sz="1200" b="0"/>
                        <a:t>J1–J2</a:t>
                      </a:r>
                    </a:p>
                  </a:txBody>
                  <a:tcPr marT="27432" marB="27432"/>
                </a:tc>
              </a:tr>
              <a:tr h="274320">
                <a:tc>
                  <a:txBody>
                    <a:bodyPr/>
                    <a:lstStyle/>
                    <a:p>
                      <a:r>
                        <a:rPr sz="1200" b="0"/>
                        <a:t>K</a:t>
                      </a:r>
                    </a:p>
                  </a:txBody>
                  <a:tcPr marT="27432" marB="27432"/>
                </a:tc>
                <a:tc>
                  <a:txBody>
                    <a:bodyPr/>
                    <a:lstStyle/>
                    <a:p>
                      <a:r>
                        <a:rPr sz="1200" b="0"/>
                        <a:t>pitfalls we hit (so you don't), exercises, glossary, file map</a:t>
                      </a:r>
                    </a:p>
                  </a:txBody>
                  <a:tcPr marT="27432" marB="27432"/>
                </a:tc>
                <a:tc>
                  <a:txBody>
                    <a:bodyPr/>
                    <a:lstStyle/>
                    <a:p>
                      <a:r>
                        <a:rPr sz="1200" b="0"/>
                        <a:t>—</a:t>
                      </a:r>
                    </a:p>
                  </a:txBody>
                  <a:tcPr marT="27432" marB="27432"/>
                </a:tc>
                <a:tc>
                  <a:txBody>
                    <a:bodyPr/>
                    <a:lstStyle/>
                    <a:p>
                      <a:r>
                        <a:rPr sz="1200" b="0"/>
                        <a:t>K1–K3</a:t>
                      </a:r>
                    </a:p>
                  </a:txBody>
                  <a:tcPr marT="27432" marB="27432"/>
                </a:tc>
              </a:tr>
            </a:tbl>
          </a:graphicData>
        </a:graphic>
      </p:graphicFrame>
      <p:sp>
        <p:nvSpPr>
          <p:cNvPr id="6" name="TextBox 5"/>
          <p:cNvSpPr txBox="1"/>
          <p:nvPr/>
        </p:nvSpPr>
        <p:spPr>
          <a:xfrm>
            <a:off x="548640" y="5120640"/>
            <a:ext cx="11064240" cy="548640"/>
          </a:xfrm>
          <a:prstGeom prst="rect">
            <a:avLst/>
          </a:prstGeom>
          <a:noFill/>
        </p:spPr>
        <p:txBody>
          <a:bodyPr wrap="square">
            <a:spAutoFit/>
          </a:bodyPr>
          <a:lstStyle/>
          <a:p>
            <a:r>
              <a:rPr sz="1300" b="0" i="1">
                <a:solidFill>
                  <a:srgbClr val="444444"/>
                </a:solidFill>
              </a:rPr>
              <a:t>Each step slide is self-contained: the formula, the few lines of code that implement it, and the numbers you should see on the fine mesh.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A</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The physical problem</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What flows where, and which equations describe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A1  </a:t>
            </a:r>
            <a:r>
              <a:rPr sz="2600" b="1">
                <a:solidFill>
                  <a:srgbClr val="1F3A5F"/>
                </a:solidFill>
              </a:rPr>
              <a:t>The physical problem</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5</a:t>
            </a:r>
          </a:p>
        </p:txBody>
      </p:sp>
      <p:pic>
        <p:nvPicPr>
          <p:cNvPr id="5" name="Picture 4" descr="sk_domain.png"/>
          <p:cNvPicPr>
            <a:picLocks noChangeAspect="1"/>
          </p:cNvPicPr>
          <p:nvPr/>
        </p:nvPicPr>
        <p:blipFill>
          <a:blip r:embed="rId2"/>
          <a:stretch>
            <a:fillRect/>
          </a:stretch>
        </p:blipFill>
        <p:spPr>
          <a:xfrm>
            <a:off x="548640" y="1097280"/>
            <a:ext cx="6404882" cy="2743200"/>
          </a:xfrm>
          <a:prstGeom prst="rect">
            <a:avLst/>
          </a:prstGeom>
        </p:spPr>
      </p:pic>
      <p:sp>
        <p:nvSpPr>
          <p:cNvPr id="6" name="TextBox 5"/>
          <p:cNvSpPr txBox="1"/>
          <p:nvPr/>
        </p:nvSpPr>
        <p:spPr>
          <a:xfrm>
            <a:off x="548640" y="3931920"/>
            <a:ext cx="11064240" cy="2468880"/>
          </a:xfrm>
          <a:prstGeom prst="rect">
            <a:avLst/>
          </a:prstGeom>
          <a:noFill/>
        </p:spPr>
        <p:txBody>
          <a:bodyPr wrap="square">
            <a:spAutoFit/>
          </a:bodyPr>
          <a:lstStyle/>
          <a:p>
            <a:pPr>
              <a:spcAft>
                <a:spcPts val="300"/>
              </a:spcAft>
            </a:pPr>
            <a:r>
              <a:rPr sz="1300" b="0">
                <a:solidFill>
                  <a:srgbClr val="444444"/>
                </a:solidFill>
              </a:rPr>
              <a:t>• A channel 24 D long and 12 D high, with a cylinder of diameter D centred at (6 D, 6 D) — 6 D from the inlet, mid-height</a:t>
            </a:r>
          </a:p>
          <a:p>
            <a:pPr>
              <a:spcAft>
                <a:spcPts val="300"/>
              </a:spcAft>
            </a:pPr>
            <a:r>
              <a:rPr sz="1300" b="0">
                <a:solidFill>
                  <a:srgbClr val="444444"/>
                </a:solidFill>
              </a:rPr>
              <a:t>• Fluid enters from the left (x = 0) at speed U∞, leaves on the right (x = 24), cannot slip on the top/bottom walls (y = 0, 12) or the cylinder</a:t>
            </a:r>
          </a:p>
          <a:p>
            <a:pPr>
              <a:spcAft>
                <a:spcPts val="300"/>
              </a:spcAft>
            </a:pPr>
            <a:r>
              <a:rPr sz="1300" b="0">
                <a:solidFill>
                  <a:srgbClr val="444444"/>
                </a:solidFill>
              </a:rPr>
              <a:t>• Everything is non-dimensional: lengths in D, speeds in U∞, time in D/U∞ ("convective time units")</a:t>
            </a:r>
          </a:p>
          <a:p>
            <a:pPr>
              <a:spcAft>
                <a:spcPts val="300"/>
              </a:spcAft>
            </a:pPr>
            <a:r>
              <a:rPr sz="1300" b="0">
                <a:solidFill>
                  <a:srgbClr val="444444"/>
                </a:solidFill>
              </a:rPr>
              <a:t>• The only parameter is Re = U∞D/ν = 150</a:t>
            </a:r>
          </a:p>
          <a:p>
            <a:pPr>
              <a:spcAft>
                <a:spcPts val="300"/>
              </a:spcAft>
            </a:pPr>
            <a:r>
              <a:rPr sz="1300" b="1">
                <a:solidFill>
                  <a:srgbClr val="444444"/>
                </a:solidFill>
              </a:rPr>
              <a:t>• What should happen (experiments &amp; literature)</a:t>
            </a:r>
          </a:p>
          <a:p>
            <a:pPr lvl="1">
              <a:spcAft>
                <a:spcPts val="300"/>
              </a:spcAft>
            </a:pPr>
            <a:r>
              <a:rPr sz="1100" b="0">
                <a:solidFill>
                  <a:srgbClr val="444444"/>
                </a:solidFill>
              </a:rPr>
              <a:t>– below Re ≈ 47 the wake is steady and symmetric; above it the wake oscillates — vortices peel off alternately from top and bottom</a:t>
            </a:r>
          </a:p>
          <a:p>
            <a:pPr lvl="1">
              <a:spcAft>
                <a:spcPts val="300"/>
              </a:spcAft>
            </a:pPr>
            <a:r>
              <a:rPr sz="1100" b="0">
                <a:solidFill>
                  <a:srgbClr val="444444"/>
                </a:solidFill>
              </a:rPr>
              <a:t>– at Re = 150: shedding frequency St = f D/U∞ ≈ 0.18, mean drag Cd ≈ 1.33, lift amplitude ≈ ±0.5</a:t>
            </a:r>
          </a:p>
          <a:p>
            <a:pPr lvl="1">
              <a:spcAft>
                <a:spcPts val="300"/>
              </a:spcAft>
            </a:pPr>
            <a:r>
              <a:rPr sz="1100" b="0">
                <a:solidFill>
                  <a:srgbClr val="444444"/>
                </a:solidFill>
              </a:rPr>
              <a:t>– our channel is only 12 D high (8.3 % blockage) → expect St and Cd a little higher than these</a:t>
            </a:r>
          </a:p>
        </p:txBody>
      </p:sp>
      <p:sp>
        <p:nvSpPr>
          <p:cNvPr id="7" name="Rectangle 6"/>
          <p:cNvSpPr/>
          <p:nvPr/>
        </p:nvSpPr>
        <p:spPr>
          <a:xfrm>
            <a:off x="7680960" y="1371600"/>
            <a:ext cx="4114800" cy="91440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400" b="1">
                <a:solidFill>
                  <a:srgbClr val="B23A2A"/>
                </a:solidFill>
              </a:rPr>
              <a:t>Goal: reproduce the oscillating wake and measure St, Cd, Cl.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A2  </a:t>
            </a:r>
            <a:r>
              <a:rPr sz="2600" b="1">
                <a:solidFill>
                  <a:srgbClr val="1F3A5F"/>
                </a:solidFill>
              </a:rPr>
              <a:t>The governing equations, term by term</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6</a:t>
            </a:r>
          </a:p>
        </p:txBody>
      </p:sp>
      <p:pic>
        <p:nvPicPr>
          <p:cNvPr id="5" name="Picture 4" descr="eq_2161c88054.png"/>
          <p:cNvPicPr>
            <a:picLocks noChangeAspect="1"/>
          </p:cNvPicPr>
          <p:nvPr/>
        </p:nvPicPr>
        <p:blipFill>
          <a:blip r:embed="rId2"/>
          <a:stretch>
            <a:fillRect/>
          </a:stretch>
        </p:blipFill>
        <p:spPr>
          <a:xfrm>
            <a:off x="548640" y="1188720"/>
            <a:ext cx="1336459" cy="411480"/>
          </a:xfrm>
          <a:prstGeom prst="rect">
            <a:avLst/>
          </a:prstGeom>
        </p:spPr>
      </p:pic>
      <p:sp>
        <p:nvSpPr>
          <p:cNvPr id="6" name="TextBox 5"/>
          <p:cNvSpPr txBox="1"/>
          <p:nvPr/>
        </p:nvSpPr>
        <p:spPr>
          <a:xfrm>
            <a:off x="2926080" y="1188720"/>
            <a:ext cx="8686800" cy="457200"/>
          </a:xfrm>
          <a:prstGeom prst="rect">
            <a:avLst/>
          </a:prstGeom>
          <a:noFill/>
        </p:spPr>
        <p:txBody>
          <a:bodyPr wrap="square">
            <a:spAutoFit/>
          </a:bodyPr>
          <a:lstStyle/>
          <a:p>
            <a:r>
              <a:rPr sz="1300" b="0" i="0">
                <a:solidFill>
                  <a:srgbClr val="444444"/>
                </a:solidFill>
              </a:rPr>
              <a:t>continuity (mass): what flows into any region flows out again — the fluid is incompressible</a:t>
            </a:r>
          </a:p>
        </p:txBody>
      </p:sp>
      <p:pic>
        <p:nvPicPr>
          <p:cNvPr id="7" name="Picture 6" descr="eq_6042039629.png"/>
          <p:cNvPicPr>
            <a:picLocks noChangeAspect="1"/>
          </p:cNvPicPr>
          <p:nvPr/>
        </p:nvPicPr>
        <p:blipFill>
          <a:blip r:embed="rId3"/>
          <a:stretch>
            <a:fillRect/>
          </a:stretch>
        </p:blipFill>
        <p:spPr>
          <a:xfrm>
            <a:off x="548640" y="1783080"/>
            <a:ext cx="6507677" cy="731520"/>
          </a:xfrm>
          <a:prstGeom prst="rect">
            <a:avLst/>
          </a:prstGeom>
        </p:spPr>
      </p:pic>
      <p:graphicFrame>
        <p:nvGraphicFramePr>
          <p:cNvPr id="8" name="Table 7"/>
          <p:cNvGraphicFramePr>
            <a:graphicFrameLocks noGrp="1"/>
          </p:cNvGraphicFramePr>
          <p:nvPr/>
        </p:nvGraphicFramePr>
        <p:xfrm>
          <a:off x="548640" y="2697480"/>
          <a:ext cx="11064240" cy="1371600"/>
        </p:xfrm>
        <a:graphic>
          <a:graphicData uri="http://schemas.openxmlformats.org/drawingml/2006/table">
            <a:tbl>
              <a:tblPr firstRow="1" bandRow="1">
                <a:tableStyleId>{5C22544A-7EE6-4342-B048-85BDC9FD1C3A}</a:tableStyleId>
              </a:tblPr>
              <a:tblGrid>
                <a:gridCol w="1188720"/>
                <a:gridCol w="1828800"/>
                <a:gridCol w="4023360"/>
                <a:gridCol w="4023360"/>
              </a:tblGrid>
              <a:tr h="274320">
                <a:tc>
                  <a:txBody>
                    <a:bodyPr/>
                    <a:lstStyle/>
                    <a:p>
                      <a:r>
                        <a:rPr sz="1200" b="1"/>
                        <a:t>term</a:t>
                      </a:r>
                    </a:p>
                  </a:txBody>
                  <a:tcPr marT="27432" marB="27432"/>
                </a:tc>
                <a:tc>
                  <a:txBody>
                    <a:bodyPr/>
                    <a:lstStyle/>
                    <a:p>
                      <a:r>
                        <a:rPr sz="1200" b="1"/>
                        <a:t>name</a:t>
                      </a:r>
                    </a:p>
                  </a:txBody>
                  <a:tcPr marT="27432" marB="27432"/>
                </a:tc>
                <a:tc>
                  <a:txBody>
                    <a:bodyPr/>
                    <a:lstStyle/>
                    <a:p>
                      <a:r>
                        <a:rPr sz="1200" b="1"/>
                        <a:t>meaning</a:t>
                      </a:r>
                    </a:p>
                  </a:txBody>
                  <a:tcPr marT="27432" marB="27432"/>
                </a:tc>
                <a:tc>
                  <a:txBody>
                    <a:bodyPr/>
                    <a:lstStyle/>
                    <a:p>
                      <a:r>
                        <a:rPr sz="1200" b="1"/>
                        <a:t>how we discretise it (Part D)</a:t>
                      </a:r>
                    </a:p>
                  </a:txBody>
                  <a:tcPr marT="27432" marB="27432"/>
                </a:tc>
              </a:tr>
              <a:tr h="274320">
                <a:tc>
                  <a:txBody>
                    <a:bodyPr/>
                    <a:lstStyle/>
                    <a:p>
                      <a:r>
                        <a:rPr sz="1200" b="0"/>
                        <a:t>∂u/∂t</a:t>
                      </a:r>
                    </a:p>
                  </a:txBody>
                  <a:tcPr marT="27432" marB="27432"/>
                </a:tc>
                <a:tc>
                  <a:txBody>
                    <a:bodyPr/>
                    <a:lstStyle/>
                    <a:p>
                      <a:r>
                        <a:rPr sz="1200" b="0"/>
                        <a:t>time derivative</a:t>
                      </a:r>
                    </a:p>
                  </a:txBody>
                  <a:tcPr marT="27432" marB="27432"/>
                </a:tc>
                <a:tc>
                  <a:txBody>
                    <a:bodyPr/>
                    <a:lstStyle/>
                    <a:p>
                      <a:r>
                        <a:rPr sz="1200" b="0"/>
                        <a:t>how fast the velocity in a cell changes</a:t>
                      </a:r>
                    </a:p>
                  </a:txBody>
                  <a:tcPr marT="27432" marB="27432"/>
                </a:tc>
                <a:tc>
                  <a:txBody>
                    <a:bodyPr/>
                    <a:lstStyle/>
                    <a:p>
                      <a:r>
                        <a:rPr sz="1200" b="0"/>
                        <a:t>forward Euler: (uⁿ⁺¹ − uⁿ)/Δt</a:t>
                      </a:r>
                    </a:p>
                  </a:txBody>
                  <a:tcPr marT="27432" marB="27432"/>
                </a:tc>
              </a:tr>
              <a:tr h="274320">
                <a:tc>
                  <a:txBody>
                    <a:bodyPr/>
                    <a:lstStyle/>
                    <a:p>
                      <a:r>
                        <a:rPr sz="1200" b="0"/>
                        <a:t>∇·(u⊗u)</a:t>
                      </a:r>
                    </a:p>
                  </a:txBody>
                  <a:tcPr marT="27432" marB="27432"/>
                </a:tc>
                <a:tc>
                  <a:txBody>
                    <a:bodyPr/>
                    <a:lstStyle/>
                    <a:p>
                      <a:r>
                        <a:rPr sz="1200" b="0"/>
                        <a:t>convection</a:t>
                      </a:r>
                    </a:p>
                  </a:txBody>
                  <a:tcPr marT="27432" marB="27432"/>
                </a:tc>
                <a:tc>
                  <a:txBody>
                    <a:bodyPr/>
                    <a:lstStyle/>
                    <a:p>
                      <a:r>
                        <a:rPr sz="1200" b="0"/>
                        <a:t>momentum carried by the flow through the cell faces</a:t>
                      </a:r>
                    </a:p>
                  </a:txBody>
                  <a:tcPr marT="27432" marB="27432"/>
                </a:tc>
                <a:tc>
                  <a:txBody>
                    <a:bodyPr/>
                    <a:lstStyle/>
                    <a:p>
                      <a:r>
                        <a:rPr sz="1200" b="0"/>
                        <a:t>flux through faces, face value central or upwind</a:t>
                      </a:r>
                    </a:p>
                  </a:txBody>
                  <a:tcPr marT="27432" marB="27432"/>
                </a:tc>
              </a:tr>
              <a:tr h="274320">
                <a:tc>
                  <a:txBody>
                    <a:bodyPr/>
                    <a:lstStyle/>
                    <a:p>
                      <a:r>
                        <a:rPr sz="1200" b="0"/>
                        <a:t>−∇p/ρ</a:t>
                      </a:r>
                    </a:p>
                  </a:txBody>
                  <a:tcPr marT="27432" marB="27432"/>
                </a:tc>
                <a:tc>
                  <a:txBody>
                    <a:bodyPr/>
                    <a:lstStyle/>
                    <a:p>
                      <a:r>
                        <a:rPr sz="1200" b="0"/>
                        <a:t>pressure gradient</a:t>
                      </a:r>
                    </a:p>
                  </a:txBody>
                  <a:tcPr marT="27432" marB="27432"/>
                </a:tc>
                <a:tc>
                  <a:txBody>
                    <a:bodyPr/>
                    <a:lstStyle/>
                    <a:p>
                      <a:r>
                        <a:rPr sz="1200" b="0"/>
                        <a:t>fluid is pushed from high to low pressure</a:t>
                      </a:r>
                    </a:p>
                  </a:txBody>
                  <a:tcPr marT="27432" marB="27432"/>
                </a:tc>
                <a:tc>
                  <a:txBody>
                    <a:bodyPr/>
                    <a:lstStyle/>
                    <a:p>
                      <a:r>
                        <a:rPr sz="1200" b="0"/>
                        <a:t>pressure difference across each face</a:t>
                      </a:r>
                    </a:p>
                  </a:txBody>
                  <a:tcPr marT="27432" marB="27432"/>
                </a:tc>
              </a:tr>
              <a:tr h="274320">
                <a:tc>
                  <a:txBody>
                    <a:bodyPr/>
                    <a:lstStyle/>
                    <a:p>
                      <a:r>
                        <a:rPr sz="1200" b="0"/>
                        <a:t>ν∇²u</a:t>
                      </a:r>
                    </a:p>
                  </a:txBody>
                  <a:tcPr marT="27432" marB="27432"/>
                </a:tc>
                <a:tc>
                  <a:txBody>
                    <a:bodyPr/>
                    <a:lstStyle/>
                    <a:p>
                      <a:r>
                        <a:rPr sz="1200" b="0"/>
                        <a:t>diffusion (viscosity)</a:t>
                      </a:r>
                    </a:p>
                  </a:txBody>
                  <a:tcPr marT="27432" marB="27432"/>
                </a:tc>
                <a:tc>
                  <a:txBody>
                    <a:bodyPr/>
                    <a:lstStyle/>
                    <a:p>
                      <a:r>
                        <a:rPr sz="1200" b="0"/>
                        <a:t>momentum spreads from fast to slow neighbours</a:t>
                      </a:r>
                    </a:p>
                  </a:txBody>
                  <a:tcPr marT="27432" marB="27432"/>
                </a:tc>
                <a:tc>
                  <a:txBody>
                    <a:bodyPr/>
                    <a:lstStyle/>
                    <a:p>
                      <a:r>
                        <a:rPr sz="1200" b="0"/>
                        <a:t>central difference across each face</a:t>
                      </a:r>
                    </a:p>
                  </a:txBody>
                  <a:tcPr marT="27432" marB="27432"/>
                </a:tc>
              </a:tr>
            </a:tbl>
          </a:graphicData>
        </a:graphic>
      </p:graphicFrame>
      <p:sp>
        <p:nvSpPr>
          <p:cNvPr id="9" name="TextBox 8"/>
          <p:cNvSpPr txBox="1"/>
          <p:nvPr/>
        </p:nvSpPr>
        <p:spPr>
          <a:xfrm>
            <a:off x="548640" y="4480560"/>
            <a:ext cx="11064240" cy="1920240"/>
          </a:xfrm>
          <a:prstGeom prst="rect">
            <a:avLst/>
          </a:prstGeom>
          <a:noFill/>
        </p:spPr>
        <p:txBody>
          <a:bodyPr wrap="square">
            <a:spAutoFit/>
          </a:bodyPr>
          <a:lstStyle/>
          <a:p>
            <a:pPr>
              <a:spcAft>
                <a:spcPts val="500"/>
              </a:spcAft>
            </a:pPr>
            <a:r>
              <a:rPr sz="1300" b="0">
                <a:solidFill>
                  <a:srgbClr val="444444"/>
                </a:solidFill>
              </a:rPr>
              <a:t>• Written per component with u = (u, v): two momentum equations (for u and for v) plus one constraint (continuity)</a:t>
            </a:r>
          </a:p>
          <a:p>
            <a:pPr>
              <a:spcAft>
                <a:spcPts val="500"/>
              </a:spcAft>
            </a:pPr>
            <a:r>
              <a:rPr sz="1300" b="0">
                <a:solidFill>
                  <a:srgbClr val="444444"/>
                </a:solidFill>
              </a:rPr>
              <a:t>• Unknowns: u, v, p — three fields. But there are only two evolution equations (for u and v). There is no ∂p/∂t anywhere</a:t>
            </a:r>
          </a:p>
          <a:p>
            <a:pPr>
              <a:spcAft>
                <a:spcPts val="500"/>
              </a:spcAft>
            </a:pPr>
            <a:r>
              <a:rPr sz="1300" b="1">
                <a:solidFill>
                  <a:srgbClr val="444444"/>
                </a:solidFill>
              </a:rPr>
              <a:t>• Key idea for the whole method: the pressure is not marched in time. At each step it is whatever field is needed to make the new velocity satisfy ∇·u = 0.</a:t>
            </a:r>
          </a:p>
          <a:p>
            <a:pPr>
              <a:spcAft>
                <a:spcPts val="500"/>
              </a:spcAft>
            </a:pPr>
            <a:r>
              <a:rPr sz="1300" b="0">
                <a:solidFill>
                  <a:srgbClr val="444444"/>
                </a:solidFill>
              </a:rPr>
              <a:t>• With D = U∞ = ρ = 1 the only number left is ν = 1/Re = 1/150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B</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Building the mesh from three numbers</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mesh_from_known_sizes.py: d_min, d_max, growth ratio — everything else is derived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B1  </a:t>
            </a:r>
            <a:r>
              <a:rPr sz="2600" b="1">
                <a:solidFill>
                  <a:srgbClr val="1F3A5F"/>
                </a:solidFill>
              </a:rPr>
              <a:t>Why not a uniform grid?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8</a:t>
            </a:r>
          </a:p>
        </p:txBody>
      </p:sp>
      <p:sp>
        <p:nvSpPr>
          <p:cNvPr id="5" name="TextBox 4"/>
          <p:cNvSpPr txBox="1"/>
          <p:nvPr/>
        </p:nvSpPr>
        <p:spPr>
          <a:xfrm>
            <a:off x="548640" y="1188720"/>
            <a:ext cx="11064240" cy="2743200"/>
          </a:xfrm>
          <a:prstGeom prst="rect">
            <a:avLst/>
          </a:prstGeom>
          <a:noFill/>
        </p:spPr>
        <p:txBody>
          <a:bodyPr wrap="square">
            <a:spAutoFit/>
          </a:bodyPr>
          <a:lstStyle/>
          <a:p>
            <a:pPr>
              <a:spcAft>
                <a:spcPts val="500"/>
              </a:spcAft>
            </a:pPr>
            <a:r>
              <a:rPr sz="1400" b="0">
                <a:solidFill>
                  <a:srgbClr val="444444"/>
                </a:solidFill>
              </a:rPr>
              <a:t>• The thin layer where the fluid slows to zero on the cylinder (the boundary layer) is about δ ≈ D/√Re ≈ 0.08 D thick</a:t>
            </a:r>
          </a:p>
          <a:p>
            <a:pPr>
              <a:spcAft>
                <a:spcPts val="500"/>
              </a:spcAft>
            </a:pPr>
            <a:r>
              <a:rPr sz="1400" b="0">
                <a:solidFill>
                  <a:srgbClr val="444444"/>
                </a:solidFill>
              </a:rPr>
              <a:t>• To resolve it we need cells of about 0.015 D there. A uniform 0.015 grid over 24 D × 12 D is 1.3 million cells — and Δt would be tiny everywhere</a:t>
            </a:r>
          </a:p>
          <a:p>
            <a:pPr>
              <a:spcAft>
                <a:spcPts val="500"/>
              </a:spcAft>
            </a:pPr>
            <a:r>
              <a:rPr sz="1400" b="0">
                <a:solidFill>
                  <a:srgbClr val="444444"/>
                </a:solidFill>
              </a:rPr>
              <a:t>• Far from the cylinder the flow varies over ~1 D; cells of 0.1–0.2 D are plenty</a:t>
            </a:r>
          </a:p>
          <a:p>
            <a:pPr>
              <a:spcAft>
                <a:spcPts val="500"/>
              </a:spcAft>
            </a:pPr>
            <a:r>
              <a:rPr sz="1400" b="1">
                <a:solidFill>
                  <a:srgbClr val="444444"/>
                </a:solidFill>
              </a:rPr>
              <a:t>• So: small cells on the walls, growing geometrically outward, uniform large cells elsewhere. Three numbers describe this:</a:t>
            </a:r>
          </a:p>
          <a:p>
            <a:pPr lvl="1">
              <a:spcAft>
                <a:spcPts val="500"/>
              </a:spcAft>
            </a:pPr>
            <a:r>
              <a:rPr sz="1200" b="0">
                <a:solidFill>
                  <a:srgbClr val="444444"/>
                </a:solidFill>
              </a:rPr>
              <a:t>– d_min — the wall-normal size of the first cell on every wall (cylinder and channel walls)</a:t>
            </a:r>
          </a:p>
          <a:p>
            <a:pPr lvl="1">
              <a:spcAft>
                <a:spcPts val="500"/>
              </a:spcAft>
            </a:pPr>
            <a:r>
              <a:rPr sz="1200" b="0">
                <a:solidFill>
                  <a:srgbClr val="444444"/>
                </a:solidFill>
              </a:rPr>
              <a:t>– growth_ratio r — each cell in the layer is r × the previous one (1.1–1.2 is usual; we use 1.15)</a:t>
            </a:r>
          </a:p>
          <a:p>
            <a:pPr lvl="1">
              <a:spcAft>
                <a:spcPts val="500"/>
              </a:spcAft>
            </a:pPr>
            <a:r>
              <a:rPr sz="1200" b="0">
                <a:solidFill>
                  <a:srgbClr val="444444"/>
                </a:solidFill>
              </a:rPr>
              <a:t>– d_max — the cell size everywhere outside the layer; the layer stops when a cell would exceed d_max</a:t>
            </a:r>
          </a:p>
          <a:p>
            <a:pPr>
              <a:spcAft>
                <a:spcPts val="500"/>
              </a:spcAft>
            </a:pPr>
            <a:r>
              <a:rPr sz="1400" b="0">
                <a:solidFill>
                  <a:srgbClr val="444444"/>
                </a:solidFill>
              </a:rPr>
              <a:t>• Everything else (number of layer cells, block sizes, cell counts) is computed from these</a:t>
            </a:r>
          </a:p>
        </p:txBody>
      </p:sp>
      <p:pic>
        <p:nvPicPr>
          <p:cNvPr id="6" name="Picture 5" descr="sk_bl.png"/>
          <p:cNvPicPr>
            <a:picLocks noChangeAspect="1"/>
          </p:cNvPicPr>
          <p:nvPr/>
        </p:nvPicPr>
        <p:blipFill>
          <a:blip r:embed="rId2"/>
          <a:stretch>
            <a:fillRect/>
          </a:stretch>
        </p:blipFill>
        <p:spPr>
          <a:xfrm>
            <a:off x="548640" y="3749039"/>
            <a:ext cx="6949440" cy="2007616"/>
          </a:xfrm>
          <a:prstGeom prst="rect">
            <a:avLst/>
          </a:prstGeom>
        </p:spPr>
      </p:pic>
      <p:pic>
        <p:nvPicPr>
          <p:cNvPr id="7" name="Picture 6" descr="eq_f1a7d13edb.png"/>
          <p:cNvPicPr>
            <a:picLocks noChangeAspect="1"/>
          </p:cNvPicPr>
          <p:nvPr/>
        </p:nvPicPr>
        <p:blipFill>
          <a:blip r:embed="rId3"/>
          <a:stretch>
            <a:fillRect/>
          </a:stretch>
        </p:blipFill>
        <p:spPr>
          <a:xfrm>
            <a:off x="7772400" y="3931920"/>
            <a:ext cx="3811465" cy="685800"/>
          </a:xfrm>
          <a:prstGeom prst="rect">
            <a:avLst/>
          </a:prstGeom>
        </p:spPr>
      </p:pic>
      <p:pic>
        <p:nvPicPr>
          <p:cNvPr id="8" name="Picture 7" descr="eq_ab230378e8.png"/>
          <p:cNvPicPr>
            <a:picLocks noChangeAspect="1"/>
          </p:cNvPicPr>
          <p:nvPr/>
        </p:nvPicPr>
        <p:blipFill>
          <a:blip r:embed="rId4"/>
          <a:stretch>
            <a:fillRect/>
          </a:stretch>
        </p:blipFill>
        <p:spPr>
          <a:xfrm>
            <a:off x="7772400" y="4846320"/>
            <a:ext cx="4023360" cy="39008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B2  </a:t>
            </a:r>
            <a:r>
              <a:rPr sz="2600" b="1">
                <a:solidFill>
                  <a:srgbClr val="1F3A5F"/>
                </a:solidFill>
              </a:rPr>
              <a:t>Boundary-layer stack: the numbers for the fine mesh</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9</a:t>
            </a:r>
          </a:p>
        </p:txBody>
      </p:sp>
      <p:sp>
        <p:nvSpPr>
          <p:cNvPr id="5" name="Rectangle 4"/>
          <p:cNvSpPr/>
          <p:nvPr/>
        </p:nvSpPr>
        <p:spPr>
          <a:xfrm>
            <a:off x="548640" y="1188720"/>
            <a:ext cx="6766560" cy="292608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def boundary_layer(d_min, d_max, r):</a:t>
            </a:r>
          </a:p>
          <a:p>
            <a:pPr algn="l"/>
            <a:r>
              <a:rPr sz="1100">
                <a:solidFill>
                  <a:srgbClr val="202020"/>
                </a:solidFill>
                <a:latin typeface="Courier New"/>
              </a:rPr>
              <a:t>    n = int(np.floor(np.log(d_max / d_min) / np.log(r) + 1e-9)) + 1</a:t>
            </a:r>
          </a:p>
          <a:p>
            <a:pPr algn="l"/>
            <a:r>
              <a:rPr sz="1100">
                <a:solidFill>
                  <a:srgbClr val="202020"/>
                </a:solidFill>
                <a:latin typeface="Courier New"/>
              </a:rPr>
              <a:t>    k = np.arange(n + 1)</a:t>
            </a:r>
          </a:p>
          <a:p>
            <a:pPr algn="l"/>
            <a:r>
              <a:rPr sz="1100">
                <a:solidFill>
                  <a:srgbClr val="202020"/>
                </a:solidFill>
                <a:latin typeface="Courier New"/>
              </a:rPr>
              <a:t>    t = d_min * (r**k - 1.0) / (r - 1.0)     # cumulative thickness</a:t>
            </a:r>
          </a:p>
          <a:p>
            <a:pPr algn="l"/>
            <a:r>
              <a:rPr sz="1100">
                <a:solidFill>
                  <a:srgbClr val="202020"/>
                </a:solidFill>
                <a:latin typeface="Courier New"/>
              </a:rPr>
              <a:t>    return dict(n=n, r=r, t=t, T=t[-1], d_last=d_min * r**(n - 1))</a:t>
            </a:r>
          </a:p>
          <a:p>
            <a:pPr algn="l"/>
            <a:r>
              <a:rPr sz="1100">
                <a:solidFill>
                  <a:srgbClr val="202020"/>
                </a:solidFill>
                <a:latin typeface="Courier New"/>
              </a:rPr>
              <a:t> </a:t>
            </a:r>
          </a:p>
          <a:p>
            <a:pPr algn="l"/>
            <a:r>
              <a:rPr sz="1100">
                <a:solidFill>
                  <a:srgbClr val="202020"/>
                </a:solidFill>
                <a:latin typeface="Courier New"/>
              </a:rPr>
              <a:t>&gt;&gt;&gt; boundary_layer(0.015, 0.12, 1.15)</a:t>
            </a:r>
          </a:p>
          <a:p>
            <a:pPr algn="l"/>
            <a:r>
              <a:rPr sz="1100">
                <a:solidFill>
                  <a:srgbClr val="202020"/>
                </a:solidFill>
                <a:latin typeface="Courier New"/>
              </a:rPr>
              <a:t>n = 15 cells,  T = 0.714,  d_last = 0.106</a:t>
            </a:r>
          </a:p>
          <a:p>
            <a:pPr algn="l"/>
            <a:r>
              <a:rPr sz="1100">
                <a:solidFill>
                  <a:srgbClr val="202020"/>
                </a:solidFill>
                <a:latin typeface="Courier New"/>
              </a:rPr>
              <a:t>t = [0, 0.015, 0.032, 0.052, 0.075, 0.101, 0.131, 0.166, 0.206,</a:t>
            </a:r>
          </a:p>
          <a:p>
            <a:pPr algn="l"/>
            <a:r>
              <a:rPr sz="1100">
                <a:solidFill>
                  <a:srgbClr val="202020"/>
                </a:solidFill>
                <a:latin typeface="Courier New"/>
              </a:rPr>
              <a:t>     0.252, 0.305, 0.365, 0.435, 0.515, 0.608, 0.714]</a:t>
            </a:r>
          </a:p>
        </p:txBody>
      </p:sp>
      <p:sp>
        <p:nvSpPr>
          <p:cNvPr id="6" name="TextBox 5"/>
          <p:cNvSpPr txBox="1"/>
          <p:nvPr/>
        </p:nvSpPr>
        <p:spPr>
          <a:xfrm>
            <a:off x="7589520" y="1188720"/>
            <a:ext cx="4206240" cy="3108960"/>
          </a:xfrm>
          <a:prstGeom prst="rect">
            <a:avLst/>
          </a:prstGeom>
          <a:noFill/>
        </p:spPr>
        <p:txBody>
          <a:bodyPr wrap="square">
            <a:spAutoFit/>
          </a:bodyPr>
          <a:lstStyle/>
          <a:p>
            <a:pPr>
              <a:spcAft>
                <a:spcPts val="500"/>
              </a:spcAft>
            </a:pPr>
            <a:r>
              <a:rPr sz="1200" b="0">
                <a:solidFill>
                  <a:srgbClr val="444444"/>
                </a:solidFill>
              </a:rPr>
              <a:t>• 15 cells grow from 0.015 to 0.106 (the last one still ≤ d_max = 0.12) over a thickness of 0.71 D</a:t>
            </a:r>
          </a:p>
          <a:p>
            <a:pPr>
              <a:spcAft>
                <a:spcPts val="500"/>
              </a:spcAft>
            </a:pPr>
            <a:r>
              <a:rPr sz="1200" b="0">
                <a:solidFill>
                  <a:srgbClr val="444444"/>
                </a:solidFill>
              </a:rPr>
              <a:t>• The physical boundary layer (≈ 0.08 D) is covered by the first 4 cells — enough for a laminar Re = 150 demo</a:t>
            </a:r>
          </a:p>
          <a:p>
            <a:pPr>
              <a:spcAft>
                <a:spcPts val="500"/>
              </a:spcAft>
            </a:pPr>
            <a:r>
              <a:rPr sz="1200" b="0">
                <a:solidFill>
                  <a:srgbClr val="444444"/>
                </a:solidFill>
              </a:rPr>
              <a:t>• The same stack is used on the cylinder (radially) and on the top/bottom walls (vertically)</a:t>
            </a:r>
          </a:p>
          <a:p>
            <a:pPr>
              <a:spcAft>
                <a:spcPts val="500"/>
              </a:spcAft>
            </a:pPr>
            <a:r>
              <a:rPr sz="1200" b="0">
                <a:solidFill>
                  <a:srgbClr val="444444"/>
                </a:solidFill>
              </a:rPr>
              <a:t>• Changing d_min changes everything downstream: cell count, smallest cell h_min, and therefore Δt (Part F)</a:t>
            </a:r>
          </a:p>
        </p:txBody>
      </p:sp>
      <p:graphicFrame>
        <p:nvGraphicFramePr>
          <p:cNvPr id="7" name="Table 6"/>
          <p:cNvGraphicFramePr>
            <a:graphicFrameLocks noGrp="1"/>
          </p:cNvGraphicFramePr>
          <p:nvPr/>
        </p:nvGraphicFramePr>
        <p:xfrm>
          <a:off x="548640" y="4343400"/>
          <a:ext cx="11064240" cy="1097280"/>
        </p:xfrm>
        <a:graphic>
          <a:graphicData uri="http://schemas.openxmlformats.org/drawingml/2006/table">
            <a:tbl>
              <a:tblPr firstRow="1" bandRow="1">
                <a:tableStyleId>{5C22544A-7EE6-4342-B048-85BDC9FD1C3A}</a:tableStyleId>
              </a:tblPr>
              <a:tblGrid>
                <a:gridCol w="1828800"/>
                <a:gridCol w="1005840"/>
                <a:gridCol w="1005840"/>
                <a:gridCol w="1188720"/>
                <a:gridCol w="1005840"/>
                <a:gridCol w="1005840"/>
                <a:gridCol w="4023360"/>
              </a:tblGrid>
              <a:tr h="274320">
                <a:tc>
                  <a:txBody>
                    <a:bodyPr/>
                    <a:lstStyle/>
                    <a:p>
                      <a:r>
                        <a:rPr sz="1100" b="1"/>
                        <a:t>preset</a:t>
                      </a:r>
                    </a:p>
                  </a:txBody>
                  <a:tcPr marT="27432" marB="27432"/>
                </a:tc>
                <a:tc>
                  <a:txBody>
                    <a:bodyPr/>
                    <a:lstStyle/>
                    <a:p>
                      <a:r>
                        <a:rPr sz="1100" b="1"/>
                        <a:t>d_min</a:t>
                      </a:r>
                    </a:p>
                  </a:txBody>
                  <a:tcPr marT="27432" marB="27432"/>
                </a:tc>
                <a:tc>
                  <a:txBody>
                    <a:bodyPr/>
                    <a:lstStyle/>
                    <a:p>
                      <a:r>
                        <a:rPr sz="1100" b="1"/>
                        <a:t>d_max</a:t>
                      </a:r>
                    </a:p>
                  </a:txBody>
                  <a:tcPr marT="27432" marB="27432"/>
                </a:tc>
                <a:tc>
                  <a:txBody>
                    <a:bodyPr/>
                    <a:lstStyle/>
                    <a:p>
                      <a:r>
                        <a:rPr sz="1100" b="1"/>
                        <a:t>cells</a:t>
                      </a:r>
                    </a:p>
                  </a:txBody>
                  <a:tcPr marT="27432" marB="27432"/>
                </a:tc>
                <a:tc>
                  <a:txBody>
                    <a:bodyPr/>
                    <a:lstStyle/>
                    <a:p>
                      <a:r>
                        <a:rPr sz="1100" b="1"/>
                        <a:t>h_min</a:t>
                      </a:r>
                    </a:p>
                  </a:txBody>
                  <a:tcPr marT="27432" marB="27432"/>
                </a:tc>
                <a:tc>
                  <a:txBody>
                    <a:bodyPr/>
                    <a:lstStyle/>
                    <a:p>
                      <a:r>
                        <a:rPr sz="1100" b="1"/>
                        <a:t>Δt</a:t>
                      </a:r>
                    </a:p>
                  </a:txBody>
                  <a:tcPr marT="27432" marB="27432"/>
                </a:tc>
                <a:tc>
                  <a:txBody>
                    <a:bodyPr/>
                    <a:lstStyle/>
                    <a:p>
                      <a:r>
                        <a:rPr sz="1100" b="1"/>
                        <a:t>use</a:t>
                      </a:r>
                    </a:p>
                  </a:txBody>
                  <a:tcPr marT="27432" marB="27432"/>
                </a:tc>
              </a:tr>
              <a:tr h="274320">
                <a:tc>
                  <a:txBody>
                    <a:bodyPr/>
                    <a:lstStyle/>
                    <a:p>
                      <a:r>
                        <a:rPr sz="1100" b="0"/>
                        <a:t>--quick</a:t>
                      </a:r>
                    </a:p>
                  </a:txBody>
                  <a:tcPr marT="27432" marB="27432"/>
                </a:tc>
                <a:tc>
                  <a:txBody>
                    <a:bodyPr/>
                    <a:lstStyle/>
                    <a:p>
                      <a:r>
                        <a:rPr sz="1100" b="0"/>
                        <a:t>0.05</a:t>
                      </a:r>
                    </a:p>
                  </a:txBody>
                  <a:tcPr marT="27432" marB="27432"/>
                </a:tc>
                <a:tc>
                  <a:txBody>
                    <a:bodyPr/>
                    <a:lstStyle/>
                    <a:p>
                      <a:r>
                        <a:rPr sz="1100" b="0"/>
                        <a:t>0.30</a:t>
                      </a:r>
                    </a:p>
                  </a:txBody>
                  <a:tcPr marT="27432" marB="27432"/>
                </a:tc>
                <a:tc>
                  <a:txBody>
                    <a:bodyPr/>
                    <a:lstStyle/>
                    <a:p>
                      <a:r>
                        <a:rPr sz="1100" b="0"/>
                        <a:t>4,848</a:t>
                      </a:r>
                    </a:p>
                  </a:txBody>
                  <a:tcPr marT="27432" marB="27432"/>
                </a:tc>
                <a:tc>
                  <a:txBody>
                    <a:bodyPr/>
                    <a:lstStyle/>
                    <a:p>
                      <a:r>
                        <a:rPr sz="1100" b="0"/>
                        <a:t>0.06</a:t>
                      </a:r>
                    </a:p>
                  </a:txBody>
                  <a:tcPr marT="27432" marB="27432"/>
                </a:tc>
                <a:tc>
                  <a:txBody>
                    <a:bodyPr/>
                    <a:lstStyle/>
                    <a:p>
                      <a:r>
                        <a:rPr sz="1100" b="0"/>
                        <a:t>0.02</a:t>
                      </a:r>
                    </a:p>
                  </a:txBody>
                  <a:tcPr marT="27432" marB="27432"/>
                </a:tc>
                <a:tc>
                  <a:txBody>
                    <a:bodyPr/>
                    <a:lstStyle/>
                    <a:p>
                      <a:r>
                        <a:rPr sz="1100" b="0"/>
                        <a:t>smoke test, steady wake, ~1 min</a:t>
                      </a:r>
                    </a:p>
                  </a:txBody>
                  <a:tcPr marT="27432" marB="27432"/>
                </a:tc>
              </a:tr>
              <a:tr h="274320">
                <a:tc>
                  <a:txBody>
                    <a:bodyPr/>
                    <a:lstStyle/>
                    <a:p>
                      <a:r>
                        <a:rPr sz="1100" b="0"/>
                        <a:t>--fine</a:t>
                      </a:r>
                    </a:p>
                  </a:txBody>
                  <a:tcPr marT="27432" marB="27432"/>
                </a:tc>
                <a:tc>
                  <a:txBody>
                    <a:bodyPr/>
                    <a:lstStyle/>
                    <a:p>
                      <a:r>
                        <a:rPr sz="1100" b="0"/>
                        <a:t>0.015</a:t>
                      </a:r>
                    </a:p>
                  </a:txBody>
                  <a:tcPr marT="27432" marB="27432"/>
                </a:tc>
                <a:tc>
                  <a:txBody>
                    <a:bodyPr/>
                    <a:lstStyle/>
                    <a:p>
                      <a:r>
                        <a:rPr sz="1100" b="0"/>
                        <a:t>0.12</a:t>
                      </a:r>
                    </a:p>
                  </a:txBody>
                  <a:tcPr marT="27432" marB="27432"/>
                </a:tc>
                <a:tc>
                  <a:txBody>
                    <a:bodyPr/>
                    <a:lstStyle/>
                    <a:p>
                      <a:r>
                        <a:rPr sz="1100" b="0"/>
                        <a:t>26,444</a:t>
                      </a:r>
                    </a:p>
                  </a:txBody>
                  <a:tcPr marT="27432" marB="27432"/>
                </a:tc>
                <a:tc>
                  <a:txBody>
                    <a:bodyPr/>
                    <a:lstStyle/>
                    <a:p>
                      <a:r>
                        <a:rPr sz="1100" b="0"/>
                        <a:t>0.0177</a:t>
                      </a:r>
                    </a:p>
                  </a:txBody>
                  <a:tcPr marT="27432" marB="27432"/>
                </a:tc>
                <a:tc>
                  <a:txBody>
                    <a:bodyPr/>
                    <a:lstStyle/>
                    <a:p>
                      <a:r>
                        <a:rPr sz="1100" b="0"/>
                        <a:t>0.0045</a:t>
                      </a:r>
                    </a:p>
                  </a:txBody>
                  <a:tcPr marT="27432" marB="27432"/>
                </a:tc>
                <a:tc>
                  <a:txBody>
                    <a:bodyPr/>
                    <a:lstStyle/>
                    <a:p>
                      <a:r>
                        <a:rPr sz="1100" b="0"/>
                        <a:t>vortex shedding (this deck), ~5 min</a:t>
                      </a:r>
                    </a:p>
                  </a:txBody>
                  <a:tcPr marT="27432" marB="27432"/>
                </a:tc>
              </a:tr>
              <a:tr h="274320">
                <a:tc>
                  <a:txBody>
                    <a:bodyPr/>
                    <a:lstStyle/>
                    <a:p>
                      <a:r>
                        <a:rPr sz="1100" b="0"/>
                        <a:t>INPUT (file default)</a:t>
                      </a:r>
                    </a:p>
                  </a:txBody>
                  <a:tcPr marT="27432" marB="27432"/>
                </a:tc>
                <a:tc>
                  <a:txBody>
                    <a:bodyPr/>
                    <a:lstStyle/>
                    <a:p>
                      <a:r>
                        <a:rPr sz="1100" b="0"/>
                        <a:t>0.006</a:t>
                      </a:r>
                    </a:p>
                  </a:txBody>
                  <a:tcPr marT="27432" marB="27432"/>
                </a:tc>
                <a:tc>
                  <a:txBody>
                    <a:bodyPr/>
                    <a:lstStyle/>
                    <a:p>
                      <a:r>
                        <a:rPr sz="1100" b="0"/>
                        <a:t>0.06</a:t>
                      </a:r>
                    </a:p>
                  </a:txBody>
                  <a:tcPr marT="27432" marB="27432"/>
                </a:tc>
                <a:tc>
                  <a:txBody>
                    <a:bodyPr/>
                    <a:lstStyle/>
                    <a:p>
                      <a:r>
                        <a:rPr sz="1100" b="0"/>
                        <a:t>~95,000</a:t>
                      </a:r>
                    </a:p>
                  </a:txBody>
                  <a:tcPr marT="27432" marB="27432"/>
                </a:tc>
                <a:tc>
                  <a:txBody>
                    <a:bodyPr/>
                    <a:lstStyle/>
                    <a:p>
                      <a:r>
                        <a:rPr sz="1100" b="0"/>
                        <a:t>0.006</a:t>
                      </a:r>
                    </a:p>
                  </a:txBody>
                  <a:tcPr marT="27432" marB="27432"/>
                </a:tc>
                <a:tc>
                  <a:txBody>
                    <a:bodyPr/>
                    <a:lstStyle/>
                    <a:p>
                      <a:r>
                        <a:rPr sz="1100" b="0"/>
                        <a:t>0.001</a:t>
                      </a:r>
                    </a:p>
                  </a:txBody>
                  <a:tcPr marT="27432" marB="27432"/>
                </a:tc>
                <a:tc>
                  <a:txBody>
                    <a:bodyPr/>
                    <a:lstStyle/>
                    <a:p>
                      <a:r>
                        <a:rPr sz="1100" b="0"/>
                        <a:t>production; needs LU and patience</a:t>
                      </a:r>
                    </a:p>
                  </a:txBody>
                  <a:tcPr marT="27432" marB="27432"/>
                </a:tc>
              </a:tr>
            </a:tbl>
          </a:graphicData>
        </a:graphic>
      </p:graphicFrame>
      <p:sp>
        <p:nvSpPr>
          <p:cNvPr id="8" name="Rectangle 7"/>
          <p:cNvSpPr/>
          <p:nvPr/>
        </p:nvSpPr>
        <p:spPr>
          <a:xfrm>
            <a:off x="548640" y="5760720"/>
            <a:ext cx="11064240" cy="50292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Rule of thumb: halve d_min → ×4 cells near walls and ÷4 in Δt (diffusive limit) → ×16 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B3  </a:t>
            </a:r>
            <a:r>
              <a:rPr sz="2600" b="1">
                <a:solidFill>
                  <a:srgbClr val="1F3A5F"/>
                </a:solidFill>
              </a:rPr>
              <a:t>Block layout: an O-ring inside a Cartesian channel</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10</a:t>
            </a:r>
          </a:p>
        </p:txBody>
      </p:sp>
      <p:pic>
        <p:nvPicPr>
          <p:cNvPr id="5" name="Picture 4" descr="mesh_fine.png"/>
          <p:cNvPicPr>
            <a:picLocks noChangeAspect="1"/>
          </p:cNvPicPr>
          <p:nvPr/>
        </p:nvPicPr>
        <p:blipFill>
          <a:blip r:embed="rId2"/>
          <a:stretch>
            <a:fillRect/>
          </a:stretch>
        </p:blipFill>
        <p:spPr>
          <a:xfrm>
            <a:off x="548640" y="1143000"/>
            <a:ext cx="4724968" cy="3931920"/>
          </a:xfrm>
          <a:prstGeom prst="rect">
            <a:avLst/>
          </a:prstGeom>
        </p:spPr>
      </p:pic>
      <p:sp>
        <p:nvSpPr>
          <p:cNvPr id="6" name="TextBox 5"/>
          <p:cNvSpPr txBox="1"/>
          <p:nvPr/>
        </p:nvSpPr>
        <p:spPr>
          <a:xfrm>
            <a:off x="5669280" y="1234440"/>
            <a:ext cx="6217920" cy="4023360"/>
          </a:xfrm>
          <a:prstGeom prst="rect">
            <a:avLst/>
          </a:prstGeom>
          <a:noFill/>
        </p:spPr>
        <p:txBody>
          <a:bodyPr wrap="square">
            <a:spAutoFit/>
          </a:bodyPr>
          <a:lstStyle/>
          <a:p>
            <a:pPr>
              <a:spcAft>
                <a:spcPts val="500"/>
              </a:spcAft>
            </a:pPr>
            <a:r>
              <a:rPr sz="1200" b="0">
                <a:solidFill>
                  <a:srgbClr val="444444"/>
                </a:solidFill>
              </a:rPr>
              <a:t>• O-block (blue/cyan): 152 radial lines × (15 layer cells + transition cells). The layer cells follow the stack t_k; the transition cells go straight from the end of the layer to a square of half-side a</a:t>
            </a:r>
          </a:p>
          <a:p>
            <a:pPr>
              <a:spcAft>
                <a:spcPts val="500"/>
              </a:spcAft>
            </a:pPr>
            <a:r>
              <a:rPr sz="1200" b="0">
                <a:solidFill>
                  <a:srgbClr val="444444"/>
                </a:solidFill>
              </a:rPr>
              <a:t>• Square: side 2a with a = 2.20 chosen automatically as the smallest value for which the size jump at the ring→square interface stays below max_jump = 2.0</a:t>
            </a:r>
          </a:p>
          <a:p>
            <a:pPr>
              <a:spcAft>
                <a:spcPts val="500"/>
              </a:spcAft>
            </a:pPr>
            <a:r>
              <a:rPr sz="1200" b="0">
                <a:solidFill>
                  <a:srgbClr val="444444"/>
                </a:solidFill>
              </a:rPr>
              <a:t>• Cartesian blocks (grey): grid lines at spacing ≈ d_max, with the same layer stack against the top and bottom walls (orange)</a:t>
            </a:r>
          </a:p>
          <a:p>
            <a:pPr>
              <a:spcAft>
                <a:spcPts val="500"/>
              </a:spcAft>
            </a:pPr>
            <a:r>
              <a:rPr sz="1200" b="0">
                <a:solidFill>
                  <a:srgbClr val="444444"/>
                </a:solidFill>
              </a:rPr>
              <a:t>• The blocks share nodes exactly along their interfaces → conforming mesh, no hanging nodes, every face has at most two cells</a:t>
            </a:r>
          </a:p>
          <a:p>
            <a:pPr>
              <a:spcAft>
                <a:spcPts val="500"/>
              </a:spcAft>
            </a:pPr>
            <a:r>
              <a:rPr sz="1200" b="1">
                <a:solidFill>
                  <a:srgbClr val="444444"/>
                </a:solidFill>
              </a:rPr>
              <a:t>• Checks printed by the mesher: no inverted cells (min area 3.1e-4), 0 unclassified boundary edges, interface size jumps 1.99 and 1.82 (limit 2.0)</a:t>
            </a:r>
          </a:p>
        </p:txBody>
      </p:sp>
      <p:sp>
        <p:nvSpPr>
          <p:cNvPr id="7" name="TextBox 6"/>
          <p:cNvSpPr txBox="1"/>
          <p:nvPr/>
        </p:nvSpPr>
        <p:spPr>
          <a:xfrm>
            <a:off x="548640" y="5257800"/>
            <a:ext cx="11064240" cy="822960"/>
          </a:xfrm>
          <a:prstGeom prst="rect">
            <a:avLst/>
          </a:prstGeom>
          <a:noFill/>
        </p:spPr>
        <p:txBody>
          <a:bodyPr wrap="square">
            <a:spAutoFit/>
          </a:bodyPr>
          <a:lstStyle/>
          <a:p>
            <a:r>
              <a:rPr sz="1200" b="0" i="1">
                <a:solidFill>
                  <a:srgbClr val="444444"/>
                </a:solidFill>
              </a:rPr>
              <a:t>Why an O-ring: cells stay aligned with the cylinder surface, so the wall-normal direction is a grid direction and the thin first cell is well shaped (0.015 × 0.021) instead of a staircase.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B4  </a:t>
            </a:r>
            <a:r>
              <a:rPr sz="2600" b="1">
                <a:solidFill>
                  <a:srgbClr val="1F3A5F"/>
                </a:solidFill>
              </a:rPr>
              <a:t>Run the mesher</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11</a:t>
            </a:r>
          </a:p>
        </p:txBody>
      </p:sp>
      <p:sp>
        <p:nvSpPr>
          <p:cNvPr id="5" name="Rectangle 4"/>
          <p:cNvSpPr/>
          <p:nvPr/>
        </p:nvSpPr>
        <p:spPr>
          <a:xfrm>
            <a:off x="548640" y="1188720"/>
            <a:ext cx="11064240" cy="146304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cd cylinder_re150</a:t>
            </a:r>
          </a:p>
          <a:p>
            <a:pPr algn="l"/>
            <a:r>
              <a:rPr sz="1100">
                <a:solidFill>
                  <a:srgbClr val="202020"/>
                </a:solidFill>
                <a:latin typeface="Courier New"/>
              </a:rPr>
              <a:t>python mesh_from_known_sizes.py          # uses INPUT at the top of the file (d_min = 0.006)</a:t>
            </a:r>
          </a:p>
          <a:p>
            <a:pPr algn="l"/>
            <a:r>
              <a:rPr sz="1100">
                <a:solidFill>
                  <a:srgbClr val="202020"/>
                </a:solidFill>
                <a:latin typeface="Courier New"/>
              </a:rPr>
              <a:t> </a:t>
            </a:r>
          </a:p>
          <a:p>
            <a:pPr algn="l"/>
            <a:r>
              <a:rPr sz="1100">
                <a:solidFill>
                  <a:srgbClr val="202020"/>
                </a:solidFill>
                <a:latin typeface="Courier New"/>
              </a:rPr>
              <a:t># or let the solver build a preset for you (same mesher, different numbers):</a:t>
            </a:r>
          </a:p>
          <a:p>
            <a:pPr algn="l"/>
            <a:r>
              <a:rPr sz="1100">
                <a:solidFill>
                  <a:srgbClr val="202020"/>
                </a:solidFill>
                <a:latin typeface="Courier New"/>
              </a:rPr>
              <a:t>python ns_staggered_euler.py --fine --build-mesh --steps 1 --no-gif</a:t>
            </a:r>
          </a:p>
          <a:p>
            <a:pPr algn="l"/>
            <a:r>
              <a:rPr sz="1100">
                <a:solidFill>
                  <a:srgbClr val="202020"/>
                </a:solidFill>
                <a:latin typeface="Courier New"/>
              </a:rPr>
              <a:t>#   MESH_PRESETS["fine"] = dict(d_min=0.015, d_max=0.12, growth_ratio=1.15, max_jump=2.0, a=None)</a:t>
            </a:r>
          </a:p>
        </p:txBody>
      </p:sp>
      <p:sp>
        <p:nvSpPr>
          <p:cNvPr id="6" name="TextBox 5"/>
          <p:cNvSpPr txBox="1"/>
          <p:nvPr/>
        </p:nvSpPr>
        <p:spPr>
          <a:xfrm>
            <a:off x="548640" y="2743200"/>
            <a:ext cx="5486400" cy="365760"/>
          </a:xfrm>
          <a:prstGeom prst="rect">
            <a:avLst/>
          </a:prstGeom>
          <a:noFill/>
        </p:spPr>
        <p:txBody>
          <a:bodyPr wrap="square">
            <a:spAutoFit/>
          </a:bodyPr>
          <a:lstStyle/>
          <a:p>
            <a:r>
              <a:rPr sz="1200" b="1" i="0">
                <a:solidFill>
                  <a:srgbClr val="444444"/>
                </a:solidFill>
              </a:rPr>
              <a:t>Console output you should see (abridged):</a:t>
            </a:r>
          </a:p>
        </p:txBody>
      </p:sp>
      <p:sp>
        <p:nvSpPr>
          <p:cNvPr id="7" name="Rectangle 6"/>
          <p:cNvSpPr/>
          <p:nvPr/>
        </p:nvSpPr>
        <p:spPr>
          <a:xfrm>
            <a:off x="548640" y="3108960"/>
            <a:ext cx="11064240" cy="219456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[PASS] size jumps at block interfaces   ring-&gt;transition 1.992, transition-&gt;rectangles 1.823 (limit 2.0)</a:t>
            </a:r>
          </a:p>
          <a:p>
            <a:pPr algn="l"/>
            <a:r>
              <a:rPr sz="1000">
                <a:solidFill>
                  <a:srgbClr val="202020"/>
                </a:solidFill>
                <a:latin typeface="Courier New"/>
              </a:rPr>
              <a:t>[PASS] no inverted cells                min area 3.146e-04</a:t>
            </a:r>
          </a:p>
          <a:p>
            <a:pPr algn="l"/>
            <a:r>
              <a:rPr sz="1000">
                <a:solidFill>
                  <a:srgbClr val="202020"/>
                </a:solidFill>
                <a:latin typeface="Courier New"/>
              </a:rPr>
              <a:t>[PASS] conforming (no hanging nodes)    0 unclassified boundary edges</a:t>
            </a:r>
          </a:p>
          <a:p>
            <a:pPr algn="l"/>
            <a:r>
              <a:rPr sz="1000">
                <a:solidFill>
                  <a:srgbClr val="202020"/>
                </a:solidFill>
                <a:latin typeface="Courier New"/>
              </a:rPr>
              <a:t>STAGGERED GRID</a:t>
            </a:r>
          </a:p>
          <a:p>
            <a:pPr algn="l"/>
            <a:r>
              <a:rPr sz="1000">
                <a:solidFill>
                  <a:srgbClr val="202020"/>
                </a:solidFill>
                <a:latin typeface="Courier New"/>
              </a:rPr>
              <a:t>cells (P locations)     : 26,444</a:t>
            </a:r>
          </a:p>
          <a:p>
            <a:pPr algn="l"/>
            <a:r>
              <a:rPr sz="1000">
                <a:solidFill>
                  <a:srgbClr val="202020"/>
                </a:solidFill>
                <a:latin typeface="Courier New"/>
              </a:rPr>
              <a:t>faces (velocity locs)   : 53,286  (796 boundary, 52,490 interior)</a:t>
            </a:r>
          </a:p>
          <a:p>
            <a:pPr algn="l"/>
            <a:r>
              <a:rPr sz="1000">
                <a:solidFill>
                  <a:srgbClr val="202020"/>
                </a:solidFill>
                <a:latin typeface="Courier New"/>
              </a:rPr>
              <a:t>boundary patches        : ['cylinder', 'inlet', 'outlet', 'wall_bottom', 'wall_top']</a:t>
            </a:r>
          </a:p>
          <a:p>
            <a:pPr algn="l"/>
            <a:r>
              <a:rPr sz="1000">
                <a:solidFill>
                  <a:srgbClr val="202020"/>
                </a:solidFill>
                <a:latin typeface="Courier New"/>
              </a:rPr>
              <a:t>    cylinder  152 faces   inlet  120   outlet  120   wall_bottom  202   wall_top  202</a:t>
            </a:r>
          </a:p>
          <a:p>
            <a:pPr algn="l"/>
            <a:r>
              <a:rPr sz="1000">
                <a:solidFill>
                  <a:srgbClr val="202020"/>
                </a:solidFill>
                <a:latin typeface="Courier New"/>
              </a:rPr>
              <a:t>written to ./mesh_output/mesh_fine.(vtk|msh|png)</a:t>
            </a:r>
          </a:p>
          <a:p>
            <a:pPr algn="l"/>
            <a:r>
              <a:rPr sz="1000">
                <a:solidFill>
                  <a:srgbClr val="202020"/>
                </a:solidFill>
                <a:latin typeface="Courier New"/>
              </a:rPr>
              <a:t>written to ./mesh_output/staggered_fine.(npz|png)</a:t>
            </a:r>
          </a:p>
        </p:txBody>
      </p:sp>
      <p:graphicFrame>
        <p:nvGraphicFramePr>
          <p:cNvPr id="8" name="Table 7"/>
          <p:cNvGraphicFramePr>
            <a:graphicFrameLocks noGrp="1"/>
          </p:cNvGraphicFramePr>
          <p:nvPr/>
        </p:nvGraphicFramePr>
        <p:xfrm>
          <a:off x="548640" y="5394960"/>
          <a:ext cx="11064240" cy="1097280"/>
        </p:xfrm>
        <a:graphic>
          <a:graphicData uri="http://schemas.openxmlformats.org/drawingml/2006/table">
            <a:tbl>
              <a:tblPr firstRow="1" bandRow="1">
                <a:tableStyleId>{5C22544A-7EE6-4342-B048-85BDC9FD1C3A}</a:tableStyleId>
              </a:tblPr>
              <a:tblGrid>
                <a:gridCol w="3291840"/>
                <a:gridCol w="5486400"/>
                <a:gridCol w="2286000"/>
              </a:tblGrid>
              <a:tr h="274320">
                <a:tc>
                  <a:txBody>
                    <a:bodyPr/>
                    <a:lstStyle/>
                    <a:p>
                      <a:r>
                        <a:rPr sz="1100" b="1"/>
                        <a:t>file</a:t>
                      </a:r>
                    </a:p>
                  </a:txBody>
                  <a:tcPr marT="27432" marB="27432"/>
                </a:tc>
                <a:tc>
                  <a:txBody>
                    <a:bodyPr/>
                    <a:lstStyle/>
                    <a:p>
                      <a:r>
                        <a:rPr sz="1100" b="1"/>
                        <a:t>what it is</a:t>
                      </a:r>
                    </a:p>
                  </a:txBody>
                  <a:tcPr marT="27432" marB="27432"/>
                </a:tc>
                <a:tc>
                  <a:txBody>
                    <a:bodyPr/>
                    <a:lstStyle/>
                    <a:p>
                      <a:r>
                        <a:rPr sz="1100" b="1"/>
                        <a:t>used by</a:t>
                      </a:r>
                    </a:p>
                  </a:txBody>
                  <a:tcPr marT="27432" marB="27432"/>
                </a:tc>
              </a:tr>
              <a:tr h="274320">
                <a:tc>
                  <a:txBody>
                    <a:bodyPr/>
                    <a:lstStyle/>
                    <a:p>
                      <a:r>
                        <a:rPr sz="1100" b="0"/>
                        <a:t>mesh_output/staggered_fine.npz</a:t>
                      </a:r>
                    </a:p>
                  </a:txBody>
                  <a:tcPr marT="27432" marB="27432"/>
                </a:tc>
                <a:tc>
                  <a:txBody>
                    <a:bodyPr/>
                    <a:lstStyle/>
                    <a:p>
                      <a:r>
                        <a:rPr sz="1100" b="0"/>
                        <a:t>the arrays on the next slides — the only input the solver needs</a:t>
                      </a:r>
                    </a:p>
                  </a:txBody>
                  <a:tcPr marT="27432" marB="27432"/>
                </a:tc>
                <a:tc>
                  <a:txBody>
                    <a:bodyPr/>
                    <a:lstStyle/>
                    <a:p>
                      <a:r>
                        <a:rPr sz="1100" b="0"/>
                        <a:t>ns_staggered_euler.py</a:t>
                      </a:r>
                    </a:p>
                  </a:txBody>
                  <a:tcPr marT="27432" marB="27432"/>
                </a:tc>
              </a:tr>
              <a:tr h="274320">
                <a:tc>
                  <a:txBody>
                    <a:bodyPr/>
                    <a:lstStyle/>
                    <a:p>
                      <a:r>
                        <a:rPr sz="1100" b="0"/>
                        <a:t>mesh_output/mesh_fine.png / staggered_fine.png</a:t>
                      </a:r>
                    </a:p>
                  </a:txBody>
                  <a:tcPr marT="27432" marB="27432"/>
                </a:tc>
                <a:tc>
                  <a:txBody>
                    <a:bodyPr/>
                    <a:lstStyle/>
                    <a:p>
                      <a:r>
                        <a:rPr sz="1100" b="0"/>
                        <a:t>pictures of the mesh and of the P / face locations</a:t>
                      </a:r>
                    </a:p>
                  </a:txBody>
                  <a:tcPr marT="27432" marB="27432"/>
                </a:tc>
                <a:tc>
                  <a:txBody>
                    <a:bodyPr/>
                    <a:lstStyle/>
                    <a:p>
                      <a:r>
                        <a:rPr sz="1100" b="0"/>
                        <a:t>you (sanity check)</a:t>
                      </a:r>
                    </a:p>
                  </a:txBody>
                  <a:tcPr marT="27432" marB="27432"/>
                </a:tc>
              </a:tr>
              <a:tr h="274320">
                <a:tc>
                  <a:txBody>
                    <a:bodyPr/>
                    <a:lstStyle/>
                    <a:p>
                      <a:r>
                        <a:rPr sz="1100" b="0"/>
                        <a:t>mesh_output/mesh_fine.vtk / .msh</a:t>
                      </a:r>
                    </a:p>
                  </a:txBody>
                  <a:tcPr marT="27432" marB="27432"/>
                </a:tc>
                <a:tc>
                  <a:txBody>
                    <a:bodyPr/>
                    <a:lstStyle/>
                    <a:p>
                      <a:r>
                        <a:rPr sz="1100" b="0"/>
                        <a:t>the same mesh for ParaView / Gmsh</a:t>
                      </a:r>
                    </a:p>
                  </a:txBody>
                  <a:tcPr marT="27432" marB="27432"/>
                </a:tc>
                <a:tc>
                  <a:txBody>
                    <a:bodyPr/>
                    <a:lstStyle/>
                    <a:p>
                      <a:r>
                        <a:rPr sz="1100" b="0"/>
                        <a:t>optional</a:t>
                      </a:r>
                    </a:p>
                  </a:txBody>
                  <a:tcPr marT="27432" marB="27432"/>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C</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From quads to a staggered grid</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cells, faces, owner / neighbour — the data structure every operator uses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C1  </a:t>
            </a:r>
            <a:r>
              <a:rPr sz="2600" b="1">
                <a:solidFill>
                  <a:srgbClr val="1F3A5F"/>
                </a:solidFill>
              </a:rPr>
              <a:t>Cells and faces: the owner / neighbour description</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13</a:t>
            </a:r>
          </a:p>
        </p:txBody>
      </p:sp>
      <p:pic>
        <p:nvPicPr>
          <p:cNvPr id="5" name="Picture 4" descr="sk_cell.png"/>
          <p:cNvPicPr>
            <a:picLocks noChangeAspect="1"/>
          </p:cNvPicPr>
          <p:nvPr/>
        </p:nvPicPr>
        <p:blipFill>
          <a:blip r:embed="rId2"/>
          <a:stretch>
            <a:fillRect/>
          </a:stretch>
        </p:blipFill>
        <p:spPr>
          <a:xfrm>
            <a:off x="548640" y="1188720"/>
            <a:ext cx="5120640" cy="3108960"/>
          </a:xfrm>
          <a:prstGeom prst="rect">
            <a:avLst/>
          </a:prstGeom>
        </p:spPr>
      </p:pic>
      <p:sp>
        <p:nvSpPr>
          <p:cNvPr id="6" name="TextBox 5"/>
          <p:cNvSpPr txBox="1"/>
          <p:nvPr/>
        </p:nvSpPr>
        <p:spPr>
          <a:xfrm>
            <a:off x="5852160" y="1234440"/>
            <a:ext cx="6035040" cy="3291840"/>
          </a:xfrm>
          <a:prstGeom prst="rect">
            <a:avLst/>
          </a:prstGeom>
          <a:noFill/>
        </p:spPr>
        <p:txBody>
          <a:bodyPr wrap="square">
            <a:spAutoFit/>
          </a:bodyPr>
          <a:lstStyle/>
          <a:p>
            <a:pPr>
              <a:spcAft>
                <a:spcPts val="500"/>
              </a:spcAft>
            </a:pPr>
            <a:r>
              <a:rPr sz="1200" b="0">
                <a:solidFill>
                  <a:srgbClr val="444444"/>
                </a:solidFill>
              </a:rPr>
              <a:t>• Every quad is a cell P with centre x_P and area V_P</a:t>
            </a:r>
          </a:p>
          <a:p>
            <a:pPr>
              <a:spcAft>
                <a:spcPts val="500"/>
              </a:spcAft>
            </a:pPr>
            <a:r>
              <a:rPr sz="1200" b="0">
                <a:solidFill>
                  <a:srgbClr val="444444"/>
                </a:solidFill>
              </a:rPr>
              <a:t>• Every edge shared by two quads is an interior face f; an edge on the boundary is a boundary face</a:t>
            </a:r>
          </a:p>
          <a:p>
            <a:pPr>
              <a:spcAft>
                <a:spcPts val="500"/>
              </a:spcAft>
            </a:pPr>
            <a:r>
              <a:rPr sz="1200" b="0">
                <a:solidFill>
                  <a:srgbClr val="444444"/>
                </a:solidFill>
              </a:rPr>
              <a:t>• Each face stores exactly one pair of cells: the owner (first cell found) and the neighbour (the other one, −1 if boundary)</a:t>
            </a:r>
          </a:p>
          <a:p>
            <a:pPr>
              <a:spcAft>
                <a:spcPts val="500"/>
              </a:spcAft>
            </a:pPr>
            <a:r>
              <a:rPr sz="1200" b="0">
                <a:solidFill>
                  <a:srgbClr val="444444"/>
                </a:solidFill>
              </a:rPr>
              <a:t>• The unit normal n_f points from owner to neighbour (outward on the boundary); L_f is the edge length; d_PN = |x_N − x_P|</a:t>
            </a:r>
          </a:p>
          <a:p>
            <a:pPr>
              <a:spcAft>
                <a:spcPts val="500"/>
              </a:spcAft>
            </a:pPr>
            <a:r>
              <a:rPr sz="1200" b="1">
                <a:solidFill>
                  <a:srgbClr val="444444"/>
                </a:solidFill>
              </a:rPr>
              <a:t>• How extract_staggered builds this: list all 4 edges of all cells as sorted node pairs (a, b); sort; identical pairs are the same face → first cell = owner, second = neighbour; a pair appearing once is a boundary face, named by which boundary its midpoint lies on</a:t>
            </a:r>
          </a:p>
        </p:txBody>
      </p:sp>
      <p:sp>
        <p:nvSpPr>
          <p:cNvPr id="7" name="Rectangle 6"/>
          <p:cNvSpPr/>
          <p:nvPr/>
        </p:nvSpPr>
        <p:spPr>
          <a:xfrm>
            <a:off x="5852160" y="4572000"/>
            <a:ext cx="6035040" cy="109728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 edge key: sorted node pair -&gt; unique faces</a:t>
            </a:r>
          </a:p>
          <a:p>
            <a:pPr algn="l"/>
            <a:r>
              <a:rPr sz="1000">
                <a:solidFill>
                  <a:srgbClr val="202020"/>
                </a:solidFill>
                <a:latin typeface="Courier New"/>
              </a:rPr>
              <a:t>codes = a * n_node + b                 # a &lt; b</a:t>
            </a:r>
          </a:p>
          <a:p>
            <a:pPr algn="l"/>
            <a:r>
              <a:rPr sz="1000">
                <a:solidFill>
                  <a:srgbClr val="202020"/>
                </a:solidFill>
                <a:latin typeface="Courier New"/>
              </a:rPr>
              <a:t>order = np.argsort(codes)</a:t>
            </a:r>
          </a:p>
          <a:p>
            <a:pPr algn="l"/>
            <a:r>
              <a:rPr sz="1000">
                <a:solidFill>
                  <a:srgbClr val="202020"/>
                </a:solidFill>
                <a:latin typeface="Courier New"/>
              </a:rPr>
              <a:t># equal codes = same face: owner = first cell, neighbour = second (or -1)</a:t>
            </a:r>
          </a:p>
        </p:txBody>
      </p:sp>
      <p:sp>
        <p:nvSpPr>
          <p:cNvPr id="8" name="TextBox 7"/>
          <p:cNvSpPr txBox="1"/>
          <p:nvPr/>
        </p:nvSpPr>
        <p:spPr>
          <a:xfrm>
            <a:off x="548640" y="5394960"/>
            <a:ext cx="5120640" cy="914400"/>
          </a:xfrm>
          <a:prstGeom prst="rect">
            <a:avLst/>
          </a:prstGeom>
          <a:noFill/>
        </p:spPr>
        <p:txBody>
          <a:bodyPr wrap="square">
            <a:spAutoFit/>
          </a:bodyPr>
          <a:lstStyle/>
          <a:p>
            <a:r>
              <a:rPr sz="1200" b="0" i="1">
                <a:solidFill>
                  <a:srgbClr val="444444"/>
                </a:solidFill>
              </a:rPr>
              <a:t>Because of this, i±1 / j±1 never appear in the solver. 'The cell on the other side of this face' is nei[f] (or own[f]).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C2  </a:t>
            </a:r>
            <a:r>
              <a:rPr sz="2600" b="1">
                <a:solidFill>
                  <a:srgbClr val="1F3A5F"/>
                </a:solidFill>
              </a:rPr>
              <a:t>The arrays in staggered_fine.npz</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14</a:t>
            </a:r>
          </a:p>
        </p:txBody>
      </p:sp>
      <p:graphicFrame>
        <p:nvGraphicFramePr>
          <p:cNvPr id="5" name="Table 4"/>
          <p:cNvGraphicFramePr>
            <a:graphicFrameLocks noGrp="1"/>
          </p:cNvGraphicFramePr>
          <p:nvPr/>
        </p:nvGraphicFramePr>
        <p:xfrm>
          <a:off x="548640" y="1188720"/>
          <a:ext cx="6949439" cy="3017520"/>
        </p:xfrm>
        <a:graphic>
          <a:graphicData uri="http://schemas.openxmlformats.org/drawingml/2006/table">
            <a:tbl>
              <a:tblPr firstRow="1" bandRow="1">
                <a:tableStyleId>{5C22544A-7EE6-4342-B048-85BDC9FD1C3A}</a:tableStyleId>
              </a:tblPr>
              <a:tblGrid>
                <a:gridCol w="2194560"/>
                <a:gridCol w="1005840"/>
                <a:gridCol w="3749039"/>
              </a:tblGrid>
              <a:tr h="274320">
                <a:tc>
                  <a:txBody>
                    <a:bodyPr/>
                    <a:lstStyle/>
                    <a:p>
                      <a:r>
                        <a:rPr sz="1100" b="1"/>
                        <a:t>array</a:t>
                      </a:r>
                    </a:p>
                  </a:txBody>
                  <a:tcPr marT="27432" marB="27432"/>
                </a:tc>
                <a:tc>
                  <a:txBody>
                    <a:bodyPr/>
                    <a:lstStyle/>
                    <a:p>
                      <a:r>
                        <a:rPr sz="1100" b="1"/>
                        <a:t>shape</a:t>
                      </a:r>
                    </a:p>
                  </a:txBody>
                  <a:tcPr marT="27432" marB="27432"/>
                </a:tc>
                <a:tc>
                  <a:txBody>
                    <a:bodyPr/>
                    <a:lstStyle/>
                    <a:p>
                      <a:r>
                        <a:rPr sz="1100" b="1"/>
                        <a:t>meaning</a:t>
                      </a:r>
                    </a:p>
                  </a:txBody>
                  <a:tcPr marT="27432" marB="27432"/>
                </a:tc>
              </a:tr>
              <a:tr h="274320">
                <a:tc>
                  <a:txBody>
                    <a:bodyPr/>
                    <a:lstStyle/>
                    <a:p>
                      <a:r>
                        <a:rPr sz="1100" b="0"/>
                        <a:t>cell_centers</a:t>
                      </a:r>
                    </a:p>
                  </a:txBody>
                  <a:tcPr marT="27432" marB="27432"/>
                </a:tc>
                <a:tc>
                  <a:txBody>
                    <a:bodyPr/>
                    <a:lstStyle/>
                    <a:p>
                      <a:r>
                        <a:rPr sz="1100" b="0"/>
                        <a:t>(Nc, 2)</a:t>
                      </a:r>
                    </a:p>
                  </a:txBody>
                  <a:tcPr marT="27432" marB="27432"/>
                </a:tc>
                <a:tc>
                  <a:txBody>
                    <a:bodyPr/>
                    <a:lstStyle/>
                    <a:p>
                      <a:r>
                        <a:rPr sz="1100" b="0"/>
                        <a:t>x_P — where p, u, v are stored  (Nc = 26,444)</a:t>
                      </a:r>
                    </a:p>
                  </a:txBody>
                  <a:tcPr marT="27432" marB="27432"/>
                </a:tc>
              </a:tr>
              <a:tr h="274320">
                <a:tc>
                  <a:txBody>
                    <a:bodyPr/>
                    <a:lstStyle/>
                    <a:p>
                      <a:r>
                        <a:rPr sz="1100" b="0"/>
                        <a:t>quads</a:t>
                      </a:r>
                    </a:p>
                  </a:txBody>
                  <a:tcPr marT="27432" marB="27432"/>
                </a:tc>
                <a:tc>
                  <a:txBody>
                    <a:bodyPr/>
                    <a:lstStyle/>
                    <a:p>
                      <a:r>
                        <a:rPr sz="1100" b="0"/>
                        <a:t>(Nc, 4, 2)</a:t>
                      </a:r>
                    </a:p>
                  </a:txBody>
                  <a:tcPr marT="27432" marB="27432"/>
                </a:tc>
                <a:tc>
                  <a:txBody>
                    <a:bodyPr/>
                    <a:lstStyle/>
                    <a:p>
                      <a:r>
                        <a:rPr sz="1100" b="0"/>
                        <a:t>the four corners of each cell (only for plotting)</a:t>
                      </a:r>
                    </a:p>
                  </a:txBody>
                  <a:tcPr marT="27432" marB="27432"/>
                </a:tc>
              </a:tr>
              <a:tr h="274320">
                <a:tc>
                  <a:txBody>
                    <a:bodyPr/>
                    <a:lstStyle/>
                    <a:p>
                      <a:r>
                        <a:rPr sz="1100" b="0"/>
                        <a:t>face_centers</a:t>
                      </a:r>
                    </a:p>
                  </a:txBody>
                  <a:tcPr marT="27432" marB="27432"/>
                </a:tc>
                <a:tc>
                  <a:txBody>
                    <a:bodyPr/>
                    <a:lstStyle/>
                    <a:p>
                      <a:r>
                        <a:rPr sz="1100" b="0"/>
                        <a:t>(Nf, 2)</a:t>
                      </a:r>
                    </a:p>
                  </a:txBody>
                  <a:tcPr marT="27432" marB="27432"/>
                </a:tc>
                <a:tc>
                  <a:txBody>
                    <a:bodyPr/>
                    <a:lstStyle/>
                    <a:p>
                      <a:r>
                        <a:rPr sz="1100" b="0"/>
                        <a:t>x_f — where U_n is stored  (Nf = 53,286)</a:t>
                      </a:r>
                    </a:p>
                  </a:txBody>
                  <a:tcPr marT="27432" marB="27432"/>
                </a:tc>
              </a:tr>
              <a:tr h="274320">
                <a:tc>
                  <a:txBody>
                    <a:bodyPr/>
                    <a:lstStyle/>
                    <a:p>
                      <a:r>
                        <a:rPr sz="1100" b="0"/>
                        <a:t>face_normals</a:t>
                      </a:r>
                    </a:p>
                  </a:txBody>
                  <a:tcPr marT="27432" marB="27432"/>
                </a:tc>
                <a:tc>
                  <a:txBody>
                    <a:bodyPr/>
                    <a:lstStyle/>
                    <a:p>
                      <a:r>
                        <a:rPr sz="1100" b="0"/>
                        <a:t>(Nf, 2)</a:t>
                      </a:r>
                    </a:p>
                  </a:txBody>
                  <a:tcPr marT="27432" marB="27432"/>
                </a:tc>
                <a:tc>
                  <a:txBody>
                    <a:bodyPr/>
                    <a:lstStyle/>
                    <a:p>
                      <a:r>
                        <a:rPr sz="1100" b="0"/>
                        <a:t>unit n_f, owner → neighbour, outward on the boundary</a:t>
                      </a:r>
                    </a:p>
                  </a:txBody>
                  <a:tcPr marT="27432" marB="27432"/>
                </a:tc>
              </a:tr>
              <a:tr h="274320">
                <a:tc>
                  <a:txBody>
                    <a:bodyPr/>
                    <a:lstStyle/>
                    <a:p>
                      <a:r>
                        <a:rPr sz="1100" b="0"/>
                        <a:t>face_lengths</a:t>
                      </a:r>
                    </a:p>
                  </a:txBody>
                  <a:tcPr marT="27432" marB="27432"/>
                </a:tc>
                <a:tc>
                  <a:txBody>
                    <a:bodyPr/>
                    <a:lstStyle/>
                    <a:p>
                      <a:r>
                        <a:rPr sz="1100" b="0"/>
                        <a:t>(Nf,)</a:t>
                      </a:r>
                    </a:p>
                  </a:txBody>
                  <a:tcPr marT="27432" marB="27432"/>
                </a:tc>
                <a:tc>
                  <a:txBody>
                    <a:bodyPr/>
                    <a:lstStyle/>
                    <a:p>
                      <a:r>
                        <a:rPr sz="1100" b="0"/>
                        <a:t>L_f, the 2-D 'area' of the face</a:t>
                      </a:r>
                    </a:p>
                  </a:txBody>
                  <a:tcPr marT="27432" marB="27432"/>
                </a:tc>
              </a:tr>
              <a:tr h="274320">
                <a:tc>
                  <a:txBody>
                    <a:bodyPr/>
                    <a:lstStyle/>
                    <a:p>
                      <a:r>
                        <a:rPr sz="1100" b="0"/>
                        <a:t>face_owner</a:t>
                      </a:r>
                    </a:p>
                  </a:txBody>
                  <a:tcPr marT="27432" marB="27432"/>
                </a:tc>
                <a:tc>
                  <a:txBody>
                    <a:bodyPr/>
                    <a:lstStyle/>
                    <a:p>
                      <a:r>
                        <a:rPr sz="1100" b="0"/>
                        <a:t>(Nf,)</a:t>
                      </a:r>
                    </a:p>
                  </a:txBody>
                  <a:tcPr marT="27432" marB="27432"/>
                </a:tc>
                <a:tc>
                  <a:txBody>
                    <a:bodyPr/>
                    <a:lstStyle/>
                    <a:p>
                      <a:r>
                        <a:rPr sz="1100" b="0"/>
                        <a:t>index of the owner cell</a:t>
                      </a:r>
                    </a:p>
                  </a:txBody>
                  <a:tcPr marT="27432" marB="27432"/>
                </a:tc>
              </a:tr>
              <a:tr h="274320">
                <a:tc>
                  <a:txBody>
                    <a:bodyPr/>
                    <a:lstStyle/>
                    <a:p>
                      <a:r>
                        <a:rPr sz="1100" b="0"/>
                        <a:t>face_neigh</a:t>
                      </a:r>
                    </a:p>
                  </a:txBody>
                  <a:tcPr marT="27432" marB="27432"/>
                </a:tc>
                <a:tc>
                  <a:txBody>
                    <a:bodyPr/>
                    <a:lstStyle/>
                    <a:p>
                      <a:r>
                        <a:rPr sz="1100" b="0"/>
                        <a:t>(Nf,)</a:t>
                      </a:r>
                    </a:p>
                  </a:txBody>
                  <a:tcPr marT="27432" marB="27432"/>
                </a:tc>
                <a:tc>
                  <a:txBody>
                    <a:bodyPr/>
                    <a:lstStyle/>
                    <a:p>
                      <a:r>
                        <a:rPr sz="1100" b="0"/>
                        <a:t>index of the neighbour cell, −1 on the boundary</a:t>
                      </a:r>
                    </a:p>
                  </a:txBody>
                  <a:tcPr marT="27432" marB="27432"/>
                </a:tc>
              </a:tr>
              <a:tr h="274320">
                <a:tc>
                  <a:txBody>
                    <a:bodyPr/>
                    <a:lstStyle/>
                    <a:p>
                      <a:r>
                        <a:rPr sz="1100" b="0"/>
                        <a:t>face_bc</a:t>
                      </a:r>
                    </a:p>
                  </a:txBody>
                  <a:tcPr marT="27432" marB="27432"/>
                </a:tc>
                <a:tc>
                  <a:txBody>
                    <a:bodyPr/>
                    <a:lstStyle/>
                    <a:p>
                      <a:r>
                        <a:rPr sz="1100" b="0"/>
                        <a:t>(Nf,)</a:t>
                      </a:r>
                    </a:p>
                  </a:txBody>
                  <a:tcPr marT="27432" marB="27432"/>
                </a:tc>
                <a:tc>
                  <a:txBody>
                    <a:bodyPr/>
                    <a:lstStyle/>
                    <a:p>
                      <a:r>
                        <a:rPr sz="1100" b="0"/>
                        <a:t>−1 interior, else index into bc_names</a:t>
                      </a:r>
                    </a:p>
                  </a:txBody>
                  <a:tcPr marT="27432" marB="27432"/>
                </a:tc>
              </a:tr>
              <a:tr h="274320">
                <a:tc>
                  <a:txBody>
                    <a:bodyPr/>
                    <a:lstStyle/>
                    <a:p>
                      <a:r>
                        <a:rPr sz="1100" b="0"/>
                        <a:t>bc_names</a:t>
                      </a:r>
                    </a:p>
                  </a:txBody>
                  <a:tcPr marT="27432" marB="27432"/>
                </a:tc>
                <a:tc>
                  <a:txBody>
                    <a:bodyPr/>
                    <a:lstStyle/>
                    <a:p>
                      <a:r>
                        <a:rPr sz="1100" b="0"/>
                        <a:t>(5,)</a:t>
                      </a:r>
                    </a:p>
                  </a:txBody>
                  <a:tcPr marT="27432" marB="27432"/>
                </a:tc>
                <a:tc>
                  <a:txBody>
                    <a:bodyPr/>
                    <a:lstStyle/>
                    <a:p>
                      <a:r>
                        <a:rPr sz="1100" b="0"/>
                        <a:t>['cylinder', 'inlet', 'outlet', 'wall_bottom', 'wall_top']</a:t>
                      </a:r>
                    </a:p>
                  </a:txBody>
                  <a:tcPr marT="27432" marB="27432"/>
                </a:tc>
              </a:tr>
              <a:tr h="274320">
                <a:tc>
                  <a:txBody>
                    <a:bodyPr/>
                    <a:lstStyle/>
                    <a:p>
                      <a:r>
                        <a:rPr sz="1100" b="0"/>
                        <a:t>D, xc, yc, d_min, d_max, a</a:t>
                      </a:r>
                    </a:p>
                  </a:txBody>
                  <a:tcPr marT="27432" marB="27432"/>
                </a:tc>
                <a:tc>
                  <a:txBody>
                    <a:bodyPr/>
                    <a:lstStyle/>
                    <a:p>
                      <a:r>
                        <a:rPr sz="1100" b="0"/>
                        <a:t>scalars</a:t>
                      </a:r>
                    </a:p>
                  </a:txBody>
                  <a:tcPr marT="27432" marB="27432"/>
                </a:tc>
                <a:tc>
                  <a:txBody>
                    <a:bodyPr/>
                    <a:lstStyle/>
                    <a:p>
                      <a:r>
                        <a:rPr sz="1100" b="0"/>
                        <a:t>geometry and sizing, for titles and checks</a:t>
                      </a:r>
                    </a:p>
                  </a:txBody>
                  <a:tcPr marT="27432" marB="27432"/>
                </a:tc>
              </a:tr>
            </a:tbl>
          </a:graphicData>
        </a:graphic>
      </p:graphicFrame>
      <p:sp>
        <p:nvSpPr>
          <p:cNvPr id="6" name="Rectangle 5"/>
          <p:cNvSpPr/>
          <p:nvPr/>
        </p:nvSpPr>
        <p:spPr>
          <a:xfrm>
            <a:off x="7772400" y="1280160"/>
            <a:ext cx="4114800" cy="219456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S = load_staggered("mesh_output/staggered_fine.npz")</a:t>
            </a:r>
          </a:p>
          <a:p>
            <a:pPr algn="l"/>
            <a:r>
              <a:rPr sz="1000">
                <a:solidFill>
                  <a:srgbClr val="202020"/>
                </a:solidFill>
                <a:latin typeface="Courier New"/>
              </a:rPr>
              <a:t>own, nei = S["face_owner"], S["face_neigh"]</a:t>
            </a:r>
          </a:p>
          <a:p>
            <a:pPr algn="l"/>
            <a:r>
              <a:rPr sz="1000">
                <a:solidFill>
                  <a:srgbClr val="202020"/>
                </a:solidFill>
                <a:latin typeface="Courier New"/>
              </a:rPr>
              <a:t>interior = nei &gt;= 0                       # 52,490 True</a:t>
            </a:r>
          </a:p>
          <a:p>
            <a:pPr algn="l"/>
            <a:r>
              <a:rPr sz="1000">
                <a:solidFill>
                  <a:srgbClr val="202020"/>
                </a:solidFill>
                <a:latin typeface="Courier New"/>
              </a:rPr>
              <a:t>bnd      = ~interior                      #    796 True</a:t>
            </a:r>
          </a:p>
          <a:p>
            <a:pPr algn="l"/>
            <a:r>
              <a:rPr sz="1000">
                <a:solidFill>
                  <a:srgbClr val="202020"/>
                </a:solidFill>
                <a:latin typeface="Courier New"/>
              </a:rPr>
              <a:t>masks = {name: S["face_bc"] == i</a:t>
            </a:r>
          </a:p>
          <a:p>
            <a:pPr algn="l"/>
            <a:r>
              <a:rPr sz="1000">
                <a:solidFill>
                  <a:srgbClr val="202020"/>
                </a:solidFill>
                <a:latin typeface="Courier New"/>
              </a:rPr>
              <a:t>         for i, name in enumerate(S["bc_names"])}</a:t>
            </a:r>
          </a:p>
          <a:p>
            <a:pPr algn="l"/>
            <a:r>
              <a:rPr sz="1000">
                <a:solidFill>
                  <a:srgbClr val="202020"/>
                </a:solidFill>
                <a:latin typeface="Courier New"/>
              </a:rPr>
              <a:t># masks["inlet"], masks["cylinder"], ... boolean (Nf,)</a:t>
            </a:r>
          </a:p>
        </p:txBody>
      </p:sp>
      <p:sp>
        <p:nvSpPr>
          <p:cNvPr id="7" name="TextBox 6"/>
          <p:cNvSpPr txBox="1"/>
          <p:nvPr/>
        </p:nvSpPr>
        <p:spPr>
          <a:xfrm>
            <a:off x="7772400" y="3657600"/>
            <a:ext cx="4114800" cy="1828800"/>
          </a:xfrm>
          <a:prstGeom prst="rect">
            <a:avLst/>
          </a:prstGeom>
          <a:noFill/>
        </p:spPr>
        <p:txBody>
          <a:bodyPr wrap="square">
            <a:spAutoFit/>
          </a:bodyPr>
          <a:lstStyle/>
          <a:p>
            <a:pPr>
              <a:spcAft>
                <a:spcPts val="500"/>
              </a:spcAft>
            </a:pPr>
            <a:r>
              <a:rPr sz="1200" b="0">
                <a:solidFill>
                  <a:srgbClr val="444444"/>
                </a:solidFill>
              </a:rPr>
              <a:t>• All loops over cells or faces are numpy fancy-indexing: phi[own] is 'the owner's value on every face'</a:t>
            </a:r>
          </a:p>
          <a:p>
            <a:pPr>
              <a:spcAft>
                <a:spcPts val="500"/>
              </a:spcAft>
            </a:pPr>
            <a:r>
              <a:rPr sz="1200" b="0">
                <a:solidFill>
                  <a:srgbClr val="444444"/>
                </a:solidFill>
              </a:rPr>
              <a:t>• A field on cells is an array of length Nc; a field on faces is an array of length Nf — never mix them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C3  </a:t>
            </a:r>
            <a:r>
              <a:rPr sz="2600" b="1">
                <a:solidFill>
                  <a:srgbClr val="1F3A5F"/>
                </a:solidFill>
              </a:rPr>
              <a:t>Where the unknowns live, and why (MAC staggering)</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15</a:t>
            </a:r>
          </a:p>
        </p:txBody>
      </p:sp>
      <p:pic>
        <p:nvPicPr>
          <p:cNvPr id="5" name="Picture 4" descr="staggered_fine.png"/>
          <p:cNvPicPr>
            <a:picLocks noChangeAspect="1"/>
          </p:cNvPicPr>
          <p:nvPr/>
        </p:nvPicPr>
        <p:blipFill>
          <a:blip r:embed="rId2"/>
          <a:stretch>
            <a:fillRect/>
          </a:stretch>
        </p:blipFill>
        <p:spPr>
          <a:xfrm>
            <a:off x="548640" y="1143000"/>
            <a:ext cx="6400800" cy="3099939"/>
          </a:xfrm>
          <a:prstGeom prst="rect">
            <a:avLst/>
          </a:prstGeom>
        </p:spPr>
      </p:pic>
      <p:pic>
        <p:nvPicPr>
          <p:cNvPr id="6" name="Picture 5" descr="sk_checker.png"/>
          <p:cNvPicPr>
            <a:picLocks noChangeAspect="1"/>
          </p:cNvPicPr>
          <p:nvPr/>
        </p:nvPicPr>
        <p:blipFill>
          <a:blip r:embed="rId3"/>
          <a:stretch>
            <a:fillRect/>
          </a:stretch>
        </p:blipFill>
        <p:spPr>
          <a:xfrm>
            <a:off x="7132320" y="1188720"/>
            <a:ext cx="4754880" cy="1626669"/>
          </a:xfrm>
          <a:prstGeom prst="rect">
            <a:avLst/>
          </a:prstGeom>
        </p:spPr>
      </p:pic>
      <p:sp>
        <p:nvSpPr>
          <p:cNvPr id="7" name="TextBox 6"/>
          <p:cNvSpPr txBox="1"/>
          <p:nvPr/>
        </p:nvSpPr>
        <p:spPr>
          <a:xfrm>
            <a:off x="7132320" y="3017520"/>
            <a:ext cx="4754880" cy="3383280"/>
          </a:xfrm>
          <a:prstGeom prst="rect">
            <a:avLst/>
          </a:prstGeom>
          <a:noFill/>
        </p:spPr>
        <p:txBody>
          <a:bodyPr wrap="square">
            <a:spAutoFit/>
          </a:bodyPr>
          <a:lstStyle/>
          <a:p>
            <a:pPr>
              <a:spcAft>
                <a:spcPts val="500"/>
              </a:spcAft>
            </a:pPr>
            <a:r>
              <a:rPr sz="1100" b="0">
                <a:solidFill>
                  <a:srgbClr val="444444"/>
                </a:solidFill>
              </a:rPr>
              <a:t>• p at cell centres (blue dots, left) — one scalar per control volume</a:t>
            </a:r>
          </a:p>
          <a:p>
            <a:pPr>
              <a:spcAft>
                <a:spcPts val="500"/>
              </a:spcAft>
            </a:pPr>
            <a:r>
              <a:rPr sz="1100" b="0">
                <a:solidFill>
                  <a:srgbClr val="444444"/>
                </a:solidFill>
              </a:rPr>
              <a:t>• U_n = u·n on face centres (red/green dots, right) — the velocity through each face</a:t>
            </a:r>
          </a:p>
          <a:p>
            <a:pPr>
              <a:spcAft>
                <a:spcPts val="500"/>
              </a:spcAft>
            </a:pPr>
            <a:r>
              <a:rPr sz="1100" b="0">
                <a:solidFill>
                  <a:srgbClr val="444444"/>
                </a:solidFill>
              </a:rPr>
              <a:t>• u_P, v_P (Cartesian components at the centres) are also kept: the convective and viscous terms need both components on every face, and averaging the two cells is the simplest way to get them on a non-Cartesian mesh</a:t>
            </a:r>
          </a:p>
          <a:p>
            <a:pPr>
              <a:spcAft>
                <a:spcPts val="500"/>
              </a:spcAft>
            </a:pPr>
            <a:r>
              <a:rPr sz="1100" b="1">
                <a:solidFill>
                  <a:srgbClr val="444444"/>
                </a:solidFill>
              </a:rPr>
              <a:t>• Why staggered: continuity of a cell is an exact sum of its face velocities, and the pressure gradient driving a face velocity is the two-point difference (p_N − p_P)/d_PN across that very face. A p field that alternates +1, −1 cell to cell (a 'checkerboard') is invisible to a collocated 2Δx gradient but produces a huge face gradient here and is corrected at once.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C4  </a:t>
            </a:r>
            <a:r>
              <a:rPr sz="2600" b="1">
                <a:solidFill>
                  <a:srgbClr val="1F3A5F"/>
                </a:solidFill>
              </a:rPr>
              <a:t>Derived geometry, and the one function that does every sum</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16</a:t>
            </a:r>
          </a:p>
        </p:txBody>
      </p:sp>
      <p:pic>
        <p:nvPicPr>
          <p:cNvPr id="5" name="Picture 4" descr="eq_34f7a2a6fa.png"/>
          <p:cNvPicPr>
            <a:picLocks noChangeAspect="1"/>
          </p:cNvPicPr>
          <p:nvPr/>
        </p:nvPicPr>
        <p:blipFill>
          <a:blip r:embed="rId2"/>
          <a:stretch>
            <a:fillRect/>
          </a:stretch>
        </p:blipFill>
        <p:spPr>
          <a:xfrm>
            <a:off x="548640" y="1188720"/>
            <a:ext cx="9280134" cy="548640"/>
          </a:xfrm>
          <a:prstGeom prst="rect">
            <a:avLst/>
          </a:prstGeom>
        </p:spPr>
      </p:pic>
      <p:sp>
        <p:nvSpPr>
          <p:cNvPr id="6" name="Rectangle 5"/>
          <p:cNvSpPr/>
          <p:nvPr/>
        </p:nvSpPr>
        <p:spPr>
          <a:xfrm>
            <a:off x="548640" y="1920240"/>
            <a:ext cx="7315200" cy="256032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def accumulate(flux, own, nei, Nc):   # out[P] = sum_{f in P} s_{P,f} * flux[f]</a:t>
            </a:r>
          </a:p>
          <a:p>
            <a:pPr algn="l"/>
            <a:r>
              <a:rPr sz="1100">
                <a:solidFill>
                  <a:srgbClr val="202020"/>
                </a:solidFill>
                <a:latin typeface="Courier New"/>
              </a:rPr>
              <a:t>    out = np.zeros(Nc)</a:t>
            </a:r>
          </a:p>
          <a:p>
            <a:pPr algn="l"/>
            <a:r>
              <a:rPr sz="1100">
                <a:solidFill>
                  <a:srgbClr val="202020"/>
                </a:solidFill>
                <a:latin typeface="Courier New"/>
              </a:rPr>
              <a:t>    np.add.at(out, own, flux)          # +flux to the owner (n points out of it)</a:t>
            </a:r>
          </a:p>
          <a:p>
            <a:pPr algn="l"/>
            <a:r>
              <a:rPr sz="1100">
                <a:solidFill>
                  <a:srgbClr val="202020"/>
                </a:solidFill>
                <a:latin typeface="Courier New"/>
              </a:rPr>
              <a:t>    m = nei &gt;= 0</a:t>
            </a:r>
          </a:p>
          <a:p>
            <a:pPr algn="l"/>
            <a:r>
              <a:rPr sz="1100">
                <a:solidFill>
                  <a:srgbClr val="202020"/>
                </a:solidFill>
                <a:latin typeface="Courier New"/>
              </a:rPr>
              <a:t>    np.add.at(out, nei[m], -flux[m])   # -flux to the neighbour (n points into it)</a:t>
            </a:r>
          </a:p>
          <a:p>
            <a:pPr algn="l"/>
            <a:r>
              <a:rPr sz="1100">
                <a:solidFill>
                  <a:srgbClr val="202020"/>
                </a:solidFill>
                <a:latin typeface="Courier New"/>
              </a:rPr>
              <a:t>    return out</a:t>
            </a:r>
          </a:p>
          <a:p>
            <a:pPr algn="l"/>
            <a:r>
              <a:rPr sz="1100">
                <a:solidFill>
                  <a:srgbClr val="202020"/>
                </a:solidFill>
                <a:latin typeface="Courier New"/>
              </a:rPr>
              <a:t> </a:t>
            </a:r>
          </a:p>
          <a:p>
            <a:pPr algn="l"/>
            <a:r>
              <a:rPr sz="1100">
                <a:solidFill>
                  <a:srgbClr val="202020"/>
                </a:solidFill>
                <a:latin typeface="Courier New"/>
              </a:rPr>
              <a:t>contrib = 0.5 * (Fc[:, 0]*n[:, 0] + Fc[:, 1]*n[:, 1]) * L</a:t>
            </a:r>
          </a:p>
          <a:p>
            <a:pPr algn="l"/>
            <a:r>
              <a:rPr sz="1100">
                <a:solidFill>
                  <a:srgbClr val="202020"/>
                </a:solidFill>
                <a:latin typeface="Courier New"/>
              </a:rPr>
              <a:t>vol  = accumulate(contrib, own, nei, Nc)   # cell areas (Gauss on x)</a:t>
            </a:r>
          </a:p>
          <a:p>
            <a:pPr algn="l"/>
            <a:r>
              <a:rPr sz="1100">
                <a:solidFill>
                  <a:srgbClr val="202020"/>
                </a:solidFill>
                <a:latin typeface="Courier New"/>
              </a:rPr>
              <a:t>hmin = np.sqrt(vol).min()                  # 0.01774 on the fine mesh</a:t>
            </a:r>
          </a:p>
        </p:txBody>
      </p:sp>
      <p:sp>
        <p:nvSpPr>
          <p:cNvPr id="7" name="TextBox 6"/>
          <p:cNvSpPr txBox="1"/>
          <p:nvPr/>
        </p:nvSpPr>
        <p:spPr>
          <a:xfrm>
            <a:off x="548640" y="4572000"/>
            <a:ext cx="7315200" cy="1828800"/>
          </a:xfrm>
          <a:prstGeom prst="rect">
            <a:avLst/>
          </a:prstGeom>
          <a:noFill/>
        </p:spPr>
        <p:txBody>
          <a:bodyPr wrap="square">
            <a:spAutoFit/>
          </a:bodyPr>
          <a:lstStyle/>
          <a:p>
            <a:pPr>
              <a:spcAft>
                <a:spcPts val="500"/>
              </a:spcAft>
            </a:pPr>
            <a:r>
              <a:rPr sz="1200" b="0">
                <a:solidFill>
                  <a:srgbClr val="444444"/>
                </a:solidFill>
              </a:rPr>
              <a:t>• s_{P,f} = +1 when P owns f (n points out of P), −1 when P is the neighbour (n points into P)</a:t>
            </a:r>
          </a:p>
          <a:p>
            <a:pPr>
              <a:spcAft>
                <a:spcPts val="500"/>
              </a:spcAft>
            </a:pPr>
            <a:r>
              <a:rPr sz="1200" b="0">
                <a:solidFill>
                  <a:srgbClr val="444444"/>
                </a:solidFill>
              </a:rPr>
              <a:t>• np.add.at adds into repeated indices correctly (plain out[own] += flux would not)</a:t>
            </a:r>
          </a:p>
          <a:p>
            <a:pPr>
              <a:spcAft>
                <a:spcPts val="500"/>
              </a:spcAft>
            </a:pPr>
            <a:r>
              <a:rPr sz="1200" b="0">
                <a:solidFill>
                  <a:srgbClr val="444444"/>
                </a:solidFill>
              </a:rPr>
              <a:t>• The area formula is the divergence theorem applied to the vector field x (∇·x = 2) — a first check that the data structure is right: the areas must be positive and sum to the domain area 24·12 − π/4 = 287.21</a:t>
            </a:r>
          </a:p>
          <a:p>
            <a:pPr>
              <a:spcAft>
                <a:spcPts val="500"/>
              </a:spcAft>
            </a:pPr>
            <a:r>
              <a:rPr sz="1200" b="0">
                <a:solidFill>
                  <a:srgbClr val="444444"/>
                </a:solidFill>
              </a:rPr>
              <a:t>• Convection, diffusion, divergence and gradient (Part D) are all accumulate() with a different flux</a:t>
            </a:r>
          </a:p>
        </p:txBody>
      </p:sp>
      <p:sp>
        <p:nvSpPr>
          <p:cNvPr id="8" name="Rectangle 7"/>
          <p:cNvSpPr/>
          <p:nvPr/>
        </p:nvSpPr>
        <p:spPr>
          <a:xfrm>
            <a:off x="8138160" y="1920240"/>
            <a:ext cx="3749039" cy="237744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Gauss' theorem, the only piece of calculus we need:</a:t>
            </a:r>
          </a:p>
          <a:p>
            <a:r>
              <a:rPr sz="1200" b="1">
                <a:solidFill>
                  <a:srgbClr val="B23A2A"/>
                </a:solidFill>
              </a:rPr>
              <a:t/>
            </a:r>
          </a:p>
          <a:p>
            <a:r>
              <a:rPr sz="1200" b="1">
                <a:solidFill>
                  <a:srgbClr val="B23A2A"/>
                </a:solidFill>
              </a:rPr>
              <a:t>∫_V ∇·F dV = ∮ F·n dS ≈ Σ_f s_{P,f} (F·n)_f L_f</a:t>
            </a:r>
          </a:p>
          <a:p>
            <a:r>
              <a:rPr sz="1200" b="1">
                <a:solidFill>
                  <a:srgbClr val="B23A2A"/>
                </a:solidFill>
              </a:rPr>
              <a:t/>
            </a:r>
          </a:p>
          <a:p>
            <a:r>
              <a:rPr sz="1200" b="1">
                <a:solidFill>
                  <a:srgbClr val="B23A2A"/>
                </a:solidFill>
              </a:rPr>
              <a:t>'the net amount leaving a cell is the sum of what crosses its faces'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D</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Discretising the equations</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one term at a time, each one a sum over faces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D1  </a:t>
            </a:r>
            <a:r>
              <a:rPr sz="2600" b="1">
                <a:solidFill>
                  <a:srgbClr val="1F3A5F"/>
                </a:solidFill>
              </a:rPr>
              <a:t>The finite-volume recipe</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18</a:t>
            </a:r>
          </a:p>
        </p:txBody>
      </p:sp>
      <p:sp>
        <p:nvSpPr>
          <p:cNvPr id="5" name="TextBox 4"/>
          <p:cNvSpPr txBox="1"/>
          <p:nvPr/>
        </p:nvSpPr>
        <p:spPr>
          <a:xfrm>
            <a:off x="548640" y="1188720"/>
            <a:ext cx="11064240" cy="1828800"/>
          </a:xfrm>
          <a:prstGeom prst="rect">
            <a:avLst/>
          </a:prstGeom>
          <a:noFill/>
        </p:spPr>
        <p:txBody>
          <a:bodyPr wrap="square">
            <a:spAutoFit/>
          </a:bodyPr>
          <a:lstStyle/>
          <a:p>
            <a:pPr>
              <a:spcAft>
                <a:spcPts val="500"/>
              </a:spcAft>
            </a:pPr>
            <a:r>
              <a:rPr sz="1500" b="1">
                <a:solidFill>
                  <a:srgbClr val="444444"/>
                </a:solidFill>
              </a:rPr>
              <a:t>• 1. Integrate the equation over one cell P and divide by its area V_P → an equation for the cell average</a:t>
            </a:r>
          </a:p>
          <a:p>
            <a:pPr>
              <a:spcAft>
                <a:spcPts val="500"/>
              </a:spcAft>
            </a:pPr>
            <a:r>
              <a:rPr sz="1500" b="1">
                <a:solidFill>
                  <a:srgbClr val="444444"/>
                </a:solidFill>
              </a:rPr>
              <a:t>• 2. Every term of the form ∇·(something) becomes, by Gauss' theorem, a sum over the faces of (something)·n L_f</a:t>
            </a:r>
          </a:p>
          <a:p>
            <a:pPr>
              <a:spcAft>
                <a:spcPts val="500"/>
              </a:spcAft>
            </a:pPr>
            <a:r>
              <a:rPr sz="1500" b="1">
                <a:solidFill>
                  <a:srgbClr val="444444"/>
                </a:solidFill>
              </a:rPr>
              <a:t>• 3. The 'something' is only known at cell centres; decide how to get it at the face (this is where the schemes differ)</a:t>
            </a:r>
          </a:p>
          <a:p>
            <a:pPr>
              <a:spcAft>
                <a:spcPts val="500"/>
              </a:spcAft>
            </a:pPr>
            <a:r>
              <a:rPr sz="1500" b="1">
                <a:solidFill>
                  <a:srgbClr val="444444"/>
                </a:solidFill>
              </a:rPr>
              <a:t>• 4. Do it for every cell at once with accumulate()</a:t>
            </a:r>
          </a:p>
        </p:txBody>
      </p:sp>
      <p:pic>
        <p:nvPicPr>
          <p:cNvPr id="6" name="Picture 5" descr="eq_5a5ce38beb.png"/>
          <p:cNvPicPr>
            <a:picLocks noChangeAspect="1"/>
          </p:cNvPicPr>
          <p:nvPr/>
        </p:nvPicPr>
        <p:blipFill>
          <a:blip r:embed="rId2"/>
          <a:stretch>
            <a:fillRect/>
          </a:stretch>
        </p:blipFill>
        <p:spPr>
          <a:xfrm>
            <a:off x="548640" y="3108960"/>
            <a:ext cx="5425577" cy="822960"/>
          </a:xfrm>
          <a:prstGeom prst="rect">
            <a:avLst/>
          </a:prstGeom>
        </p:spPr>
      </p:pic>
      <p:graphicFrame>
        <p:nvGraphicFramePr>
          <p:cNvPr id="7" name="Table 6"/>
          <p:cNvGraphicFramePr>
            <a:graphicFrameLocks noGrp="1"/>
          </p:cNvGraphicFramePr>
          <p:nvPr/>
        </p:nvGraphicFramePr>
        <p:xfrm>
          <a:off x="548640" y="4114800"/>
          <a:ext cx="11064240" cy="1371600"/>
        </p:xfrm>
        <a:graphic>
          <a:graphicData uri="http://schemas.openxmlformats.org/drawingml/2006/table">
            <a:tbl>
              <a:tblPr firstRow="1" bandRow="1">
                <a:tableStyleId>{5C22544A-7EE6-4342-B048-85BDC9FD1C3A}</a:tableStyleId>
              </a:tblPr>
              <a:tblGrid>
                <a:gridCol w="2743200"/>
                <a:gridCol w="3657600"/>
                <a:gridCol w="2560320"/>
                <a:gridCol w="2103120"/>
              </a:tblGrid>
              <a:tr h="274320">
                <a:tc>
                  <a:txBody>
                    <a:bodyPr/>
                    <a:lstStyle/>
                    <a:p>
                      <a:r>
                        <a:rPr sz="1200" b="1"/>
                        <a:t>term</a:t>
                      </a:r>
                    </a:p>
                  </a:txBody>
                  <a:tcPr marT="27432" marB="27432"/>
                </a:tc>
                <a:tc>
                  <a:txBody>
                    <a:bodyPr/>
                    <a:lstStyle/>
                    <a:p>
                      <a:r>
                        <a:rPr sz="1200" b="1"/>
                        <a:t>F (what crosses the face)</a:t>
                      </a:r>
                    </a:p>
                  </a:txBody>
                  <a:tcPr marT="27432" marB="27432"/>
                </a:tc>
                <a:tc>
                  <a:txBody>
                    <a:bodyPr/>
                    <a:lstStyle/>
                    <a:p>
                      <a:r>
                        <a:rPr sz="1200" b="1"/>
                        <a:t>face value needed</a:t>
                      </a:r>
                    </a:p>
                  </a:txBody>
                  <a:tcPr marT="27432" marB="27432"/>
                </a:tc>
                <a:tc>
                  <a:txBody>
                    <a:bodyPr/>
                    <a:lstStyle/>
                    <a:p>
                      <a:r>
                        <a:rPr sz="1200" b="1"/>
                        <a:t>code</a:t>
                      </a:r>
                    </a:p>
                  </a:txBody>
                  <a:tcPr marT="27432" marB="27432"/>
                </a:tc>
              </a:tr>
              <a:tr h="274320">
                <a:tc>
                  <a:txBody>
                    <a:bodyPr/>
                    <a:lstStyle/>
                    <a:p>
                      <a:r>
                        <a:rPr sz="1200" b="0"/>
                        <a:t>convection ∇·(u φ)</a:t>
                      </a:r>
                    </a:p>
                  </a:txBody>
                  <a:tcPr marT="27432" marB="27432"/>
                </a:tc>
                <a:tc>
                  <a:txBody>
                    <a:bodyPr/>
                    <a:lstStyle/>
                    <a:p>
                      <a:r>
                        <a:rPr sz="1200" b="0"/>
                        <a:t>U_n φ  — flux times transported quantity</a:t>
                      </a:r>
                    </a:p>
                  </a:txBody>
                  <a:tcPr marT="27432" marB="27432"/>
                </a:tc>
                <a:tc>
                  <a:txBody>
                    <a:bodyPr/>
                    <a:lstStyle/>
                    <a:p>
                      <a:r>
                        <a:rPr sz="1200" b="0"/>
                        <a:t>φ_f (central / upwind)</a:t>
                      </a:r>
                    </a:p>
                  </a:txBody>
                  <a:tcPr marT="27432" marB="27432"/>
                </a:tc>
                <a:tc>
                  <a:txBody>
                    <a:bodyPr/>
                    <a:lstStyle/>
                    <a:p>
                      <a:r>
                        <a:rPr sz="1200" b="0"/>
                        <a:t>_convective</a:t>
                      </a:r>
                    </a:p>
                  </a:txBody>
                  <a:tcPr marT="27432" marB="27432"/>
                </a:tc>
              </a:tr>
              <a:tr h="274320">
                <a:tc>
                  <a:txBody>
                    <a:bodyPr/>
                    <a:lstStyle/>
                    <a:p>
                      <a:r>
                        <a:rPr sz="1200" b="0"/>
                        <a:t>diffusion ∇·(ν∇φ)</a:t>
                      </a:r>
                    </a:p>
                  </a:txBody>
                  <a:tcPr marT="27432" marB="27432"/>
                </a:tc>
                <a:tc>
                  <a:txBody>
                    <a:bodyPr/>
                    <a:lstStyle/>
                    <a:p>
                      <a:r>
                        <a:rPr sz="1200" b="0"/>
                        <a:t>ν ∂φ/∂n</a:t>
                      </a:r>
                    </a:p>
                  </a:txBody>
                  <a:tcPr marT="27432" marB="27432"/>
                </a:tc>
                <a:tc>
                  <a:txBody>
                    <a:bodyPr/>
                    <a:lstStyle/>
                    <a:p>
                      <a:r>
                        <a:rPr sz="1200" b="0"/>
                        <a:t>(φ_N − φ_P)/d_PN</a:t>
                      </a:r>
                    </a:p>
                  </a:txBody>
                  <a:tcPr marT="27432" marB="27432"/>
                </a:tc>
                <a:tc>
                  <a:txBody>
                    <a:bodyPr/>
                    <a:lstStyle/>
                    <a:p>
                      <a:r>
                        <a:rPr sz="1200" b="0"/>
                        <a:t>_laplacian</a:t>
                      </a:r>
                    </a:p>
                  </a:txBody>
                  <a:tcPr marT="27432" marB="27432"/>
                </a:tc>
              </a:tr>
              <a:tr h="274320">
                <a:tc>
                  <a:txBody>
                    <a:bodyPr/>
                    <a:lstStyle/>
                    <a:p>
                      <a:r>
                        <a:rPr sz="1200" b="0"/>
                        <a:t>continuity ∇·u</a:t>
                      </a:r>
                    </a:p>
                  </a:txBody>
                  <a:tcPr marT="27432" marB="27432"/>
                </a:tc>
                <a:tc>
                  <a:txBody>
                    <a:bodyPr/>
                    <a:lstStyle/>
                    <a:p>
                      <a:r>
                        <a:rPr sz="1200" b="0"/>
                        <a:t>U_n</a:t>
                      </a:r>
                    </a:p>
                  </a:txBody>
                  <a:tcPr marT="27432" marB="27432"/>
                </a:tc>
                <a:tc>
                  <a:txBody>
                    <a:bodyPr/>
                    <a:lstStyle/>
                    <a:p>
                      <a:r>
                        <a:rPr sz="1200" b="0"/>
                        <a:t>already on the face</a:t>
                      </a:r>
                    </a:p>
                  </a:txBody>
                  <a:tcPr marT="27432" marB="27432"/>
                </a:tc>
                <a:tc>
                  <a:txBody>
                    <a:bodyPr/>
                    <a:lstStyle/>
                    <a:p>
                      <a:r>
                        <a:rPr sz="1200" b="0"/>
                        <a:t>_div</a:t>
                      </a:r>
                    </a:p>
                  </a:txBody>
                  <a:tcPr marT="27432" marB="27432"/>
                </a:tc>
              </a:tr>
              <a:tr h="274320">
                <a:tc>
                  <a:txBody>
                    <a:bodyPr/>
                    <a:lstStyle/>
                    <a:p>
                      <a:r>
                        <a:rPr sz="1200" b="0"/>
                        <a:t>pressure gradient ∇p = ∇·(p I)</a:t>
                      </a:r>
                    </a:p>
                  </a:txBody>
                  <a:tcPr marT="27432" marB="27432"/>
                </a:tc>
                <a:tc>
                  <a:txBody>
                    <a:bodyPr/>
                    <a:lstStyle/>
                    <a:p>
                      <a:r>
                        <a:rPr sz="1200" b="0"/>
                        <a:t>p n</a:t>
                      </a:r>
                    </a:p>
                  </a:txBody>
                  <a:tcPr marT="27432" marB="27432"/>
                </a:tc>
                <a:tc>
                  <a:txBody>
                    <a:bodyPr/>
                    <a:lstStyle/>
                    <a:p>
                      <a:r>
                        <a:rPr sz="1200" b="0"/>
                        <a:t>½(p_P + p_N)</a:t>
                      </a:r>
                    </a:p>
                  </a:txBody>
                  <a:tcPr marT="27432" marB="27432"/>
                </a:tc>
                <a:tc>
                  <a:txBody>
                    <a:bodyPr/>
                    <a:lstStyle/>
                    <a:p>
                      <a:r>
                        <a:rPr sz="1200" b="0"/>
                        <a:t>_grad</a:t>
                      </a:r>
                    </a:p>
                  </a:txBody>
                  <a:tcPr marT="27432" marB="27432"/>
                </a:tc>
              </a:tr>
            </a:tbl>
          </a:graphicData>
        </a:graphic>
      </p:graphicFrame>
      <p:sp>
        <p:nvSpPr>
          <p:cNvPr id="8" name="TextBox 7"/>
          <p:cNvSpPr txBox="1"/>
          <p:nvPr/>
        </p:nvSpPr>
        <p:spPr>
          <a:xfrm>
            <a:off x="548640" y="5669280"/>
            <a:ext cx="11064240" cy="731520"/>
          </a:xfrm>
          <a:prstGeom prst="rect">
            <a:avLst/>
          </a:prstGeom>
          <a:noFill/>
        </p:spPr>
        <p:txBody>
          <a:bodyPr wrap="square">
            <a:spAutoFit/>
          </a:bodyPr>
          <a:lstStyle/>
          <a:p>
            <a:r>
              <a:rPr sz="1200" b="0" i="1">
                <a:solidFill>
                  <a:srgbClr val="444444"/>
                </a:solidFill>
              </a:rPr>
              <a:t>On a rectangular cell with faces ±x, ±y these sums reduce exactly to the familiar (φ_{i+1} − 2φ_i + φ_{i−1})/Δx² stencils. The face form is just the same thing written so that skewed, curved cells work too.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D2  </a:t>
            </a:r>
            <a:r>
              <a:rPr sz="2600" b="1">
                <a:solidFill>
                  <a:srgbClr val="1F3A5F"/>
                </a:solidFill>
              </a:rPr>
              <a:t>Time derivative: forward (explicit) Euler</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19</a:t>
            </a:r>
          </a:p>
        </p:txBody>
      </p:sp>
      <p:pic>
        <p:nvPicPr>
          <p:cNvPr id="5" name="Picture 4" descr="eq_c03a798378.png"/>
          <p:cNvPicPr>
            <a:picLocks noChangeAspect="1"/>
          </p:cNvPicPr>
          <p:nvPr/>
        </p:nvPicPr>
        <p:blipFill>
          <a:blip r:embed="rId2"/>
          <a:stretch>
            <a:fillRect/>
          </a:stretch>
        </p:blipFill>
        <p:spPr>
          <a:xfrm>
            <a:off x="548640" y="1234440"/>
            <a:ext cx="8654253" cy="731520"/>
          </a:xfrm>
          <a:prstGeom prst="rect">
            <a:avLst/>
          </a:prstGeom>
        </p:spPr>
      </p:pic>
      <p:sp>
        <p:nvSpPr>
          <p:cNvPr id="6" name="TextBox 5"/>
          <p:cNvSpPr txBox="1"/>
          <p:nvPr/>
        </p:nvSpPr>
        <p:spPr>
          <a:xfrm>
            <a:off x="548640" y="2286000"/>
            <a:ext cx="11064240" cy="3200400"/>
          </a:xfrm>
          <a:prstGeom prst="rect">
            <a:avLst/>
          </a:prstGeom>
          <a:noFill/>
        </p:spPr>
        <p:txBody>
          <a:bodyPr wrap="square">
            <a:spAutoFit/>
          </a:bodyPr>
          <a:lstStyle/>
          <a:p>
            <a:pPr>
              <a:spcAft>
                <a:spcPts val="500"/>
              </a:spcAft>
            </a:pPr>
            <a:r>
              <a:rPr sz="1400" b="0">
                <a:solidFill>
                  <a:srgbClr val="444444"/>
                </a:solidFill>
              </a:rPr>
              <a:t>• 'Explicit' = the right-hand side is evaluated with the field we already have (level n). The new value is a formula, not an equation to solve</a:t>
            </a:r>
          </a:p>
          <a:p>
            <a:pPr>
              <a:spcAft>
                <a:spcPts val="500"/>
              </a:spcAft>
            </a:pPr>
            <a:r>
              <a:rPr sz="1400" b="0">
                <a:solidFill>
                  <a:srgbClr val="444444"/>
                </a:solidFill>
              </a:rPr>
              <a:t>• The same line of code updates all 26,444 cells at once: u_new = u + dt * rhs</a:t>
            </a:r>
          </a:p>
          <a:p>
            <a:pPr>
              <a:spcAft>
                <a:spcPts val="500"/>
              </a:spcAft>
            </a:pPr>
            <a:r>
              <a:rPr sz="1400" b="0">
                <a:solidFill>
                  <a:srgbClr val="444444"/>
                </a:solidFill>
              </a:rPr>
              <a:t>• Accuracy: first order — the error per unit time is proportional to Δt. With Δt = 0.0045 that is small compared with the spatial error of the mesh</a:t>
            </a:r>
          </a:p>
          <a:p>
            <a:pPr>
              <a:spcAft>
                <a:spcPts val="500"/>
              </a:spcAft>
            </a:pPr>
            <a:r>
              <a:rPr sz="1400" b="1">
                <a:solidFill>
                  <a:srgbClr val="444444"/>
                </a:solidFill>
              </a:rPr>
              <a:t>• Stability (Part F): an explicit step is only stable if Δt is small enough that fluid moves less than one cell per step and viscosity acts over less than one cell per step. The smallest cell decides.</a:t>
            </a:r>
          </a:p>
          <a:p>
            <a:pPr>
              <a:spcAft>
                <a:spcPts val="500"/>
              </a:spcAft>
            </a:pPr>
            <a:r>
              <a:rPr sz="1400" b="0">
                <a:solidFill>
                  <a:srgbClr val="444444"/>
                </a:solidFill>
              </a:rPr>
              <a:t>• This is exactly the scheme of the Griebel book / the CaptainProton42 code; the 'projection' trick of Part E makes it work with the incompressibility constraint</a:t>
            </a:r>
          </a:p>
        </p:txBody>
      </p:sp>
      <p:sp>
        <p:nvSpPr>
          <p:cNvPr id="7" name="Rectangle 6"/>
          <p:cNvSpPr/>
          <p:nvPr/>
        </p:nvSpPr>
        <p:spPr>
          <a:xfrm>
            <a:off x="548640" y="5486400"/>
            <a:ext cx="11064240" cy="54864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Reading the superscripts: φⁿ is the field at time t, φⁿ⁺¹ at t + Δt. Subscript P = cell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D3  </a:t>
            </a:r>
            <a:r>
              <a:rPr sz="2600" b="1">
                <a:solidFill>
                  <a:srgbClr val="1F3A5F"/>
                </a:solidFill>
              </a:rPr>
              <a:t>Convection: momentum carried through the faces</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20</a:t>
            </a:r>
          </a:p>
        </p:txBody>
      </p:sp>
      <p:pic>
        <p:nvPicPr>
          <p:cNvPr id="5" name="Picture 4" descr="eq_dca7b6361a.png"/>
          <p:cNvPicPr>
            <a:picLocks noChangeAspect="1"/>
          </p:cNvPicPr>
          <p:nvPr/>
        </p:nvPicPr>
        <p:blipFill>
          <a:blip r:embed="rId2"/>
          <a:stretch>
            <a:fillRect/>
          </a:stretch>
        </p:blipFill>
        <p:spPr>
          <a:xfrm>
            <a:off x="548640" y="1143000"/>
            <a:ext cx="6932506" cy="731520"/>
          </a:xfrm>
          <a:prstGeom prst="rect">
            <a:avLst/>
          </a:prstGeom>
        </p:spPr>
      </p:pic>
      <p:sp>
        <p:nvSpPr>
          <p:cNvPr id="6" name="TextBox 5"/>
          <p:cNvSpPr txBox="1"/>
          <p:nvPr/>
        </p:nvSpPr>
        <p:spPr>
          <a:xfrm>
            <a:off x="548640" y="1965960"/>
            <a:ext cx="6949440" cy="822960"/>
          </a:xfrm>
          <a:prstGeom prst="rect">
            <a:avLst/>
          </a:prstGeom>
          <a:noFill/>
        </p:spPr>
        <p:txBody>
          <a:bodyPr wrap="square">
            <a:spAutoFit/>
          </a:bodyPr>
          <a:lstStyle/>
          <a:p>
            <a:pPr>
              <a:spcAft>
                <a:spcPts val="200"/>
              </a:spcAft>
            </a:pPr>
            <a:r>
              <a:rPr sz="1200" b="0">
                <a:solidFill>
                  <a:srgbClr val="444444"/>
                </a:solidFill>
              </a:rPr>
              <a:t>• U_{n,f} L_f is the volume flow through face f — we have it (staggered unknown)</a:t>
            </a:r>
          </a:p>
          <a:p>
            <a:pPr>
              <a:spcAft>
                <a:spcPts val="200"/>
              </a:spcAft>
            </a:pPr>
            <a:r>
              <a:rPr sz="1200" b="0">
                <a:solidFill>
                  <a:srgbClr val="444444"/>
                </a:solidFill>
              </a:rPr>
              <a:t>• φ_f is how much u (or v) each unit of that flow carries — we must interpolate it from the two cells:</a:t>
            </a:r>
          </a:p>
        </p:txBody>
      </p:sp>
      <p:pic>
        <p:nvPicPr>
          <p:cNvPr id="7" name="Picture 6" descr="eq_d7ba815907.png"/>
          <p:cNvPicPr>
            <a:picLocks noChangeAspect="1"/>
          </p:cNvPicPr>
          <p:nvPr/>
        </p:nvPicPr>
        <p:blipFill>
          <a:blip r:embed="rId3"/>
          <a:stretch>
            <a:fillRect/>
          </a:stretch>
        </p:blipFill>
        <p:spPr>
          <a:xfrm>
            <a:off x="548640" y="2697480"/>
            <a:ext cx="5486400" cy="451153"/>
          </a:xfrm>
          <a:prstGeom prst="rect">
            <a:avLst/>
          </a:prstGeom>
        </p:spPr>
      </p:pic>
      <p:sp>
        <p:nvSpPr>
          <p:cNvPr id="8" name="Rectangle 7"/>
          <p:cNvSpPr/>
          <p:nvPr/>
        </p:nvSpPr>
        <p:spPr>
          <a:xfrm>
            <a:off x="6309360" y="2816352"/>
            <a:ext cx="5577840" cy="566928"/>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100" b="1">
                <a:solidFill>
                  <a:srgbClr val="B23A2A"/>
                </a:solidFill>
              </a:rPr>
              <a:t>What we saw: on the same mesh 'donor' never shed (its extra viscosity holds the wake steady); 'central' sheds. Use central for this problem.</a:t>
            </a:r>
          </a:p>
        </p:txBody>
      </p:sp>
      <p:graphicFrame>
        <p:nvGraphicFramePr>
          <p:cNvPr id="9" name="Table 8"/>
          <p:cNvGraphicFramePr>
            <a:graphicFrameLocks noGrp="1"/>
          </p:cNvGraphicFramePr>
          <p:nvPr/>
        </p:nvGraphicFramePr>
        <p:xfrm>
          <a:off x="548640" y="3429000"/>
          <a:ext cx="11064240" cy="1097280"/>
        </p:xfrm>
        <a:graphic>
          <a:graphicData uri="http://schemas.openxmlformats.org/drawingml/2006/table">
            <a:tbl>
              <a:tblPr firstRow="1" bandRow="1">
                <a:tableStyleId>{5C22544A-7EE6-4342-B048-85BDC9FD1C3A}</a:tableStyleId>
              </a:tblPr>
              <a:tblGrid>
                <a:gridCol w="548640"/>
                <a:gridCol w="1737360"/>
                <a:gridCol w="3291840"/>
                <a:gridCol w="1005840"/>
                <a:gridCol w="3383280"/>
                <a:gridCol w="1097280"/>
              </a:tblGrid>
              <a:tr h="274320">
                <a:tc>
                  <a:txBody>
                    <a:bodyPr/>
                    <a:lstStyle/>
                    <a:p>
                      <a:r>
                        <a:rPr sz="1000" b="1"/>
                        <a:t>γ</a:t>
                      </a:r>
                    </a:p>
                  </a:txBody>
                  <a:tcPr marT="27432" marB="27432"/>
                </a:tc>
                <a:tc>
                  <a:txBody>
                    <a:bodyPr/>
                    <a:lstStyle/>
                    <a:p>
                      <a:r>
                        <a:rPr sz="1000" b="1"/>
                        <a:t>scheme</a:t>
                      </a:r>
                    </a:p>
                  </a:txBody>
                  <a:tcPr marT="27432" marB="27432"/>
                </a:tc>
                <a:tc>
                  <a:txBody>
                    <a:bodyPr/>
                    <a:lstStyle/>
                    <a:p>
                      <a:r>
                        <a:rPr sz="1000" b="1"/>
                        <a:t>face value φ_f</a:t>
                      </a:r>
                    </a:p>
                  </a:txBody>
                  <a:tcPr marT="27432" marB="27432"/>
                </a:tc>
                <a:tc>
                  <a:txBody>
                    <a:bodyPr/>
                    <a:lstStyle/>
                    <a:p>
                      <a:r>
                        <a:rPr sz="1000" b="1"/>
                        <a:t>accuracy</a:t>
                      </a:r>
                    </a:p>
                  </a:txBody>
                  <a:tcPr marT="27432" marB="27432"/>
                </a:tc>
                <a:tc>
                  <a:txBody>
                    <a:bodyPr/>
                    <a:lstStyle/>
                    <a:p>
                      <a:r>
                        <a:rPr sz="1000" b="1"/>
                        <a:t>character</a:t>
                      </a:r>
                    </a:p>
                  </a:txBody>
                  <a:tcPr marT="27432" marB="27432"/>
                </a:tc>
                <a:tc>
                  <a:txBody>
                    <a:bodyPr/>
                    <a:lstStyle/>
                    <a:p>
                      <a:r>
                        <a:rPr sz="1000" b="1"/>
                        <a:t>--scheme</a:t>
                      </a:r>
                    </a:p>
                  </a:txBody>
                  <a:tcPr marT="27432" marB="27432"/>
                </a:tc>
              </a:tr>
              <a:tr h="274320">
                <a:tc>
                  <a:txBody>
                    <a:bodyPr/>
                    <a:lstStyle/>
                    <a:p>
                      <a:r>
                        <a:rPr sz="1000" b="0"/>
                        <a:t>0</a:t>
                      </a:r>
                    </a:p>
                  </a:txBody>
                  <a:tcPr marT="27432" marB="27432"/>
                </a:tc>
                <a:tc>
                  <a:txBody>
                    <a:bodyPr/>
                    <a:lstStyle/>
                    <a:p>
                      <a:r>
                        <a:rPr sz="1000" b="0"/>
                        <a:t>central</a:t>
                      </a:r>
                    </a:p>
                  </a:txBody>
                  <a:tcPr marT="27432" marB="27432"/>
                </a:tc>
                <a:tc>
                  <a:txBody>
                    <a:bodyPr/>
                    <a:lstStyle/>
                    <a:p>
                      <a:r>
                        <a:rPr sz="1000" b="0"/>
                        <a:t>average of the two cells</a:t>
                      </a:r>
                    </a:p>
                  </a:txBody>
                  <a:tcPr marT="27432" marB="27432"/>
                </a:tc>
                <a:tc>
                  <a:txBody>
                    <a:bodyPr/>
                    <a:lstStyle/>
                    <a:p>
                      <a:r>
                        <a:rPr sz="1000" b="0"/>
                        <a:t>2nd order</a:t>
                      </a:r>
                    </a:p>
                  </a:txBody>
                  <a:tcPr marT="27432" marB="27432"/>
                </a:tc>
                <a:tc>
                  <a:txBody>
                    <a:bodyPr/>
                    <a:lstStyle/>
                    <a:p>
                      <a:r>
                        <a:rPr sz="1000" b="0"/>
                        <a:t>no damping; wiggles if U h/ν &gt; 2</a:t>
                      </a:r>
                    </a:p>
                  </a:txBody>
                  <a:tcPr marT="27432" marB="27432"/>
                </a:tc>
                <a:tc>
                  <a:txBody>
                    <a:bodyPr/>
                    <a:lstStyle/>
                    <a:p>
                      <a:r>
                        <a:rPr sz="1000" b="0"/>
                        <a:t>central</a:t>
                      </a:r>
                    </a:p>
                  </a:txBody>
                  <a:tcPr marT="27432" marB="27432"/>
                </a:tc>
              </a:tr>
              <a:tr h="274320">
                <a:tc>
                  <a:txBody>
                    <a:bodyPr/>
                    <a:lstStyle/>
                    <a:p>
                      <a:r>
                        <a:rPr sz="1000" b="0"/>
                        <a:t>1</a:t>
                      </a:r>
                    </a:p>
                  </a:txBody>
                  <a:tcPr marT="27432" marB="27432"/>
                </a:tc>
                <a:tc>
                  <a:txBody>
                    <a:bodyPr/>
                    <a:lstStyle/>
                    <a:p>
                      <a:r>
                        <a:rPr sz="1000" b="0"/>
                        <a:t>upwind (donor cell)</a:t>
                      </a:r>
                    </a:p>
                  </a:txBody>
                  <a:tcPr marT="27432" marB="27432"/>
                </a:tc>
                <a:tc>
                  <a:txBody>
                    <a:bodyPr/>
                    <a:lstStyle/>
                    <a:p>
                      <a:r>
                        <a:rPr sz="1000" b="0"/>
                        <a:t>the upstream cell's value</a:t>
                      </a:r>
                    </a:p>
                  </a:txBody>
                  <a:tcPr marT="27432" marB="27432"/>
                </a:tc>
                <a:tc>
                  <a:txBody>
                    <a:bodyPr/>
                    <a:lstStyle/>
                    <a:p>
                      <a:r>
                        <a:rPr sz="1000" b="0"/>
                        <a:t>1st order</a:t>
                      </a:r>
                    </a:p>
                  </a:txBody>
                  <a:tcPr marT="27432" marB="27432"/>
                </a:tc>
                <a:tc>
                  <a:txBody>
                    <a:bodyPr/>
                    <a:lstStyle/>
                    <a:p>
                      <a:r>
                        <a:rPr sz="1000" b="0"/>
                        <a:t>always bounded; extra viscosity ≈ ½|U_n| d_PN</a:t>
                      </a:r>
                    </a:p>
                  </a:txBody>
                  <a:tcPr marT="27432" marB="27432"/>
                </a:tc>
                <a:tc>
                  <a:txBody>
                    <a:bodyPr/>
                    <a:lstStyle/>
                    <a:p>
                      <a:r>
                        <a:rPr sz="1000" b="0"/>
                        <a:t>upwind</a:t>
                      </a:r>
                    </a:p>
                  </a:txBody>
                  <a:tcPr marT="27432" marB="27432"/>
                </a:tc>
              </a:tr>
              <a:tr h="274320">
                <a:tc>
                  <a:txBody>
                    <a:bodyPr/>
                    <a:lstStyle/>
                    <a:p>
                      <a:r>
                        <a:rPr sz="1000" b="0"/>
                        <a:t>CFL</a:t>
                      </a:r>
                    </a:p>
                  </a:txBody>
                  <a:tcPr marT="27432" marB="27432"/>
                </a:tc>
                <a:tc>
                  <a:txBody>
                    <a:bodyPr/>
                    <a:lstStyle/>
                    <a:p>
                      <a:r>
                        <a:rPr sz="1000" b="0"/>
                        <a:t>Griebel adaptive</a:t>
                      </a:r>
                    </a:p>
                  </a:txBody>
                  <a:tcPr marT="27432" marB="27432"/>
                </a:tc>
                <a:tc>
                  <a:txBody>
                    <a:bodyPr/>
                    <a:lstStyle/>
                    <a:p>
                      <a:r>
                        <a:rPr sz="1000" b="0"/>
                        <a:t>blend with γ = max|U_n| Δt / h_min ≈ 0.36</a:t>
                      </a:r>
                    </a:p>
                  </a:txBody>
                  <a:tcPr marT="27432" marB="27432"/>
                </a:tc>
                <a:tc>
                  <a:txBody>
                    <a:bodyPr/>
                    <a:lstStyle/>
                    <a:p>
                      <a:r>
                        <a:rPr sz="1000" b="0"/>
                        <a:t>between</a:t>
                      </a:r>
                    </a:p>
                  </a:txBody>
                  <a:tcPr marT="27432" marB="27432"/>
                </a:tc>
                <a:tc>
                  <a:txBody>
                    <a:bodyPr/>
                    <a:lstStyle/>
                    <a:p>
                      <a:r>
                        <a:rPr sz="1000" b="0"/>
                        <a:t>reference default</a:t>
                      </a:r>
                    </a:p>
                  </a:txBody>
                  <a:tcPr marT="27432" marB="27432"/>
                </a:tc>
                <a:tc>
                  <a:txBody>
                    <a:bodyPr/>
                    <a:lstStyle/>
                    <a:p>
                      <a:r>
                        <a:rPr sz="1000" b="0"/>
                        <a:t>donor</a:t>
                      </a:r>
                    </a:p>
                  </a:txBody>
                  <a:tcPr marT="27432" marB="27432"/>
                </a:tc>
              </a:tr>
            </a:tbl>
          </a:graphicData>
        </a:graphic>
      </p:graphicFrame>
      <p:sp>
        <p:nvSpPr>
          <p:cNvPr id="10" name="Rectangle 9"/>
          <p:cNvSpPr/>
          <p:nvPr/>
        </p:nvSpPr>
        <p:spPr>
          <a:xfrm>
            <a:off x="548640" y="4709160"/>
            <a:ext cx="11064240" cy="132588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phi_f = phi[own].copy()                                   # boundary faces: owner value (overwritten by BC below)</a:t>
            </a:r>
          </a:p>
          <a:p>
            <a:pPr algn="l"/>
            <a:r>
              <a:rPr sz="1000">
                <a:solidFill>
                  <a:srgbClr val="202020"/>
                </a:solidFill>
                <a:latin typeface="Courier New"/>
              </a:rPr>
              <a:t>central = 0.5 * (phi[o] + phi[nn])                        # o = own[interior], nn = nei[interior]</a:t>
            </a:r>
          </a:p>
          <a:p>
            <a:pPr algn="l"/>
            <a:r>
              <a:rPr sz="1000">
                <a:solidFill>
                  <a:srgbClr val="202020"/>
                </a:solidFill>
                <a:latin typeface="Courier New"/>
              </a:rPr>
              <a:t>upwind  = np.where(Un[interior] &gt;= 0.0, phi[o], phi[nn])  # Un &gt; 0 means flow from owner to neighbour</a:t>
            </a:r>
          </a:p>
          <a:p>
            <a:pPr algn="l"/>
            <a:r>
              <a:rPr sz="1000">
                <a:solidFill>
                  <a:srgbClr val="202020"/>
                </a:solidFill>
                <a:latin typeface="Courier New"/>
              </a:rPr>
              <a:t>phi_f[interior] = (1 - gamma) * central + gamma * upwind</a:t>
            </a:r>
          </a:p>
          <a:p>
            <a:pPr algn="l"/>
            <a:r>
              <a:rPr sz="1000">
                <a:solidFill>
                  <a:srgbClr val="202020"/>
                </a:solidFill>
                <a:latin typeface="Courier New"/>
              </a:rPr>
              <a:t>conv = -accumulate(Un * phi_f * L, own, nei, Nc) / vol    # minus sign: the term moves to the right-hand side</a:t>
            </a:r>
          </a:p>
        </p:txBody>
      </p:sp>
      <p:pic>
        <p:nvPicPr>
          <p:cNvPr id="11" name="Picture 10" descr="sk_face.png"/>
          <p:cNvPicPr>
            <a:picLocks noChangeAspect="1"/>
          </p:cNvPicPr>
          <p:nvPr/>
        </p:nvPicPr>
        <p:blipFill>
          <a:blip r:embed="rId4"/>
          <a:stretch>
            <a:fillRect/>
          </a:stretch>
        </p:blipFill>
        <p:spPr>
          <a:xfrm>
            <a:off x="7863840" y="1051560"/>
            <a:ext cx="3127248" cy="1737360"/>
          </a:xfrm>
          <a:prstGeom prst="rect">
            <a:avLst/>
          </a:prstGeom>
        </p:spPr>
      </p:pic>
      <p:sp>
        <p:nvSpPr>
          <p:cNvPr id="12" name="TextBox 11"/>
          <p:cNvSpPr txBox="1"/>
          <p:nvPr/>
        </p:nvSpPr>
        <p:spPr>
          <a:xfrm>
            <a:off x="548640" y="6080760"/>
            <a:ext cx="11064240" cy="365760"/>
          </a:xfrm>
          <a:prstGeom prst="rect">
            <a:avLst/>
          </a:prstGeom>
          <a:noFill/>
        </p:spPr>
        <p:txBody>
          <a:bodyPr wrap="square">
            <a:spAutoFit/>
          </a:bodyPr>
          <a:lstStyle/>
          <a:p>
            <a:r>
              <a:rPr sz="1100" b="0" i="1">
                <a:solidFill>
                  <a:srgbClr val="444444"/>
                </a:solidFill>
              </a:rPr>
              <a:t>Boundary faces: φ_f = (U∞, 0) at the inlet, 0 on the walls and the cylinder, the owner value at the outlet.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D4  </a:t>
            </a:r>
            <a:r>
              <a:rPr sz="2600" b="1">
                <a:solidFill>
                  <a:srgbClr val="1F3A5F"/>
                </a:solidFill>
              </a:rPr>
              <a:t>Diffusion: viscosity across the faces</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21</a:t>
            </a:r>
          </a:p>
        </p:txBody>
      </p:sp>
      <p:pic>
        <p:nvPicPr>
          <p:cNvPr id="5" name="Picture 4" descr="eq_d5c0a42023.png"/>
          <p:cNvPicPr>
            <a:picLocks noChangeAspect="1"/>
          </p:cNvPicPr>
          <p:nvPr/>
        </p:nvPicPr>
        <p:blipFill>
          <a:blip r:embed="rId2"/>
          <a:stretch>
            <a:fillRect/>
          </a:stretch>
        </p:blipFill>
        <p:spPr>
          <a:xfrm>
            <a:off x="548640" y="1188720"/>
            <a:ext cx="7685405" cy="868680"/>
          </a:xfrm>
          <a:prstGeom prst="rect">
            <a:avLst/>
          </a:prstGeom>
        </p:spPr>
      </p:pic>
      <p:sp>
        <p:nvSpPr>
          <p:cNvPr id="6" name="Rectangle 5"/>
          <p:cNvSpPr/>
          <p:nvPr/>
        </p:nvSpPr>
        <p:spPr>
          <a:xfrm>
            <a:off x="548640" y="2194560"/>
            <a:ext cx="7315200" cy="118872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g = np.empty(Nf)</a:t>
            </a:r>
          </a:p>
          <a:p>
            <a:pPr algn="l"/>
            <a:r>
              <a:rPr sz="1100">
                <a:solidFill>
                  <a:srgbClr val="202020"/>
                </a:solidFill>
                <a:latin typeface="Courier New"/>
              </a:rPr>
              <a:t>g[interior] = (phi[nei[interior]] - phi[own[interior]]) / d_pn[interior]   # centre to centre</a:t>
            </a:r>
          </a:p>
          <a:p>
            <a:pPr algn="l"/>
            <a:r>
              <a:rPr sz="1100">
                <a:solidFill>
                  <a:srgbClr val="202020"/>
                </a:solidFill>
                <a:latin typeface="Courier New"/>
              </a:rPr>
              <a:t>g[bnd]      = (phi_bc[bnd] - phi[own[bnd]]) / (0.5 * d_pn[bnd])           # centre to wall</a:t>
            </a:r>
          </a:p>
          <a:p>
            <a:pPr algn="l"/>
            <a:r>
              <a:rPr sz="1100">
                <a:solidFill>
                  <a:srgbClr val="202020"/>
                </a:solidFill>
                <a:latin typeface="Courier New"/>
              </a:rPr>
              <a:t>lap = accumulate(nu * g * L, own, nei, Nc) / vol</a:t>
            </a:r>
          </a:p>
        </p:txBody>
      </p:sp>
      <p:sp>
        <p:nvSpPr>
          <p:cNvPr id="7" name="TextBox 6"/>
          <p:cNvSpPr txBox="1"/>
          <p:nvPr/>
        </p:nvSpPr>
        <p:spPr>
          <a:xfrm>
            <a:off x="548640" y="3566160"/>
            <a:ext cx="11064240" cy="2743200"/>
          </a:xfrm>
          <a:prstGeom prst="rect">
            <a:avLst/>
          </a:prstGeom>
          <a:noFill/>
        </p:spPr>
        <p:txBody>
          <a:bodyPr wrap="square">
            <a:spAutoFit/>
          </a:bodyPr>
          <a:lstStyle/>
          <a:p>
            <a:pPr>
              <a:spcAft>
                <a:spcPts val="500"/>
              </a:spcAft>
            </a:pPr>
            <a:r>
              <a:rPr sz="1300" b="0">
                <a:solidFill>
                  <a:srgbClr val="444444"/>
                </a:solidFill>
              </a:rPr>
              <a:t>• The normal gradient is the slope between the two cell centres — a central difference, second order on orthogonal cells</a:t>
            </a:r>
          </a:p>
          <a:p>
            <a:pPr>
              <a:spcAft>
                <a:spcPts val="500"/>
              </a:spcAft>
            </a:pPr>
            <a:r>
              <a:rPr sz="1300" b="0">
                <a:solidFill>
                  <a:srgbClr val="444444"/>
                </a:solidFill>
              </a:rPr>
              <a:t>• On a boundary face the 'other side' is the wall itself (distance d/2 = centre-to-face), with the known wall value φ_bc: u_bc = U∞ at the inlet, 0 on walls and cylinder; v_bc = 0 on all of them; outlet: zero gradient (g = 0)</a:t>
            </a:r>
          </a:p>
          <a:p>
            <a:pPr>
              <a:spcAft>
                <a:spcPts val="500"/>
              </a:spcAft>
            </a:pPr>
            <a:r>
              <a:rPr sz="1300" b="0">
                <a:solidFill>
                  <a:srgbClr val="444444"/>
                </a:solidFill>
              </a:rPr>
              <a:t>• On skewed ring cells the line P→N is not exactly normal to the face; we ignore that (no 'non-orthogonal correction'). It costs some accuracy there, not stability — but it is why the safety factor τ is kept at 0.4</a:t>
            </a:r>
          </a:p>
          <a:p>
            <a:pPr>
              <a:spcAft>
                <a:spcPts val="500"/>
              </a:spcAft>
            </a:pPr>
            <a:r>
              <a:rPr sz="1300" b="0">
                <a:solidFill>
                  <a:srgbClr val="444444"/>
                </a:solidFill>
              </a:rPr>
              <a:t>• ν = 1/150: diffusion is weak compared with convection away from walls, strong inside the boundary layer where cells are small — exactly where it matters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D5  </a:t>
            </a:r>
            <a:r>
              <a:rPr sz="2600" b="1">
                <a:solidFill>
                  <a:srgbClr val="1F3A5F"/>
                </a:solidFill>
              </a:rPr>
              <a:t>Divergence and gradient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22</a:t>
            </a:r>
          </a:p>
        </p:txBody>
      </p:sp>
      <p:pic>
        <p:nvPicPr>
          <p:cNvPr id="5" name="Picture 4" descr="eq_617fc77b5a.png"/>
          <p:cNvPicPr>
            <a:picLocks noChangeAspect="1"/>
          </p:cNvPicPr>
          <p:nvPr/>
        </p:nvPicPr>
        <p:blipFill>
          <a:blip r:embed="rId2"/>
          <a:stretch>
            <a:fillRect/>
          </a:stretch>
        </p:blipFill>
        <p:spPr>
          <a:xfrm>
            <a:off x="548640" y="1188720"/>
            <a:ext cx="3694853" cy="731520"/>
          </a:xfrm>
          <a:prstGeom prst="rect">
            <a:avLst/>
          </a:prstGeom>
        </p:spPr>
      </p:pic>
      <p:sp>
        <p:nvSpPr>
          <p:cNvPr id="6" name="Rectangle 5"/>
          <p:cNvSpPr/>
          <p:nvPr/>
        </p:nvSpPr>
        <p:spPr>
          <a:xfrm>
            <a:off x="548640" y="2011680"/>
            <a:ext cx="5486400" cy="64008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def _div(Un):</a:t>
            </a:r>
          </a:p>
          <a:p>
            <a:pPr algn="l"/>
            <a:r>
              <a:rPr sz="1100">
                <a:solidFill>
                  <a:srgbClr val="202020"/>
                </a:solidFill>
                <a:latin typeface="Courier New"/>
              </a:rPr>
              <a:t>    return accumulate(Un * L, own, nei, Nc) / vol      # net outflow per unit area</a:t>
            </a:r>
          </a:p>
        </p:txBody>
      </p:sp>
      <p:pic>
        <p:nvPicPr>
          <p:cNvPr id="7" name="Picture 6" descr="eq_fc5bd2f0c5.png"/>
          <p:cNvPicPr>
            <a:picLocks noChangeAspect="1"/>
          </p:cNvPicPr>
          <p:nvPr/>
        </p:nvPicPr>
        <p:blipFill>
          <a:blip r:embed="rId3"/>
          <a:stretch>
            <a:fillRect/>
          </a:stretch>
        </p:blipFill>
        <p:spPr>
          <a:xfrm>
            <a:off x="548640" y="2834640"/>
            <a:ext cx="9049173" cy="731520"/>
          </a:xfrm>
          <a:prstGeom prst="rect">
            <a:avLst/>
          </a:prstGeom>
        </p:spPr>
      </p:pic>
      <p:sp>
        <p:nvSpPr>
          <p:cNvPr id="8" name="Rectangle 7"/>
          <p:cNvSpPr/>
          <p:nvPr/>
        </p:nvSpPr>
        <p:spPr>
          <a:xfrm>
            <a:off x="548640" y="3657600"/>
            <a:ext cx="7315200" cy="91440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pf = p[own].copy();  pf[interior] = 0.5 * (p[own[interior]] + p[nei[interior]])</a:t>
            </a:r>
          </a:p>
          <a:p>
            <a:pPr algn="l"/>
            <a:r>
              <a:rPr sz="1100">
                <a:solidFill>
                  <a:srgbClr val="202020"/>
                </a:solidFill>
                <a:latin typeface="Courier New"/>
              </a:rPr>
              <a:t>gx = accumulate(pf * n[:, 0] * L, own, nei, Nc) / vol</a:t>
            </a:r>
          </a:p>
          <a:p>
            <a:pPr algn="l"/>
            <a:r>
              <a:rPr sz="1100">
                <a:solidFill>
                  <a:srgbClr val="202020"/>
                </a:solidFill>
                <a:latin typeface="Courier New"/>
              </a:rPr>
              <a:t>gy = accumulate(pf * n[:, 1] * L, own, nei, Nc) / vol</a:t>
            </a:r>
          </a:p>
        </p:txBody>
      </p:sp>
      <p:sp>
        <p:nvSpPr>
          <p:cNvPr id="9" name="TextBox 8"/>
          <p:cNvSpPr txBox="1"/>
          <p:nvPr/>
        </p:nvSpPr>
        <p:spPr>
          <a:xfrm>
            <a:off x="548640" y="4754880"/>
            <a:ext cx="11064240" cy="1645920"/>
          </a:xfrm>
          <a:prstGeom prst="rect">
            <a:avLst/>
          </a:prstGeom>
          <a:noFill/>
        </p:spPr>
        <p:txBody>
          <a:bodyPr wrap="square">
            <a:spAutoFit/>
          </a:bodyPr>
          <a:lstStyle/>
          <a:p>
            <a:pPr>
              <a:spcAft>
                <a:spcPts val="500"/>
              </a:spcAft>
            </a:pPr>
            <a:r>
              <a:rPr sz="1300" b="0">
                <a:solidFill>
                  <a:srgbClr val="444444"/>
                </a:solidFill>
              </a:rPr>
              <a:t>• The divergence uses the face velocity directly — it is exact for the discrete flux field. This is the quantity we drive to zero</a:t>
            </a:r>
          </a:p>
          <a:p>
            <a:pPr>
              <a:spcAft>
                <a:spcPts val="500"/>
              </a:spcAft>
            </a:pPr>
            <a:r>
              <a:rPr sz="1300" b="0">
                <a:solidFill>
                  <a:srgbClr val="444444"/>
                </a:solidFill>
              </a:rPr>
              <a:t>• The cell gradient (Green–Gauss) is only used to correct the cell-centred u, v (Part G). The face flux is corrected with the compact (p_N − p_P)/d_PN instead — see the next part for why that matters</a:t>
            </a:r>
          </a:p>
          <a:p>
            <a:pPr>
              <a:spcAft>
                <a:spcPts val="500"/>
              </a:spcAft>
            </a:pPr>
            <a:r>
              <a:rPr sz="1300" b="0">
                <a:solidFill>
                  <a:srgbClr val="444444"/>
                </a:solidFill>
              </a:rPr>
              <a:t>• p_f = p_P on the boundary expresses ∂p/∂n = 0 there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E</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The pressure equation</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why there is one, how to derive it, how to solve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E1  </a:t>
            </a:r>
            <a:r>
              <a:rPr sz="2600" b="1">
                <a:solidFill>
                  <a:srgbClr val="1F3A5F"/>
                </a:solidFill>
              </a:rPr>
              <a:t>Deriving the pressure equation (the heart of the method)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24</a:t>
            </a:r>
          </a:p>
        </p:txBody>
      </p:sp>
      <p:sp>
        <p:nvSpPr>
          <p:cNvPr id="5" name="TextBox 4"/>
          <p:cNvSpPr txBox="1"/>
          <p:nvPr/>
        </p:nvSpPr>
        <p:spPr>
          <a:xfrm>
            <a:off x="548640" y="1143000"/>
            <a:ext cx="11064240" cy="457200"/>
          </a:xfrm>
          <a:prstGeom prst="rect">
            <a:avLst/>
          </a:prstGeom>
          <a:noFill/>
        </p:spPr>
        <p:txBody>
          <a:bodyPr wrap="square">
            <a:spAutoFit/>
          </a:bodyPr>
          <a:lstStyle/>
          <a:p>
            <a:r>
              <a:rPr sz="1300" b="1" i="0">
                <a:solidFill>
                  <a:srgbClr val="444444"/>
                </a:solidFill>
              </a:rPr>
              <a:t>Step 1 — predict. Advance the momentum equation without the pressure (Burgers' equation). Call the result F, G (Griebel's names):</a:t>
            </a:r>
          </a:p>
        </p:txBody>
      </p:sp>
      <p:pic>
        <p:nvPicPr>
          <p:cNvPr id="6" name="Picture 5" descr="eq_952d390b82.png"/>
          <p:cNvPicPr>
            <a:picLocks noChangeAspect="1"/>
          </p:cNvPicPr>
          <p:nvPr/>
        </p:nvPicPr>
        <p:blipFill>
          <a:blip r:embed="rId2"/>
          <a:stretch>
            <a:fillRect/>
          </a:stretch>
        </p:blipFill>
        <p:spPr>
          <a:xfrm>
            <a:off x="548640" y="1554480"/>
            <a:ext cx="11277295" cy="441370"/>
          </a:xfrm>
          <a:prstGeom prst="rect">
            <a:avLst/>
          </a:prstGeom>
        </p:spPr>
      </p:pic>
      <p:sp>
        <p:nvSpPr>
          <p:cNvPr id="7" name="TextBox 6"/>
          <p:cNvSpPr txBox="1"/>
          <p:nvPr/>
        </p:nvSpPr>
        <p:spPr>
          <a:xfrm>
            <a:off x="548640" y="2240280"/>
            <a:ext cx="11064240" cy="457200"/>
          </a:xfrm>
          <a:prstGeom prst="rect">
            <a:avLst/>
          </a:prstGeom>
          <a:noFill/>
        </p:spPr>
        <p:txBody>
          <a:bodyPr wrap="square">
            <a:spAutoFit/>
          </a:bodyPr>
          <a:lstStyle/>
          <a:p>
            <a:r>
              <a:rPr sz="1300" b="1" i="0">
                <a:solidFill>
                  <a:srgbClr val="444444"/>
                </a:solidFill>
              </a:rPr>
              <a:t>Step 2 — demand. The true new flux must include the pressure push across the face, and the new field must be divergence-free:</a:t>
            </a:r>
          </a:p>
        </p:txBody>
      </p:sp>
      <p:pic>
        <p:nvPicPr>
          <p:cNvPr id="8" name="Picture 7" descr="eq_2edade2afe.png"/>
          <p:cNvPicPr>
            <a:picLocks noChangeAspect="1"/>
          </p:cNvPicPr>
          <p:nvPr/>
        </p:nvPicPr>
        <p:blipFill>
          <a:blip r:embed="rId3"/>
          <a:stretch>
            <a:fillRect/>
          </a:stretch>
        </p:blipFill>
        <p:spPr>
          <a:xfrm>
            <a:off x="548640" y="2651760"/>
            <a:ext cx="7753350" cy="685800"/>
          </a:xfrm>
          <a:prstGeom prst="rect">
            <a:avLst/>
          </a:prstGeom>
        </p:spPr>
      </p:pic>
      <p:sp>
        <p:nvSpPr>
          <p:cNvPr id="9" name="TextBox 8"/>
          <p:cNvSpPr txBox="1"/>
          <p:nvPr/>
        </p:nvSpPr>
        <p:spPr>
          <a:xfrm>
            <a:off x="548640" y="3429000"/>
            <a:ext cx="11064240" cy="457200"/>
          </a:xfrm>
          <a:prstGeom prst="rect">
            <a:avLst/>
          </a:prstGeom>
          <a:noFill/>
        </p:spPr>
        <p:txBody>
          <a:bodyPr wrap="square">
            <a:spAutoFit/>
          </a:bodyPr>
          <a:lstStyle/>
          <a:p>
            <a:r>
              <a:rPr sz="1300" b="1" i="0">
                <a:solidFill>
                  <a:srgbClr val="444444"/>
                </a:solidFill>
              </a:rPr>
              <a:t>Step 3 — substitute the first into the second. The only unknowns left are the pressures of P and its neighbours:</a:t>
            </a:r>
          </a:p>
        </p:txBody>
      </p:sp>
      <p:pic>
        <p:nvPicPr>
          <p:cNvPr id="10" name="Picture 9" descr="eq_45bdd0d5fb.png"/>
          <p:cNvPicPr>
            <a:picLocks noChangeAspect="1"/>
          </p:cNvPicPr>
          <p:nvPr/>
        </p:nvPicPr>
        <p:blipFill>
          <a:blip r:embed="rId4"/>
          <a:stretch>
            <a:fillRect/>
          </a:stretch>
        </p:blipFill>
        <p:spPr>
          <a:xfrm>
            <a:off x="548640" y="3840480"/>
            <a:ext cx="8974520" cy="822960"/>
          </a:xfrm>
          <a:prstGeom prst="rect">
            <a:avLst/>
          </a:prstGeom>
        </p:spPr>
      </p:pic>
      <p:sp>
        <p:nvSpPr>
          <p:cNvPr id="11" name="TextBox 10"/>
          <p:cNvSpPr txBox="1"/>
          <p:nvPr/>
        </p:nvSpPr>
        <p:spPr>
          <a:xfrm>
            <a:off x="548640" y="4754880"/>
            <a:ext cx="11064240" cy="1737360"/>
          </a:xfrm>
          <a:prstGeom prst="rect">
            <a:avLst/>
          </a:prstGeom>
          <a:noFill/>
        </p:spPr>
        <p:txBody>
          <a:bodyPr wrap="square">
            <a:spAutoFit/>
          </a:bodyPr>
          <a:lstStyle/>
          <a:p>
            <a:pPr>
              <a:spcAft>
                <a:spcPts val="500"/>
              </a:spcAft>
            </a:pPr>
            <a:r>
              <a:rPr sz="1300" b="0">
                <a:solidFill>
                  <a:srgbClr val="444444"/>
                </a:solidFill>
              </a:rPr>
              <a:t>• This is a discrete Poisson equation ∇²p = (1/Δt) ∇·u* — the same one Griebel write, but obtained directly on our faces</a:t>
            </a:r>
          </a:p>
          <a:p>
            <a:pPr>
              <a:spcAft>
                <a:spcPts val="500"/>
              </a:spcAft>
            </a:pPr>
            <a:r>
              <a:rPr sz="1300" b="0">
                <a:solidFill>
                  <a:srgbClr val="444444"/>
                </a:solidFill>
              </a:rPr>
              <a:t>• Read it as: 'find the pressure whose push through the faces removes exactly the divergence that the predictor created'</a:t>
            </a:r>
          </a:p>
          <a:p>
            <a:pPr>
              <a:spcAft>
                <a:spcPts val="500"/>
              </a:spcAft>
            </a:pPr>
            <a:r>
              <a:rPr sz="1300" b="0">
                <a:solidFill>
                  <a:srgbClr val="444444"/>
                </a:solidFill>
              </a:rPr>
              <a:t>• Because F, G contained no pressure at all, the solution p is the pressure itself at the new time, not a correction to an old pressure</a:t>
            </a:r>
          </a:p>
          <a:p>
            <a:pPr>
              <a:spcAft>
                <a:spcPts val="500"/>
              </a:spcAft>
            </a:pPr>
            <a:r>
              <a:rPr sz="1300" b="0">
                <a:solidFill>
                  <a:srgbClr val="444444"/>
                </a:solidFill>
              </a:rPr>
              <a:t>• Nc = 26,444 equations in 26,444 unknowns, each coupling a cell to its 4 neighbours → a sparse linear system A p = rhs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E2  </a:t>
            </a:r>
            <a:r>
              <a:rPr sz="2600" b="1">
                <a:solidFill>
                  <a:srgbClr val="1F3A5F"/>
                </a:solidFill>
              </a:rPr>
              <a:t>Assembling the matrix A</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25</a:t>
            </a:r>
          </a:p>
        </p:txBody>
      </p:sp>
      <p:sp>
        <p:nvSpPr>
          <p:cNvPr id="5" name="Rectangle 4"/>
          <p:cNvSpPr/>
          <p:nvPr/>
        </p:nvSpPr>
        <p:spPr>
          <a:xfrm>
            <a:off x="548640" y="1188720"/>
            <a:ext cx="7315200" cy="182880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o, c = own[interior], nei[interior]</a:t>
            </a:r>
          </a:p>
          <a:p>
            <a:pPr algn="l"/>
            <a:r>
              <a:rPr sz="1100">
                <a:solidFill>
                  <a:srgbClr val="202020"/>
                </a:solidFill>
                <a:latin typeface="Courier New"/>
              </a:rPr>
              <a:t>g = L[interior] / d_pn[interior]                 # one conductance per interior face</a:t>
            </a:r>
          </a:p>
          <a:p>
            <a:pPr algn="l"/>
            <a:r>
              <a:rPr sz="1100">
                <a:solidFill>
                  <a:srgbClr val="202020"/>
                </a:solidFill>
                <a:latin typeface="Courier New"/>
              </a:rPr>
              <a:t>rows = np.r_[o, o, c, c]</a:t>
            </a:r>
          </a:p>
          <a:p>
            <a:pPr algn="l"/>
            <a:r>
              <a:rPr sz="1100">
                <a:solidFill>
                  <a:srgbClr val="202020"/>
                </a:solidFill>
                <a:latin typeface="Courier New"/>
              </a:rPr>
              <a:t>cols = np.r_[c, o, o, c]</a:t>
            </a:r>
          </a:p>
          <a:p>
            <a:pPr algn="l"/>
            <a:r>
              <a:rPr sz="1100">
                <a:solidFill>
                  <a:srgbClr val="202020"/>
                </a:solidFill>
                <a:latin typeface="Courier New"/>
              </a:rPr>
              <a:t>data = np.r_[g, -g, g, -g]                       # row o: +g at col c, -g at col o   (and vice versa)</a:t>
            </a:r>
          </a:p>
          <a:p>
            <a:pPr algn="l"/>
            <a:r>
              <a:rPr sz="1100">
                <a:solidFill>
                  <a:srgbClr val="202020"/>
                </a:solidFill>
                <a:latin typeface="Courier New"/>
              </a:rPr>
              <a:t>A = sparse.coo_matrix((data, (rows, cols)), shape=(Nc, Nc)).tocsr()</a:t>
            </a:r>
          </a:p>
          <a:p>
            <a:pPr algn="l"/>
            <a:r>
              <a:rPr sz="1100">
                <a:solidFill>
                  <a:srgbClr val="202020"/>
                </a:solidFill>
                <a:latin typeface="Courier New"/>
              </a:rPr>
              <a:t># built ONCE in __init__ : the mesh never changes</a:t>
            </a:r>
          </a:p>
        </p:txBody>
      </p:sp>
      <p:sp>
        <p:nvSpPr>
          <p:cNvPr id="6" name="TextBox 5"/>
          <p:cNvSpPr txBox="1"/>
          <p:nvPr/>
        </p:nvSpPr>
        <p:spPr>
          <a:xfrm>
            <a:off x="548640" y="3200400"/>
            <a:ext cx="7315200" cy="3108960"/>
          </a:xfrm>
          <a:prstGeom prst="rect">
            <a:avLst/>
          </a:prstGeom>
          <a:noFill/>
        </p:spPr>
        <p:txBody>
          <a:bodyPr wrap="square">
            <a:spAutoFit/>
          </a:bodyPr>
          <a:lstStyle/>
          <a:p>
            <a:pPr>
              <a:spcAft>
                <a:spcPts val="500"/>
              </a:spcAft>
            </a:pPr>
            <a:r>
              <a:rPr sz="1300" b="0">
                <a:solidFill>
                  <a:srgbClr val="444444"/>
                </a:solidFill>
              </a:rPr>
              <a:t>• Each interior face adds the same conductance g_f = L_f/d_PN to four entries: it couples P and N symmetrically → A is symmetric</a:t>
            </a:r>
          </a:p>
          <a:p>
            <a:pPr>
              <a:spcAft>
                <a:spcPts val="500"/>
              </a:spcAft>
            </a:pPr>
            <a:r>
              <a:rPr sz="1300" b="0">
                <a:solidFill>
                  <a:srgbClr val="444444"/>
                </a:solidFill>
              </a:rPr>
              <a:t>• Row P: off-diagonals +g_f for each neighbour, diagonal −Σ g_f. Boundary faces add nothing (∂p/∂n = 0)</a:t>
            </a:r>
          </a:p>
          <a:p>
            <a:pPr>
              <a:spcAft>
                <a:spcPts val="500"/>
              </a:spcAft>
            </a:pPr>
            <a:r>
              <a:rPr sz="1300" b="1">
                <a:solidFill>
                  <a:srgbClr val="444444"/>
                </a:solidFill>
              </a:rPr>
              <a:t>• Consequence 1 — rows sum to zero: A·(constant) = 0. The pressure is only defined up to a constant; we fix it by subtracting the mean</a:t>
            </a:r>
          </a:p>
          <a:p>
            <a:pPr>
              <a:spcAft>
                <a:spcPts val="500"/>
              </a:spcAft>
            </a:pPr>
            <a:r>
              <a:rPr sz="1300" b="1">
                <a:solidFill>
                  <a:srgbClr val="444444"/>
                </a:solidFill>
              </a:rPr>
              <a:t>• Consequence 2 — a solution exists only if the right-hand side sums to zero: Σ_P V_P div(u*) = 0 = net flow out of the domain. Inflow must equal outflow before we solve (Part F)</a:t>
            </a:r>
          </a:p>
          <a:p>
            <a:pPr>
              <a:spcAft>
                <a:spcPts val="500"/>
              </a:spcAft>
            </a:pPr>
            <a:r>
              <a:rPr sz="1300" b="0">
                <a:solidFill>
                  <a:srgbClr val="444444"/>
                </a:solidFill>
              </a:rPr>
              <a:t>• Check: A @ np.ones(Nc) is zero to round-off; A − A.T is exactly zero</a:t>
            </a:r>
          </a:p>
        </p:txBody>
      </p:sp>
      <p:sp>
        <p:nvSpPr>
          <p:cNvPr id="7" name="Rectangle 6"/>
          <p:cNvSpPr/>
          <p:nvPr/>
        </p:nvSpPr>
        <p:spPr>
          <a:xfrm>
            <a:off x="8138160" y="1280160"/>
            <a:ext cx="3749039" cy="20116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Analogy: A is the conductance matrix of a resistor network — one resistor L/d per face, p the node voltages, rhs the injected currents. Kirchhoff says the injected currents must sum to zero.</a:t>
            </a:r>
          </a:p>
        </p:txBody>
      </p:sp>
      <p:graphicFrame>
        <p:nvGraphicFramePr>
          <p:cNvPr id="8" name="Table 7"/>
          <p:cNvGraphicFramePr>
            <a:graphicFrameLocks noGrp="1"/>
          </p:cNvGraphicFramePr>
          <p:nvPr/>
        </p:nvGraphicFramePr>
        <p:xfrm>
          <a:off x="8138160" y="3566160"/>
          <a:ext cx="3749040" cy="548640"/>
        </p:xfrm>
        <a:graphic>
          <a:graphicData uri="http://schemas.openxmlformats.org/drawingml/2006/table">
            <a:tbl>
              <a:tblPr firstRow="1" bandRow="1">
                <a:tableStyleId>{5C22544A-7EE6-4342-B048-85BDC9FD1C3A}</a:tableStyleId>
              </a:tblPr>
              <a:tblGrid>
                <a:gridCol w="1188720"/>
                <a:gridCol w="1280160"/>
                <a:gridCol w="1280160"/>
              </a:tblGrid>
              <a:tr h="274320">
                <a:tc>
                  <a:txBody>
                    <a:bodyPr/>
                    <a:lstStyle/>
                    <a:p>
                      <a:r>
                        <a:rPr sz="1100" b="1"/>
                        <a:t>Nc</a:t>
                      </a:r>
                    </a:p>
                  </a:txBody>
                  <a:tcPr marT="27432" marB="27432"/>
                </a:tc>
                <a:tc>
                  <a:txBody>
                    <a:bodyPr/>
                    <a:lstStyle/>
                    <a:p>
                      <a:r>
                        <a:rPr sz="1100" b="1"/>
                        <a:t>nnz(A)</a:t>
                      </a:r>
                    </a:p>
                  </a:txBody>
                  <a:tcPr marT="27432" marB="27432"/>
                </a:tc>
                <a:tc>
                  <a:txBody>
                    <a:bodyPr/>
                    <a:lstStyle/>
                    <a:p>
                      <a:r>
                        <a:rPr sz="1100" b="1"/>
                        <a:t>memory</a:t>
                      </a:r>
                    </a:p>
                  </a:txBody>
                  <a:tcPr marT="27432" marB="27432"/>
                </a:tc>
              </a:tr>
              <a:tr h="274320">
                <a:tc>
                  <a:txBody>
                    <a:bodyPr/>
                    <a:lstStyle/>
                    <a:p>
                      <a:r>
                        <a:rPr sz="1100" b="0"/>
                        <a:t>26,444</a:t>
                      </a:r>
                    </a:p>
                  </a:txBody>
                  <a:tcPr marT="27432" marB="27432"/>
                </a:tc>
                <a:tc>
                  <a:txBody>
                    <a:bodyPr/>
                    <a:lstStyle/>
                    <a:p>
                      <a:r>
                        <a:rPr sz="1100" b="0"/>
                        <a:t>131,424</a:t>
                      </a:r>
                    </a:p>
                  </a:txBody>
                  <a:tcPr marT="27432" marB="27432"/>
                </a:tc>
                <a:tc>
                  <a:txBody>
                    <a:bodyPr/>
                    <a:lstStyle/>
                    <a:p>
                      <a:r>
                        <a:rPr sz="1100" b="0"/>
                        <a:t>1.7 MB</a:t>
                      </a:r>
                    </a:p>
                  </a:txBody>
                  <a:tcPr marT="27432" marB="27432"/>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E3  </a:t>
            </a:r>
            <a:r>
              <a:rPr sz="2600" b="1">
                <a:solidFill>
                  <a:srgbClr val="1F3A5F"/>
                </a:solidFill>
              </a:rPr>
              <a:t>Solving A p = rhs — three ways, one default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26</a:t>
            </a:r>
          </a:p>
        </p:txBody>
      </p:sp>
      <p:sp>
        <p:nvSpPr>
          <p:cNvPr id="5" name="Rectangle 4"/>
          <p:cNvSpPr/>
          <p:nvPr/>
        </p:nvSpPr>
        <p:spPr>
          <a:xfrm>
            <a:off x="548640" y="1188720"/>
            <a:ext cx="7315200" cy="219456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rhs = (1.0 / dt) * vol * _div(Un_star)</a:t>
            </a:r>
          </a:p>
          <a:p>
            <a:pPr algn="l"/>
            <a:r>
              <a:rPr sz="1000">
                <a:solidFill>
                  <a:srgbClr val="202020"/>
                </a:solidFill>
                <a:latin typeface="Courier New"/>
              </a:rPr>
              <a:t>rhs -= rhs.mean()                       # exactly compatible (after the outlet balance)</a:t>
            </a:r>
          </a:p>
          <a:p>
            <a:pPr algn="l"/>
            <a:r>
              <a:rPr sz="1000">
                <a:solidFill>
                  <a:srgbClr val="202020"/>
                </a:solidFill>
                <a:latin typeface="Courier New"/>
              </a:rPr>
              <a:t>if poisson == "lu":</a:t>
            </a:r>
          </a:p>
          <a:p>
            <a:pPr algn="l"/>
            <a:r>
              <a:rPr sz="1000">
                <a:solidFill>
                  <a:srgbClr val="202020"/>
                </a:solidFill>
                <a:latin typeface="Courier New"/>
              </a:rPr>
              <a:t>    rhs[0] = 0.0;  p = lu.solve(rhs)    # lu = splu(A, row 0 -&gt; [1 0 0 ...]), built once</a:t>
            </a:r>
          </a:p>
          <a:p>
            <a:pPr algn="l"/>
            <a:r>
              <a:rPr sz="1000">
                <a:solidFill>
                  <a:srgbClr val="202020"/>
                </a:solidFill>
                <a:latin typeface="Courier New"/>
              </a:rPr>
              <a:t>elif poisson == "cg":</a:t>
            </a:r>
          </a:p>
          <a:p>
            <a:pPr algn="l"/>
            <a:r>
              <a:rPr sz="1000">
                <a:solidFill>
                  <a:srgbClr val="202020"/>
                </a:solidFill>
                <a:latin typeface="Courier New"/>
              </a:rPr>
              <a:t>    p, info = cg(A_meanfree, rhs, M=jacobi, rtol=1e-8, maxiter=2000)</a:t>
            </a:r>
          </a:p>
          <a:p>
            <a:pPr algn="l"/>
            <a:r>
              <a:rPr sz="1000">
                <a:solidFill>
                  <a:srgbClr val="202020"/>
                </a:solidFill>
                <a:latin typeface="Courier New"/>
              </a:rPr>
              <a:t>else:                                   # "sor"</a:t>
            </a:r>
          </a:p>
          <a:p>
            <a:pPr algn="l"/>
            <a:r>
              <a:rPr sz="1000">
                <a:solidFill>
                  <a:srgbClr val="202020"/>
                </a:solidFill>
                <a:latin typeface="Courier New"/>
              </a:rPr>
              <a:t>    for it in range(max_it): Gauss-Seidel sweep with omega = 1.7 until the residual &lt; eps</a:t>
            </a:r>
          </a:p>
          <a:p>
            <a:pPr algn="l"/>
            <a:r>
              <a:rPr sz="1000">
                <a:solidFill>
                  <a:srgbClr val="202020"/>
                </a:solidFill>
                <a:latin typeface="Courier New"/>
              </a:rPr>
              <a:t>p -= p.mean()                           # pin the free constant</a:t>
            </a:r>
          </a:p>
        </p:txBody>
      </p:sp>
      <p:graphicFrame>
        <p:nvGraphicFramePr>
          <p:cNvPr id="6" name="Table 5"/>
          <p:cNvGraphicFramePr>
            <a:graphicFrameLocks noGrp="1"/>
          </p:cNvGraphicFramePr>
          <p:nvPr/>
        </p:nvGraphicFramePr>
        <p:xfrm>
          <a:off x="548640" y="3566160"/>
          <a:ext cx="11064240" cy="1097280"/>
        </p:xfrm>
        <a:graphic>
          <a:graphicData uri="http://schemas.openxmlformats.org/drawingml/2006/table">
            <a:tbl>
              <a:tblPr firstRow="1" bandRow="1">
                <a:tableStyleId>{5C22544A-7EE6-4342-B048-85BDC9FD1C3A}</a:tableStyleId>
              </a:tblPr>
              <a:tblGrid>
                <a:gridCol w="1188720"/>
                <a:gridCol w="4572000"/>
                <a:gridCol w="2651760"/>
                <a:gridCol w="2651760"/>
              </a:tblGrid>
              <a:tr h="274320">
                <a:tc>
                  <a:txBody>
                    <a:bodyPr/>
                    <a:lstStyle/>
                    <a:p>
                      <a:r>
                        <a:rPr sz="1100" b="1"/>
                        <a:t>--poisson</a:t>
                      </a:r>
                    </a:p>
                  </a:txBody>
                  <a:tcPr marT="27432" marB="27432"/>
                </a:tc>
                <a:tc>
                  <a:txBody>
                    <a:bodyPr/>
                    <a:lstStyle/>
                    <a:p>
                      <a:r>
                        <a:rPr sz="1100" b="1"/>
                        <a:t>idea</a:t>
                      </a:r>
                    </a:p>
                  </a:txBody>
                  <a:tcPr marT="27432" marB="27432"/>
                </a:tc>
                <a:tc>
                  <a:txBody>
                    <a:bodyPr/>
                    <a:lstStyle/>
                    <a:p>
                      <a:r>
                        <a:rPr sz="1100" b="1"/>
                        <a:t>work per time step (26k cells)</a:t>
                      </a:r>
                    </a:p>
                  </a:txBody>
                  <a:tcPr marT="27432" marB="27432"/>
                </a:tc>
                <a:tc>
                  <a:txBody>
                    <a:bodyPr/>
                    <a:lstStyle/>
                    <a:p>
                      <a:r>
                        <a:rPr sz="1100" b="1"/>
                        <a:t>when to use</a:t>
                      </a:r>
                    </a:p>
                  </a:txBody>
                  <a:tcPr marT="27432" marB="27432"/>
                </a:tc>
              </a:tr>
              <a:tr h="274320">
                <a:tc>
                  <a:txBody>
                    <a:bodyPr/>
                    <a:lstStyle/>
                    <a:p>
                      <a:r>
                        <a:rPr sz="1100" b="0"/>
                        <a:t>sor</a:t>
                      </a:r>
                    </a:p>
                  </a:txBody>
                  <a:tcPr marT="27432" marB="27432"/>
                </a:tc>
                <a:tc>
                  <a:txBody>
                    <a:bodyPr/>
                    <a:lstStyle/>
                    <a:p>
                      <a:r>
                        <a:rPr sz="1100" b="0"/>
                        <a:t>sweep cell by cell, over-relax (ω = 1.7). Griebel's original</a:t>
                      </a:r>
                    </a:p>
                  </a:txBody>
                  <a:tcPr marT="27432" marB="27432"/>
                </a:tc>
                <a:tc>
                  <a:txBody>
                    <a:bodyPr/>
                    <a:lstStyle/>
                    <a:p>
                      <a:r>
                        <a:rPr sz="1100" b="0"/>
                        <a:t>thousands of sweeps, seconds</a:t>
                      </a:r>
                    </a:p>
                  </a:txBody>
                  <a:tcPr marT="27432" marB="27432"/>
                </a:tc>
                <a:tc>
                  <a:txBody>
                    <a:bodyPr/>
                    <a:lstStyle/>
                    <a:p>
                      <a:r>
                        <a:rPr sz="1100" b="0"/>
                        <a:t>to see the textbook method</a:t>
                      </a:r>
                    </a:p>
                  </a:txBody>
                  <a:tcPr marT="27432" marB="27432"/>
                </a:tc>
              </a:tr>
              <a:tr h="274320">
                <a:tc>
                  <a:txBody>
                    <a:bodyPr/>
                    <a:lstStyle/>
                    <a:p>
                      <a:r>
                        <a:rPr sz="1100" b="0"/>
                        <a:t>cg</a:t>
                      </a:r>
                    </a:p>
                  </a:txBody>
                  <a:tcPr marT="27432" marB="27432"/>
                </a:tc>
                <a:tc>
                  <a:txBody>
                    <a:bodyPr/>
                    <a:lstStyle/>
                    <a:p>
                      <a:r>
                        <a:rPr sz="1100" b="0"/>
                        <a:t>conjugate gradient, Jacobi preconditioner, on the mean-free operator</a:t>
                      </a:r>
                    </a:p>
                  </a:txBody>
                  <a:tcPr marT="27432" marB="27432"/>
                </a:tc>
                <a:tc>
                  <a:txBody>
                    <a:bodyPr/>
                    <a:lstStyle/>
                    <a:p>
                      <a:r>
                        <a:rPr sz="1100" b="0"/>
                        <a:t>≈ 1000 iterations, ~300 ms</a:t>
                      </a:r>
                    </a:p>
                  </a:txBody>
                  <a:tcPr marT="27432" marB="27432"/>
                </a:tc>
                <a:tc>
                  <a:txBody>
                    <a:bodyPr/>
                    <a:lstStyle/>
                    <a:p>
                      <a:r>
                        <a:rPr sz="1100" b="0"/>
                        <a:t>very large meshes (no factorisation memory)</a:t>
                      </a:r>
                    </a:p>
                  </a:txBody>
                  <a:tcPr marT="27432" marB="27432"/>
                </a:tc>
              </a:tr>
              <a:tr h="274320">
                <a:tc>
                  <a:txBody>
                    <a:bodyPr/>
                    <a:lstStyle/>
                    <a:p>
                      <a:r>
                        <a:rPr sz="1100" b="0"/>
                        <a:t>lu (default)</a:t>
                      </a:r>
                    </a:p>
                  </a:txBody>
                  <a:tcPr marT="27432" marB="27432"/>
                </a:tc>
                <a:tc>
                  <a:txBody>
                    <a:bodyPr/>
                    <a:lstStyle/>
                    <a:p>
                      <a:r>
                        <a:rPr sz="1100" b="0"/>
                        <a:t>pin one cell, factorise A once (SuperLU), two triangular solves per step</a:t>
                      </a:r>
                    </a:p>
                  </a:txBody>
                  <a:tcPr marT="27432" marB="27432"/>
                </a:tc>
                <a:tc>
                  <a:txBody>
                    <a:bodyPr/>
                    <a:lstStyle/>
                    <a:p>
                      <a:r>
                        <a:rPr sz="1100" b="0"/>
                        <a:t>2 ms</a:t>
                      </a:r>
                    </a:p>
                  </a:txBody>
                  <a:tcPr marT="27432" marB="27432"/>
                </a:tc>
                <a:tc>
                  <a:txBody>
                    <a:bodyPr/>
                    <a:lstStyle/>
                    <a:p>
                      <a:r>
                        <a:rPr sz="1100" b="0"/>
                        <a:t>whenever the mesh fits in memory</a:t>
                      </a:r>
                    </a:p>
                  </a:txBody>
                  <a:tcPr marT="27432" marB="27432"/>
                </a:tc>
              </a:tr>
            </a:tbl>
          </a:graphicData>
        </a:graphic>
      </p:graphicFrame>
      <p:sp>
        <p:nvSpPr>
          <p:cNvPr id="7" name="TextBox 6"/>
          <p:cNvSpPr txBox="1"/>
          <p:nvPr/>
        </p:nvSpPr>
        <p:spPr>
          <a:xfrm>
            <a:off x="548640" y="5029200"/>
            <a:ext cx="11064240" cy="1463040"/>
          </a:xfrm>
          <a:prstGeom prst="rect">
            <a:avLst/>
          </a:prstGeom>
          <a:noFill/>
        </p:spPr>
        <p:txBody>
          <a:bodyPr wrap="square">
            <a:spAutoFit/>
          </a:bodyPr>
          <a:lstStyle/>
          <a:p>
            <a:pPr>
              <a:spcAft>
                <a:spcPts val="500"/>
              </a:spcAft>
            </a:pPr>
            <a:r>
              <a:rPr sz="1200" b="0">
                <a:solidFill>
                  <a:srgbClr val="444444"/>
                </a:solidFill>
              </a:rPr>
              <a:t>• 'Pin one cell': replace row 0 of A by the identity row. That removes the constant null space; because the other rows sum to zero, a mean-free rhs is still solved exactly by all of them</a:t>
            </a:r>
          </a:p>
          <a:p>
            <a:pPr>
              <a:spcAft>
                <a:spcPts val="500"/>
              </a:spcAft>
            </a:pPr>
            <a:r>
              <a:rPr sz="1200" b="0">
                <a:solidFill>
                  <a:srgbClr val="444444"/>
                </a:solidFill>
              </a:rPr>
              <a:t>• LU is exact to round-off: after the correction, max|∇·u| = 1e-12. CG/SOR stop at a tolerance and leave 1e-8 … 1e-6</a:t>
            </a:r>
          </a:p>
          <a:p>
            <a:pPr>
              <a:spcAft>
                <a:spcPts val="500"/>
              </a:spcAft>
            </a:pPr>
            <a:r>
              <a:rPr sz="1200" b="0">
                <a:solidFill>
                  <a:srgbClr val="444444"/>
                </a:solidFill>
              </a:rPr>
              <a:t>• The factorisation costs 60 ms once and 1.6 M non-zeros — negligible. It made the 26,600-step run take 6 min instead of 3 h</a:t>
            </a:r>
          </a:p>
        </p:txBody>
      </p:sp>
      <p:sp>
        <p:nvSpPr>
          <p:cNvPr id="8" name="Rectangle 7"/>
          <p:cNvSpPr/>
          <p:nvPr/>
        </p:nvSpPr>
        <p:spPr>
          <a:xfrm>
            <a:off x="8138160" y="1280160"/>
            <a:ext cx="3749039" cy="10972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Lesson: the pressure solve is 98 % of the cost of an explicit projection code. Pick the solver before anything else.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F</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BCs, time step, initial condition</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the parts that decide whether the run is right, stable, and actually sheds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F1  </a:t>
            </a:r>
            <a:r>
              <a:rPr sz="2600" b="1">
                <a:solidFill>
                  <a:srgbClr val="1F3A5F"/>
                </a:solidFill>
              </a:rPr>
              <a:t>Boundary conditions — where each one is applied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28</a:t>
            </a:r>
          </a:p>
        </p:txBody>
      </p:sp>
      <p:graphicFrame>
        <p:nvGraphicFramePr>
          <p:cNvPr id="5" name="Table 4"/>
          <p:cNvGraphicFramePr>
            <a:graphicFrameLocks noGrp="1"/>
          </p:cNvGraphicFramePr>
          <p:nvPr/>
        </p:nvGraphicFramePr>
        <p:xfrm>
          <a:off x="548640" y="1188720"/>
          <a:ext cx="11064240" cy="1371600"/>
        </p:xfrm>
        <a:graphic>
          <a:graphicData uri="http://schemas.openxmlformats.org/drawingml/2006/table">
            <a:tbl>
              <a:tblPr firstRow="1" bandRow="1">
                <a:tableStyleId>{5C22544A-7EE6-4342-B048-85BDC9FD1C3A}</a:tableStyleId>
              </a:tblPr>
              <a:tblGrid>
                <a:gridCol w="1828800"/>
                <a:gridCol w="2011680"/>
                <a:gridCol w="4937760"/>
                <a:gridCol w="2286000"/>
              </a:tblGrid>
              <a:tr h="274320">
                <a:tc>
                  <a:txBody>
                    <a:bodyPr/>
                    <a:lstStyle/>
                    <a:p>
                      <a:r>
                        <a:rPr sz="1100" b="1"/>
                        <a:t>patch</a:t>
                      </a:r>
                    </a:p>
                  </a:txBody>
                  <a:tcPr marT="27432" marB="27432"/>
                </a:tc>
                <a:tc>
                  <a:txBody>
                    <a:bodyPr/>
                    <a:lstStyle/>
                    <a:p>
                      <a:r>
                        <a:rPr sz="1100" b="1"/>
                        <a:t>velocity</a:t>
                      </a:r>
                    </a:p>
                  </a:txBody>
                  <a:tcPr marT="27432" marB="27432"/>
                </a:tc>
                <a:tc>
                  <a:txBody>
                    <a:bodyPr/>
                    <a:lstStyle/>
                    <a:p>
                      <a:r>
                        <a:rPr sz="1100" b="1"/>
                        <a:t>how it enters the code</a:t>
                      </a:r>
                    </a:p>
                  </a:txBody>
                  <a:tcPr marT="27432" marB="27432"/>
                </a:tc>
                <a:tc>
                  <a:txBody>
                    <a:bodyPr/>
                    <a:lstStyle/>
                    <a:p>
                      <a:r>
                        <a:rPr sz="1100" b="1"/>
                        <a:t>pressure</a:t>
                      </a:r>
                    </a:p>
                  </a:txBody>
                  <a:tcPr marT="27432" marB="27432"/>
                </a:tc>
              </a:tr>
              <a:tr h="274320">
                <a:tc>
                  <a:txBody>
                    <a:bodyPr/>
                    <a:lstStyle/>
                    <a:p>
                      <a:r>
                        <a:rPr sz="1100" b="0"/>
                        <a:t>inlet (x = 0)</a:t>
                      </a:r>
                    </a:p>
                  </a:txBody>
                  <a:tcPr marT="27432" marB="27432"/>
                </a:tc>
                <a:tc>
                  <a:txBody>
                    <a:bodyPr/>
                    <a:lstStyle/>
                    <a:p>
                      <a:r>
                        <a:rPr sz="1100" b="0"/>
                        <a:t>u = U∞, v = v_in(t)</a:t>
                      </a:r>
                    </a:p>
                  </a:txBody>
                  <a:tcPr marT="27432" marB="27432"/>
                </a:tc>
                <a:tc>
                  <a:txBody>
                    <a:bodyPr/>
                    <a:lstStyle/>
                    <a:p>
                      <a:r>
                        <a:rPr sz="1100" b="0"/>
                        <a:t>U_n set directly on inlet faces; u_bc in the Laplacian; φ_f at the face</a:t>
                      </a:r>
                    </a:p>
                  </a:txBody>
                  <a:tcPr marT="27432" marB="27432"/>
                </a:tc>
                <a:tc>
                  <a:txBody>
                    <a:bodyPr/>
                    <a:lstStyle/>
                    <a:p>
                      <a:r>
                        <a:rPr sz="1100" b="0"/>
                        <a:t>∂p/∂n = 0 (no face in A)</a:t>
                      </a:r>
                    </a:p>
                  </a:txBody>
                  <a:tcPr marT="27432" marB="27432"/>
                </a:tc>
              </a:tr>
              <a:tr h="274320">
                <a:tc>
                  <a:txBody>
                    <a:bodyPr/>
                    <a:lstStyle/>
                    <a:p>
                      <a:r>
                        <a:rPr sz="1100" b="0"/>
                        <a:t>outlet (x = 24)</a:t>
                      </a:r>
                    </a:p>
                  </a:txBody>
                  <a:tcPr marT="27432" marB="27432"/>
                </a:tc>
                <a:tc>
                  <a:txBody>
                    <a:bodyPr/>
                    <a:lstStyle/>
                    <a:p>
                      <a:r>
                        <a:rPr sz="1100" b="0"/>
                        <a:t>∂u/∂n = 0, ∂v/∂n = 0</a:t>
                      </a:r>
                    </a:p>
                  </a:txBody>
                  <a:tcPr marT="27432" marB="27432"/>
                </a:tc>
                <a:tc>
                  <a:txBody>
                    <a:bodyPr/>
                    <a:lstStyle/>
                    <a:p>
                      <a:r>
                        <a:rPr sz="1100" b="0"/>
                        <a:t>U_n* taken from the owner cell; then shifted so outflow = inflow</a:t>
                      </a:r>
                    </a:p>
                  </a:txBody>
                  <a:tcPr marT="27432" marB="27432"/>
                </a:tc>
                <a:tc>
                  <a:txBody>
                    <a:bodyPr/>
                    <a:lstStyle/>
                    <a:p>
                      <a:r>
                        <a:rPr sz="1100" b="0"/>
                        <a:t>∂p/∂n = 0</a:t>
                      </a:r>
                    </a:p>
                  </a:txBody>
                  <a:tcPr marT="27432" marB="27432"/>
                </a:tc>
              </a:tr>
              <a:tr h="274320">
                <a:tc>
                  <a:txBody>
                    <a:bodyPr/>
                    <a:lstStyle/>
                    <a:p>
                      <a:r>
                        <a:rPr sz="1100" b="0"/>
                        <a:t>wall_top, wall_bottom</a:t>
                      </a:r>
                    </a:p>
                  </a:txBody>
                  <a:tcPr marT="27432" marB="27432"/>
                </a:tc>
                <a:tc>
                  <a:txBody>
                    <a:bodyPr/>
                    <a:lstStyle/>
                    <a:p>
                      <a:r>
                        <a:rPr sz="1100" b="0"/>
                        <a:t>u = v = 0</a:t>
                      </a:r>
                    </a:p>
                  </a:txBody>
                  <a:tcPr marT="27432" marB="27432"/>
                </a:tc>
                <a:tc>
                  <a:txBody>
                    <a:bodyPr/>
                    <a:lstStyle/>
                    <a:p>
                      <a:r>
                        <a:rPr sz="1100" b="0"/>
                        <a:t>U_n = 0; φ_bc = 0 in the Laplacian; φ_f = 0 in convection</a:t>
                      </a:r>
                    </a:p>
                  </a:txBody>
                  <a:tcPr marT="27432" marB="27432"/>
                </a:tc>
                <a:tc>
                  <a:txBody>
                    <a:bodyPr/>
                    <a:lstStyle/>
                    <a:p>
                      <a:r>
                        <a:rPr sz="1100" b="0"/>
                        <a:t>∂p/∂n = 0</a:t>
                      </a:r>
                    </a:p>
                  </a:txBody>
                  <a:tcPr marT="27432" marB="27432"/>
                </a:tc>
              </a:tr>
              <a:tr h="274320">
                <a:tc>
                  <a:txBody>
                    <a:bodyPr/>
                    <a:lstStyle/>
                    <a:p>
                      <a:r>
                        <a:rPr sz="1100" b="0"/>
                        <a:t>cylinder</a:t>
                      </a:r>
                    </a:p>
                  </a:txBody>
                  <a:tcPr marT="27432" marB="27432"/>
                </a:tc>
                <a:tc>
                  <a:txBody>
                    <a:bodyPr/>
                    <a:lstStyle/>
                    <a:p>
                      <a:r>
                        <a:rPr sz="1100" b="0"/>
                        <a:t>u = v = 0</a:t>
                      </a:r>
                    </a:p>
                  </a:txBody>
                  <a:tcPr marT="27432" marB="27432"/>
                </a:tc>
                <a:tc>
                  <a:txBody>
                    <a:bodyPr/>
                    <a:lstStyle/>
                    <a:p>
                      <a:r>
                        <a:rPr sz="1100" b="0"/>
                        <a:t>same as walls</a:t>
                      </a:r>
                    </a:p>
                  </a:txBody>
                  <a:tcPr marT="27432" marB="27432"/>
                </a:tc>
                <a:tc>
                  <a:txBody>
                    <a:bodyPr/>
                    <a:lstStyle/>
                    <a:p>
                      <a:r>
                        <a:rPr sz="1100" b="0"/>
                        <a:t>∂p/∂n = 0</a:t>
                      </a:r>
                    </a:p>
                  </a:txBody>
                  <a:tcPr marT="27432" marB="27432"/>
                </a:tc>
              </a:tr>
            </a:tbl>
          </a:graphicData>
        </a:graphic>
      </p:graphicFrame>
      <p:sp>
        <p:nvSpPr>
          <p:cNvPr id="6" name="Rectangle 5"/>
          <p:cNvSpPr/>
          <p:nvPr/>
        </p:nvSpPr>
        <p:spPr>
          <a:xfrm>
            <a:off x="548640" y="3017520"/>
            <a:ext cx="6949440" cy="237744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def _enforce_Un_bc(Un):</a:t>
            </a:r>
          </a:p>
          <a:p>
            <a:pPr algn="l"/>
            <a:r>
              <a:rPr sz="1000">
                <a:solidFill>
                  <a:srgbClr val="202020"/>
                </a:solidFill>
                <a:latin typeface="Courier New"/>
              </a:rPr>
              <a:t>    Un[inlet] = U_inf * n[inlet, 0] + v_in(t) * n[inlet, 1]</a:t>
            </a:r>
          </a:p>
          <a:p>
            <a:pPr algn="l"/>
            <a:r>
              <a:rPr sz="1000">
                <a:solidFill>
                  <a:srgbClr val="202020"/>
                </a:solidFill>
                <a:latin typeface="Courier New"/>
              </a:rPr>
              <a:t>    Un[wall_top] = Un[wall_bottom] = Un[cylinder] = 0.0</a:t>
            </a:r>
          </a:p>
          <a:p>
            <a:pPr algn="l"/>
            <a:r>
              <a:rPr sz="1000">
                <a:solidFill>
                  <a:srgbClr val="202020"/>
                </a:solidFill>
                <a:latin typeface="Courier New"/>
              </a:rPr>
              <a:t>    return Un                                   # outlet faces untouched</a:t>
            </a:r>
          </a:p>
          <a:p>
            <a:pPr algn="l"/>
            <a:r>
              <a:rPr sz="1000">
                <a:solidFill>
                  <a:srgbClr val="202020"/>
                </a:solidFill>
                <a:latin typeface="Courier New"/>
              </a:rPr>
              <a:t> </a:t>
            </a:r>
          </a:p>
          <a:p>
            <a:pPr algn="l"/>
            <a:r>
              <a:rPr sz="1000">
                <a:solidFill>
                  <a:srgbClr val="202020"/>
                </a:solidFill>
                <a:latin typeface="Courier New"/>
              </a:rPr>
              <a:t>def _balance_outlet(Un):                        # inflow must equal outflow</a:t>
            </a:r>
          </a:p>
          <a:p>
            <a:pPr algn="l"/>
            <a:r>
              <a:rPr sz="1000">
                <a:solidFill>
                  <a:srgbClr val="202020"/>
                </a:solidFill>
                <a:latin typeface="Courier New"/>
              </a:rPr>
              <a:t>    oth = bnd &amp; ~outlet                                      # every boundary face except the outlet</a:t>
            </a:r>
          </a:p>
          <a:p>
            <a:pPr algn="l"/>
            <a:r>
              <a:rPr sz="1000">
                <a:solidFill>
                  <a:srgbClr val="202020"/>
                </a:solidFill>
                <a:latin typeface="Courier New"/>
              </a:rPr>
              <a:t>    Q_other = np.sum(Un[oth] * L[oth])                       # their net outward flux</a:t>
            </a:r>
          </a:p>
          <a:p>
            <a:pPr algn="l"/>
            <a:r>
              <a:rPr sz="1000">
                <a:solidFill>
                  <a:srgbClr val="202020"/>
                </a:solidFill>
                <a:latin typeface="Courier New"/>
              </a:rPr>
              <a:t>    Q_out   = np.sum(Un[outlet] * L[outlet])</a:t>
            </a:r>
          </a:p>
          <a:p>
            <a:pPr algn="l"/>
            <a:r>
              <a:rPr sz="1000">
                <a:solidFill>
                  <a:srgbClr val="202020"/>
                </a:solidFill>
                <a:latin typeface="Courier New"/>
              </a:rPr>
              <a:t>    Un[outlet] += -(Q_other + Q_out) / np.sum(L[outlet])     # uniform shift</a:t>
            </a:r>
          </a:p>
          <a:p>
            <a:pPr algn="l"/>
            <a:r>
              <a:rPr sz="1000">
                <a:solidFill>
                  <a:srgbClr val="202020"/>
                </a:solidFill>
                <a:latin typeface="Courier New"/>
              </a:rPr>
              <a:t>    return Un</a:t>
            </a:r>
          </a:p>
        </p:txBody>
      </p:sp>
      <p:sp>
        <p:nvSpPr>
          <p:cNvPr id="7" name="Rectangle 6"/>
          <p:cNvSpPr/>
          <p:nvPr/>
        </p:nvSpPr>
        <p:spPr>
          <a:xfrm>
            <a:off x="7772400" y="3017520"/>
            <a:ext cx="4114800" cy="237744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100" b="1">
                <a:solidFill>
                  <a:srgbClr val="B23A2A"/>
                </a:solidFill>
              </a:rPr>
              <a:t>What went wrong before _balance_outlet existed:</a:t>
            </a:r>
          </a:p>
          <a:p>
            <a:r>
              <a:rPr sz="1100" b="1">
                <a:solidFill>
                  <a:srgbClr val="B23A2A"/>
                </a:solidFill>
              </a:rPr>
              <a:t>the run looked fine, but max|div| sat at 1e-2 in the smallest cells. The ~0.1 % mass imbalance of the zero-gradient outlet had nowhere to go and was spread over the whole domain as a constant source.</a:t>
            </a:r>
          </a:p>
          <a:p>
            <a:r>
              <a:rPr sz="1100" b="1">
                <a:solidFill>
                  <a:srgbClr val="B23A2A"/>
                </a:solidFill>
              </a:rPr>
              <a:t/>
            </a:r>
          </a:p>
          <a:p>
            <a:r>
              <a:rPr sz="1100" b="1">
                <a:solidFill>
                  <a:srgbClr val="B23A2A"/>
                </a:solidFill>
              </a:rPr>
              <a:t>With it: 1e-12. Always check Σ rhs = 0 for a Neumann problem.</a:t>
            </a:r>
          </a:p>
        </p:txBody>
      </p:sp>
      <p:sp>
        <p:nvSpPr>
          <p:cNvPr id="8" name="TextBox 7"/>
          <p:cNvSpPr txBox="1"/>
          <p:nvPr/>
        </p:nvSpPr>
        <p:spPr>
          <a:xfrm>
            <a:off x="548640" y="5669280"/>
            <a:ext cx="11064240" cy="731520"/>
          </a:xfrm>
          <a:prstGeom prst="rect">
            <a:avLst/>
          </a:prstGeom>
          <a:noFill/>
        </p:spPr>
        <p:txBody>
          <a:bodyPr wrap="square">
            <a:spAutoFit/>
          </a:bodyPr>
          <a:lstStyle/>
          <a:p>
            <a:r>
              <a:rPr sz="1200" b="0" i="1">
                <a:solidFill>
                  <a:srgbClr val="444444"/>
                </a:solidFill>
              </a:rPr>
              <a:t>Order of application in a step: BCs on U_n → predictor → BCs on U_n* → balance outlet → Poisson → correct → BCs on U_n again (the correction only touches interior faces).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F2  </a:t>
            </a:r>
            <a:r>
              <a:rPr sz="2600" b="1">
                <a:solidFill>
                  <a:srgbClr val="1F3A5F"/>
                </a:solidFill>
              </a:rPr>
              <a:t>Choosing the time step</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29</a:t>
            </a:r>
          </a:p>
        </p:txBody>
      </p:sp>
      <p:pic>
        <p:nvPicPr>
          <p:cNvPr id="5" name="Picture 4" descr="eq_3a6a0502e6.png"/>
          <p:cNvPicPr>
            <a:picLocks noChangeAspect="1"/>
          </p:cNvPicPr>
          <p:nvPr/>
        </p:nvPicPr>
        <p:blipFill>
          <a:blip r:embed="rId2"/>
          <a:stretch>
            <a:fillRect/>
          </a:stretch>
        </p:blipFill>
        <p:spPr>
          <a:xfrm>
            <a:off x="548640" y="1188720"/>
            <a:ext cx="11125635" cy="777240"/>
          </a:xfrm>
          <a:prstGeom prst="rect">
            <a:avLst/>
          </a:prstGeom>
        </p:spPr>
      </p:pic>
      <p:sp>
        <p:nvSpPr>
          <p:cNvPr id="6" name="TextBox 5"/>
          <p:cNvSpPr txBox="1"/>
          <p:nvPr/>
        </p:nvSpPr>
        <p:spPr>
          <a:xfrm>
            <a:off x="548640" y="2103120"/>
            <a:ext cx="6583680" cy="4206240"/>
          </a:xfrm>
          <a:prstGeom prst="rect">
            <a:avLst/>
          </a:prstGeom>
          <a:noFill/>
        </p:spPr>
        <p:txBody>
          <a:bodyPr wrap="square">
            <a:spAutoFit/>
          </a:bodyPr>
          <a:lstStyle/>
          <a:p>
            <a:pPr>
              <a:spcAft>
                <a:spcPts val="500"/>
              </a:spcAft>
            </a:pPr>
            <a:r>
              <a:rPr sz="1200" b="1">
                <a:solidFill>
                  <a:srgbClr val="444444"/>
                </a:solidFill>
              </a:rPr>
              <a:t>• h_min / |u|_max — the CFL (Courant) condition: in one step fluid may not cross more than one cell. Violating it makes explicit convection blow up</a:t>
            </a:r>
          </a:p>
          <a:p>
            <a:pPr>
              <a:spcAft>
                <a:spcPts val="500"/>
              </a:spcAft>
            </a:pPr>
            <a:r>
              <a:rPr sz="1200" b="1">
                <a:solidFill>
                  <a:srgbClr val="444444"/>
                </a:solidFill>
              </a:rPr>
              <a:t>• Re h_min² / 4 = h_min²/(4ν) — the diffusive limit of explicit Euler in 2-D: viscosity may not 'reach' further than one cell per step</a:t>
            </a:r>
          </a:p>
          <a:p>
            <a:pPr>
              <a:spcAft>
                <a:spcPts val="500"/>
              </a:spcAft>
            </a:pPr>
            <a:r>
              <a:rPr sz="1200" b="1">
                <a:solidFill>
                  <a:srgbClr val="444444"/>
                </a:solidFill>
              </a:rPr>
              <a:t>• τ — safety factor for what the two simple limits ignore (their interaction, the nonlinear term, skewed cells). Griebel use 0.5; 0.4 here</a:t>
            </a:r>
          </a:p>
          <a:p>
            <a:pPr>
              <a:spcAft>
                <a:spcPts val="500"/>
              </a:spcAft>
            </a:pPr>
            <a:r>
              <a:rPr sz="1200" b="0">
                <a:solidFill>
                  <a:srgbClr val="444444"/>
                </a:solidFill>
              </a:rPr>
              <a:t>• Both limits are set by the smallest cell, which sits on the cylinder. The far field has 0.12 cells and 'wastes' most of each step — the price of a single global explicit Δt</a:t>
            </a:r>
          </a:p>
          <a:p>
            <a:pPr>
              <a:spcAft>
                <a:spcPts val="500"/>
              </a:spcAft>
            </a:pPr>
            <a:r>
              <a:rPr sz="1200" b="0">
                <a:solidFill>
                  <a:srgbClr val="444444"/>
                </a:solidFill>
              </a:rPr>
              <a:t>• |u|_max ≈ 1.4 after the start, 1.5–1.6 during shedding → Δt stays between 0.0044 and 0.0047: adaptive in name, practically constant</a:t>
            </a:r>
          </a:p>
          <a:p>
            <a:pPr>
              <a:spcAft>
                <a:spcPts val="500"/>
              </a:spcAft>
            </a:pPr>
            <a:r>
              <a:rPr sz="1200" b="0">
                <a:solidFill>
                  <a:srgbClr val="444444"/>
                </a:solidFill>
              </a:rPr>
              <a:t>• Fine mesh: 25,700 steps to t = 120, ≈ 1,000 steps per shedding period. --dt fixes it by hand, --tau changes the margin</a:t>
            </a:r>
          </a:p>
        </p:txBody>
      </p:sp>
      <p:pic>
        <p:nvPicPr>
          <p:cNvPr id="7" name="Picture 6" descr="dt_hist.png"/>
          <p:cNvPicPr>
            <a:picLocks noChangeAspect="1"/>
          </p:cNvPicPr>
          <p:nvPr/>
        </p:nvPicPr>
        <p:blipFill>
          <a:blip r:embed="rId3"/>
          <a:stretch>
            <a:fillRect/>
          </a:stretch>
        </p:blipFill>
        <p:spPr>
          <a:xfrm>
            <a:off x="7315200" y="2103120"/>
            <a:ext cx="4572000" cy="1981200"/>
          </a:xfrm>
          <a:prstGeom prst="rect">
            <a:avLst/>
          </a:prstGeom>
        </p:spPr>
      </p:pic>
      <p:sp>
        <p:nvSpPr>
          <p:cNvPr id="8" name="Rectangle 7"/>
          <p:cNvSpPr/>
          <p:nvPr/>
        </p:nvSpPr>
        <p:spPr>
          <a:xfrm>
            <a:off x="7315200" y="4297680"/>
            <a:ext cx="4572000" cy="91440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def stable_dt():</a:t>
            </a:r>
          </a:p>
          <a:p>
            <a:pPr algn="l"/>
            <a:r>
              <a:rPr sz="1000">
                <a:solidFill>
                  <a:srgbClr val="202020"/>
                </a:solidFill>
                <a:latin typeface="Courier New"/>
              </a:rPr>
              <a:t>    umax = max(np.abs(Un).max(), U_inf)</a:t>
            </a:r>
          </a:p>
          <a:p>
            <a:pPr algn="l"/>
            <a:r>
              <a:rPr sz="1000">
                <a:solidFill>
                  <a:srgbClr val="202020"/>
                </a:solidFill>
                <a:latin typeface="Courier New"/>
              </a:rPr>
              <a:t>    return tau * min(hmin / umax, Re * hmin**2 / 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F3  </a:t>
            </a:r>
            <a:r>
              <a:rPr sz="2600" b="1">
                <a:solidFill>
                  <a:srgbClr val="1F3A5F"/>
                </a:solidFill>
              </a:rPr>
              <a:t>Initial condition, and why a symmetric start never sheds</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30</a:t>
            </a:r>
          </a:p>
        </p:txBody>
      </p:sp>
      <p:sp>
        <p:nvSpPr>
          <p:cNvPr id="5" name="TextBox 4"/>
          <p:cNvSpPr txBox="1"/>
          <p:nvPr/>
        </p:nvSpPr>
        <p:spPr>
          <a:xfrm>
            <a:off x="548640" y="1188720"/>
            <a:ext cx="11064240" cy="2468880"/>
          </a:xfrm>
          <a:prstGeom prst="rect">
            <a:avLst/>
          </a:prstGeom>
          <a:noFill/>
        </p:spPr>
        <p:txBody>
          <a:bodyPr wrap="square">
            <a:spAutoFit/>
          </a:bodyPr>
          <a:lstStyle/>
          <a:p>
            <a:pPr>
              <a:spcAft>
                <a:spcPts val="500"/>
              </a:spcAft>
            </a:pPr>
            <a:r>
              <a:rPr sz="1200" b="0">
                <a:solidFill>
                  <a:srgbClr val="444444"/>
                </a:solidFill>
              </a:rPr>
              <a:t>• Start from u = U∞, v = 0 everywhere (impulsive start) and project once (Parts E/G) so the first step begins divergence-free</a:t>
            </a:r>
          </a:p>
          <a:p>
            <a:pPr>
              <a:spcAft>
                <a:spcPts val="500"/>
              </a:spcAft>
            </a:pPr>
            <a:r>
              <a:rPr sz="1200" b="1">
                <a:solidFill>
                  <a:srgbClr val="444444"/>
                </a:solidFill>
              </a:rPr>
              <a:t>• Problem we hit: the mesh is exactly mirror-symmetric about the cylinder centre-line y = y_c, and so is every operator. A symmetric start therefore stays symmetric forever in exact arithmetic — Cl printed as −0.000 for 120 time units while the wake grew into the long, steady (and unstable) symmetric bubble</a:t>
            </a:r>
          </a:p>
          <a:p>
            <a:pPr>
              <a:spcAft>
                <a:spcPts val="500"/>
              </a:spcAft>
            </a:pPr>
            <a:r>
              <a:rPr sz="1200" b="0">
                <a:solidFill>
                  <a:srgbClr val="444444"/>
                </a:solidFill>
              </a:rPr>
              <a:t>• Round-off eventually breaks the symmetry, but it has to grow by 10¹³ — on our mesh the oscillation only started at tU/D ≈ 120 (left plot)</a:t>
            </a:r>
          </a:p>
          <a:p>
            <a:pPr>
              <a:spcAft>
                <a:spcPts val="500"/>
              </a:spcAft>
            </a:pPr>
            <a:r>
              <a:rPr sz="1200" b="1">
                <a:solidFill>
                  <a:srgbClr val="444444"/>
                </a:solidFill>
              </a:rPr>
              <a:t>• Fix: add a small, localised, non-symmetric kick that the physics will amplify if shedding is real — a transverse velocity bump one diameter behind the cylinder (at x_c + D, y_c), plus a 2-time-unit inlet pulse</a:t>
            </a:r>
          </a:p>
          <a:p>
            <a:pPr>
              <a:spcAft>
                <a:spcPts val="500"/>
              </a:spcAft>
            </a:pPr>
            <a:r>
              <a:rPr sz="1200" b="0">
                <a:solidFill>
                  <a:srgbClr val="444444"/>
                </a:solidFill>
              </a:rPr>
              <a:t>• With it, shedding is established by tU/D ≈ 20–30 (right plot). The seed is washed out within a few time units; both runs end on the same limit cycle (Cl = ±0.75 on that domain). That is the test that the seed only triggered, and did not create, the oscillation</a:t>
            </a:r>
          </a:p>
        </p:txBody>
      </p:sp>
      <p:sp>
        <p:nvSpPr>
          <p:cNvPr id="6" name="Rectangle 5"/>
          <p:cNvSpPr/>
          <p:nvPr/>
        </p:nvSpPr>
        <p:spPr>
          <a:xfrm>
            <a:off x="548640" y="3383280"/>
            <a:ext cx="7680960" cy="77724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r2 = (P[:, 0] - (xc + D))**2 + (P[:, 1] - yc)**2</a:t>
            </a:r>
          </a:p>
          <a:p>
            <a:pPr algn="l"/>
            <a:r>
              <a:rPr sz="1000">
                <a:solidFill>
                  <a:srgbClr val="202020"/>
                </a:solidFill>
                <a:latin typeface="Courier New"/>
              </a:rPr>
              <a:t>v += perturb * U_inf * np.exp(-r2 / 0.5**2)     # perturb = 0.1   (CLI: --perturb, 0 = off)</a:t>
            </a:r>
          </a:p>
          <a:p>
            <a:pPr algn="l"/>
            <a:r>
              <a:rPr sz="1000">
                <a:solidFill>
                  <a:srgbClr val="202020"/>
                </a:solidFill>
                <a:latin typeface="Courier New"/>
              </a:rPr>
              <a:t>v_in(t) = perturb * U_inf * sin(pi * t / 2)  for t &lt; 2</a:t>
            </a:r>
          </a:p>
        </p:txBody>
      </p:sp>
      <p:pic>
        <p:nvPicPr>
          <p:cNvPr id="7" name="Picture 6" descr="forces_noseed_40x10.png"/>
          <p:cNvPicPr>
            <a:picLocks noChangeAspect="1"/>
          </p:cNvPicPr>
          <p:nvPr/>
        </p:nvPicPr>
        <p:blipFill>
          <a:blip r:embed="rId2"/>
          <a:stretch>
            <a:fillRect/>
          </a:stretch>
        </p:blipFill>
        <p:spPr>
          <a:xfrm>
            <a:off x="548640" y="4526280"/>
            <a:ext cx="3067395" cy="1874519"/>
          </a:xfrm>
          <a:prstGeom prst="rect">
            <a:avLst/>
          </a:prstGeom>
        </p:spPr>
      </p:pic>
      <p:pic>
        <p:nvPicPr>
          <p:cNvPr id="8" name="Picture 7" descr="forces_seed_40x10.png"/>
          <p:cNvPicPr>
            <a:picLocks noChangeAspect="1"/>
          </p:cNvPicPr>
          <p:nvPr/>
        </p:nvPicPr>
        <p:blipFill>
          <a:blip r:embed="rId3"/>
          <a:stretch>
            <a:fillRect/>
          </a:stretch>
        </p:blipFill>
        <p:spPr>
          <a:xfrm>
            <a:off x="6309360" y="4526280"/>
            <a:ext cx="3067395" cy="1874519"/>
          </a:xfrm>
          <a:prstGeom prst="rect">
            <a:avLst/>
          </a:prstGeom>
        </p:spPr>
      </p:pic>
      <p:sp>
        <p:nvSpPr>
          <p:cNvPr id="9" name="TextBox 8"/>
          <p:cNvSpPr txBox="1"/>
          <p:nvPr/>
        </p:nvSpPr>
        <p:spPr>
          <a:xfrm>
            <a:off x="548640" y="4251960"/>
            <a:ext cx="5486400" cy="274320"/>
          </a:xfrm>
          <a:prstGeom prst="rect">
            <a:avLst/>
          </a:prstGeom>
          <a:noFill/>
        </p:spPr>
        <p:txBody>
          <a:bodyPr wrap="square">
            <a:spAutoFit/>
          </a:bodyPr>
          <a:lstStyle/>
          <a:p>
            <a:r>
              <a:rPr sz="1100" b="1" i="0">
                <a:solidFill>
                  <a:srgbClr val="444444"/>
                </a:solidFill>
              </a:rPr>
              <a:t>no seed (--perturb 0): onset at t ≈ 120   [earlier 40 D × 10 D domain]</a:t>
            </a:r>
          </a:p>
        </p:txBody>
      </p:sp>
      <p:sp>
        <p:nvSpPr>
          <p:cNvPr id="10" name="TextBox 9"/>
          <p:cNvSpPr txBox="1"/>
          <p:nvPr/>
        </p:nvSpPr>
        <p:spPr>
          <a:xfrm>
            <a:off x="6309360" y="4251960"/>
            <a:ext cx="5486400" cy="274320"/>
          </a:xfrm>
          <a:prstGeom prst="rect">
            <a:avLst/>
          </a:prstGeom>
          <a:noFill/>
        </p:spPr>
        <p:txBody>
          <a:bodyPr wrap="square">
            <a:spAutoFit/>
          </a:bodyPr>
          <a:lstStyle/>
          <a:p>
            <a:r>
              <a:rPr sz="1100" b="1" i="0">
                <a:solidFill>
                  <a:srgbClr val="444444"/>
                </a:solidFill>
              </a:rPr>
              <a:t>seed 0.1: onset at t ≈ 20, same final amplitude   [same domain]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G</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One complete time step</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and the loop around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G1  </a:t>
            </a:r>
            <a:r>
              <a:rPr sz="2600" b="1">
                <a:solidFill>
                  <a:srgbClr val="1F3A5F"/>
                </a:solidFill>
              </a:rPr>
              <a:t>One time step, in order</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32</a:t>
            </a:r>
          </a:p>
        </p:txBody>
      </p:sp>
      <p:pic>
        <p:nvPicPr>
          <p:cNvPr id="5" name="Picture 4" descr="sk_flow.png"/>
          <p:cNvPicPr>
            <a:picLocks noChangeAspect="1"/>
          </p:cNvPicPr>
          <p:nvPr/>
        </p:nvPicPr>
        <p:blipFill>
          <a:blip r:embed="rId2"/>
          <a:stretch>
            <a:fillRect/>
          </a:stretch>
        </p:blipFill>
        <p:spPr>
          <a:xfrm>
            <a:off x="457200" y="1097280"/>
            <a:ext cx="3592707" cy="5303520"/>
          </a:xfrm>
          <a:prstGeom prst="rect">
            <a:avLst/>
          </a:prstGeom>
        </p:spPr>
      </p:pic>
      <p:sp>
        <p:nvSpPr>
          <p:cNvPr id="6" name="TextBox 5"/>
          <p:cNvSpPr txBox="1"/>
          <p:nvPr/>
        </p:nvSpPr>
        <p:spPr>
          <a:xfrm>
            <a:off x="4206240" y="1188720"/>
            <a:ext cx="7680960" cy="4114800"/>
          </a:xfrm>
          <a:prstGeom prst="rect">
            <a:avLst/>
          </a:prstGeom>
          <a:noFill/>
        </p:spPr>
        <p:txBody>
          <a:bodyPr wrap="square">
            <a:spAutoFit/>
          </a:bodyPr>
          <a:lstStyle/>
          <a:p>
            <a:pPr>
              <a:spcAft>
                <a:spcPts val="500"/>
              </a:spcAft>
            </a:pPr>
            <a:r>
              <a:rPr sz="1300" b="1">
                <a:solidFill>
                  <a:srgbClr val="444444"/>
                </a:solidFill>
              </a:rPr>
              <a:t>• 1 Δt** from the CFL/diffusive rule (F2); γ for the donor scheme from the same CFL</a:t>
            </a:r>
          </a:p>
          <a:p>
            <a:pPr>
              <a:spcAft>
                <a:spcPts val="500"/>
              </a:spcAft>
            </a:pPr>
            <a:r>
              <a:rPr sz="1300" b="1">
                <a:solidFill>
                  <a:srgbClr val="444444"/>
                </a:solidFill>
              </a:rPr>
              <a:t>• 2 BCs** on the face flux U_n (F1)</a:t>
            </a:r>
          </a:p>
          <a:p>
            <a:pPr>
              <a:spcAft>
                <a:spcPts val="500"/>
              </a:spcAft>
            </a:pPr>
            <a:r>
              <a:rPr sz="1300" b="1">
                <a:solidFill>
                  <a:srgbClr val="444444"/>
                </a:solidFill>
              </a:rPr>
              <a:t>• 3 Predictor** F = u + Δt(ν∇²u − ∇·(uu)), G likewise (D2–D4): explicit, no pressure</a:t>
            </a:r>
          </a:p>
          <a:p>
            <a:pPr>
              <a:spcAft>
                <a:spcPts val="500"/>
              </a:spcAft>
            </a:pPr>
            <a:r>
              <a:rPr sz="1300" b="1">
                <a:solidFill>
                  <a:srgbClr val="444444"/>
                </a:solidFill>
              </a:rPr>
              <a:t>• 4 Provisional flux** U_n* = F_f n_x + G_f n_y from the face-averaged F, G; impose BCs; balance the outlet</a:t>
            </a:r>
          </a:p>
          <a:p>
            <a:pPr>
              <a:spcAft>
                <a:spcPts val="500"/>
              </a:spcAft>
            </a:pPr>
            <a:r>
              <a:rPr sz="1300" b="1">
                <a:solidFill>
                  <a:srgbClr val="444444"/>
                </a:solidFill>
              </a:rPr>
              <a:t>• 5 Right-hand side** rhs = (V/Δt) div(U_n*), minus its mean</a:t>
            </a:r>
          </a:p>
          <a:p>
            <a:pPr>
              <a:spcAft>
                <a:spcPts val="500"/>
              </a:spcAft>
            </a:pPr>
            <a:r>
              <a:rPr sz="1300" b="1">
                <a:solidFill>
                  <a:srgbClr val="444444"/>
                </a:solidFill>
              </a:rPr>
              <a:t>• 6 Solve** A p = rhs (E3) — the only linear system in the step</a:t>
            </a:r>
          </a:p>
          <a:p>
            <a:pPr>
              <a:spcAft>
                <a:spcPts val="500"/>
              </a:spcAft>
            </a:pPr>
            <a:r>
              <a:rPr sz="1300" b="1">
                <a:solidFill>
                  <a:srgbClr val="444444"/>
                </a:solidFill>
              </a:rPr>
              <a:t>• 7 Correct the faces** U_n = U_n* − Δt (p_N − p_P)/d_PN → div(U_n) = 1e-12</a:t>
            </a:r>
          </a:p>
          <a:p>
            <a:pPr>
              <a:spcAft>
                <a:spcPts val="500"/>
              </a:spcAft>
            </a:pPr>
            <a:r>
              <a:rPr sz="1300" b="1">
                <a:solidFill>
                  <a:srgbClr val="444444"/>
                </a:solidFill>
              </a:rPr>
              <a:t>• 8 Correct the cells** u = F − Δt ∂p/∂x, v = G − Δt ∂p/∂y with the Green–Gauss gradient (D5)</a:t>
            </a:r>
          </a:p>
          <a:p>
            <a:pPr>
              <a:spcAft>
                <a:spcPts val="500"/>
              </a:spcAft>
            </a:pPr>
            <a:r>
              <a:rPr sz="1300" b="1">
                <a:solidFill>
                  <a:srgbClr val="444444"/>
                </a:solidFill>
              </a:rPr>
              <a:t>• 9 Advance** t += Δt; compute Cd, Cl on the cylinder faces; save a frame every N steps</a:t>
            </a:r>
          </a:p>
        </p:txBody>
      </p:sp>
      <p:sp>
        <p:nvSpPr>
          <p:cNvPr id="7" name="Rectangle 6"/>
          <p:cNvSpPr/>
          <p:nvPr/>
        </p:nvSpPr>
        <p:spPr>
          <a:xfrm>
            <a:off x="4206240" y="5212080"/>
            <a:ext cx="7680960" cy="10972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100" b="1">
                <a:solidFill>
                  <a:srgbClr val="B23A2A"/>
                </a:solidFill>
              </a:rPr>
              <a:t>Why faces are corrected with (p_N − p_P)/d_PN and cells with the Green–Gauss gradient: the face formula is the one that appears in the Poisson equation, so it zeroes the divergence exactly. The cell gradient only feeds the next predictor and does not need to be exact.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G2  </a:t>
            </a:r>
            <a:r>
              <a:rPr sz="2600" b="1">
                <a:solidFill>
                  <a:srgbClr val="1F3A5F"/>
                </a:solidFill>
              </a:rPr>
              <a:t>The same step as code (step(), lightly abridged)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33</a:t>
            </a:r>
          </a:p>
        </p:txBody>
      </p:sp>
      <p:sp>
        <p:nvSpPr>
          <p:cNvPr id="5" name="Rectangle 4"/>
          <p:cNvSpPr/>
          <p:nvPr/>
        </p:nvSpPr>
        <p:spPr>
          <a:xfrm>
            <a:off x="548640" y="1188720"/>
            <a:ext cx="11064240" cy="512064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def step(self, dt=None):</a:t>
            </a:r>
          </a:p>
          <a:p>
            <a:pPr algn="l"/>
            <a:r>
              <a:rPr sz="1000">
                <a:solidFill>
                  <a:srgbClr val="202020"/>
                </a:solidFill>
                <a:latin typeface="Courier New"/>
              </a:rPr>
              <a:t>    dt = dt or self.stable_dt()                                   # 1</a:t>
            </a:r>
          </a:p>
          <a:p>
            <a:pPr algn="l"/>
            <a:r>
              <a:rPr sz="1000">
                <a:solidFill>
                  <a:srgbClr val="202020"/>
                </a:solidFill>
                <a:latin typeface="Courier New"/>
              </a:rPr>
              <a:t>    gamma = self._gamma(dt)</a:t>
            </a:r>
          </a:p>
          <a:p>
            <a:pPr algn="l"/>
            <a:r>
              <a:rPr sz="1000">
                <a:solidFill>
                  <a:srgbClr val="202020"/>
                </a:solidFill>
                <a:latin typeface="Courier New"/>
              </a:rPr>
              <a:t>    self.Un = self._enforce_Un_bc(self.Un)                        # 2</a:t>
            </a:r>
          </a:p>
          <a:p>
            <a:pPr algn="l"/>
            <a:r>
              <a:rPr sz="1000">
                <a:solidFill>
                  <a:srgbClr val="202020"/>
                </a:solidFill>
                <a:latin typeface="Courier New"/>
              </a:rPr>
              <a:t> </a:t>
            </a:r>
          </a:p>
          <a:p>
            <a:pPr algn="l"/>
            <a:r>
              <a:rPr sz="1000">
                <a:solidFill>
                  <a:srgbClr val="202020"/>
                </a:solidFill>
                <a:latin typeface="Courier New"/>
              </a:rPr>
              <a:t>    cu, cv = self._convective(self.u, self.v, self.Un, gamma)     # 3  (-div(u u), -div(u v))</a:t>
            </a:r>
          </a:p>
          <a:p>
            <a:pPr algn="l"/>
            <a:r>
              <a:rPr sz="1000">
                <a:solidFill>
                  <a:srgbClr val="202020"/>
                </a:solidFill>
                <a:latin typeface="Courier New"/>
              </a:rPr>
              <a:t>    lu = self._laplacian(self.u, U_inf_dirichlet_u=True)          #    nu lap u</a:t>
            </a:r>
          </a:p>
          <a:p>
            <a:pPr algn="l"/>
            <a:r>
              <a:rPr sz="1000">
                <a:solidFill>
                  <a:srgbClr val="202020"/>
                </a:solidFill>
                <a:latin typeface="Courier New"/>
              </a:rPr>
              <a:t>    lv = self._laplacian(self.v, U_inf_dirichlet_u=False)         #    nu lap v</a:t>
            </a:r>
          </a:p>
          <a:p>
            <a:pPr algn="l"/>
            <a:r>
              <a:rPr sz="1000">
                <a:solidFill>
                  <a:srgbClr val="202020"/>
                </a:solidFill>
                <a:latin typeface="Courier New"/>
              </a:rPr>
              <a:t>    F = self.u + dt * (lu + cu)</a:t>
            </a:r>
          </a:p>
          <a:p>
            <a:pPr algn="l"/>
            <a:r>
              <a:rPr sz="1000">
                <a:solidFill>
                  <a:srgbClr val="202020"/>
                </a:solidFill>
                <a:latin typeface="Courier New"/>
              </a:rPr>
              <a:t>    G = self.v + dt * (lv + cv)</a:t>
            </a:r>
          </a:p>
          <a:p>
            <a:pPr algn="l"/>
            <a:r>
              <a:rPr sz="1000">
                <a:solidFill>
                  <a:srgbClr val="202020"/>
                </a:solidFill>
                <a:latin typeface="Courier New"/>
              </a:rPr>
              <a:t> </a:t>
            </a:r>
          </a:p>
          <a:p>
            <a:pPr algn="l"/>
            <a:r>
              <a:rPr sz="1000">
                <a:solidFill>
                  <a:srgbClr val="202020"/>
                </a:solidFill>
                <a:latin typeface="Courier New"/>
              </a:rPr>
              <a:t>    uf, vf = self._face_velocity_cartesian(F, G, self.Un, gamma=0.0)   # 4</a:t>
            </a:r>
          </a:p>
          <a:p>
            <a:pPr algn="l"/>
            <a:r>
              <a:rPr sz="1000">
                <a:solidFill>
                  <a:srgbClr val="202020"/>
                </a:solidFill>
                <a:latin typeface="Courier New"/>
              </a:rPr>
              <a:t>    Un_star = uf * n[:, 0] + vf * n[:, 1]</a:t>
            </a:r>
          </a:p>
          <a:p>
            <a:pPr algn="l"/>
            <a:r>
              <a:rPr sz="1000">
                <a:solidFill>
                  <a:srgbClr val="202020"/>
                </a:solidFill>
                <a:latin typeface="Courier New"/>
              </a:rPr>
              <a:t>    Un_new = self._project_Un(Un_star, dt)      # BCs, balance outlet, rhs, solve, face correction  (5-7)</a:t>
            </a:r>
          </a:p>
          <a:p>
            <a:pPr algn="l"/>
            <a:r>
              <a:rPr sz="1000">
                <a:solidFill>
                  <a:srgbClr val="202020"/>
                </a:solidFill>
                <a:latin typeface="Courier New"/>
              </a:rPr>
              <a:t>    p = self._p_corr</a:t>
            </a:r>
          </a:p>
          <a:p>
            <a:pPr algn="l"/>
            <a:r>
              <a:rPr sz="1000">
                <a:solidFill>
                  <a:srgbClr val="202020"/>
                </a:solidFill>
                <a:latin typeface="Courier New"/>
              </a:rPr>
              <a:t> </a:t>
            </a:r>
          </a:p>
          <a:p>
            <a:pPr algn="l"/>
            <a:r>
              <a:rPr sz="1000">
                <a:solidFill>
                  <a:srgbClr val="202020"/>
                </a:solidFill>
                <a:latin typeface="Courier New"/>
              </a:rPr>
              <a:t>    gx, gy = self._grad(p)                                        # 8</a:t>
            </a:r>
          </a:p>
          <a:p>
            <a:pPr algn="l"/>
            <a:r>
              <a:rPr sz="1000">
                <a:solidFill>
                  <a:srgbClr val="202020"/>
                </a:solidFill>
                <a:latin typeface="Courier New"/>
              </a:rPr>
              <a:t>    self.u = F - (dt / self.rho) * gx</a:t>
            </a:r>
          </a:p>
          <a:p>
            <a:pPr algn="l"/>
            <a:r>
              <a:rPr sz="1000">
                <a:solidFill>
                  <a:srgbClr val="202020"/>
                </a:solidFill>
                <a:latin typeface="Courier New"/>
              </a:rPr>
              <a:t>    self.v = G - (dt / self.rho) * gy</a:t>
            </a:r>
          </a:p>
          <a:p>
            <a:pPr algn="l"/>
            <a:r>
              <a:rPr sz="1000">
                <a:solidFill>
                  <a:srgbClr val="202020"/>
                </a:solidFill>
                <a:latin typeface="Courier New"/>
              </a:rPr>
              <a:t>    self.p = p                   # the Poisson solution IS the pressure (F, G had none)</a:t>
            </a:r>
          </a:p>
          <a:p>
            <a:pPr algn="l"/>
            <a:r>
              <a:rPr sz="1000">
                <a:solidFill>
                  <a:srgbClr val="202020"/>
                </a:solidFill>
                <a:latin typeface="Courier New"/>
              </a:rPr>
              <a:t>    self.Un = Un_new</a:t>
            </a:r>
          </a:p>
          <a:p>
            <a:pPr algn="l"/>
            <a:r>
              <a:rPr sz="1000">
                <a:solidFill>
                  <a:srgbClr val="202020"/>
                </a:solidFill>
                <a:latin typeface="Courier New"/>
              </a:rPr>
              <a:t>    self.t += dt                                                  # 9</a:t>
            </a:r>
          </a:p>
          <a:p>
            <a:pPr algn="l"/>
            <a:r>
              <a:rPr sz="1000">
                <a:solidFill>
                  <a:srgbClr val="202020"/>
                </a:solidFill>
                <a:latin typeface="Courier New"/>
              </a:rPr>
              <a:t>    Cd, Cl = self.force_coefficients()</a:t>
            </a:r>
          </a:p>
          <a:p>
            <a:pPr algn="l"/>
            <a:r>
              <a:rPr sz="1000">
                <a:solidFill>
                  <a:srgbClr val="202020"/>
                </a:solidFill>
                <a:latin typeface="Courier New"/>
              </a:rPr>
              <a:t>    return dict(t=self.t, dt=dt, gamma=gamma, max_div=abs(self._div(self.Un)).max(),</a:t>
            </a:r>
          </a:p>
          <a:p>
            <a:pPr algn="l"/>
            <a:r>
              <a:rPr sz="1000">
                <a:solidFill>
                  <a:srgbClr val="202020"/>
                </a:solidFill>
                <a:latin typeface="Courier New"/>
              </a:rPr>
              <a:t>                max_u=abs(self.u).max(), Cd=Cd, Cl=Cl)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G3  </a:t>
            </a:r>
            <a:r>
              <a:rPr sz="2600" b="1">
                <a:solidFill>
                  <a:srgbClr val="1F3A5F"/>
                </a:solidFill>
              </a:rPr>
              <a:t>The loop, the forces, and the restart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34</a:t>
            </a:r>
          </a:p>
        </p:txBody>
      </p:sp>
      <p:sp>
        <p:nvSpPr>
          <p:cNvPr id="5" name="Rectangle 4"/>
          <p:cNvSpPr/>
          <p:nvPr/>
        </p:nvSpPr>
        <p:spPr>
          <a:xfrm>
            <a:off x="548640" y="1188720"/>
            <a:ext cx="6949440" cy="256032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solver = GriebelStaggeredNS(S, Re=150, scheme="central", poisson="lu", perturb=0.1)</a:t>
            </a:r>
          </a:p>
          <a:p>
            <a:pPr algn="l"/>
            <a:r>
              <a:rPr sz="1000">
                <a:solidFill>
                  <a:srgbClr val="202020"/>
                </a:solidFill>
                <a:latin typeface="Courier New"/>
              </a:rPr>
              <a:t>hist, k = [], 0</a:t>
            </a:r>
          </a:p>
          <a:p>
            <a:pPr algn="l"/>
            <a:r>
              <a:rPr sz="1000">
                <a:solidFill>
                  <a:srgbClr val="202020"/>
                </a:solidFill>
                <a:latin typeface="Courier New"/>
              </a:rPr>
              <a:t>while solver.t &lt; t_end:</a:t>
            </a:r>
          </a:p>
          <a:p>
            <a:pPr algn="l"/>
            <a:r>
              <a:rPr sz="1000">
                <a:solidFill>
                  <a:srgbClr val="202020"/>
                </a:solidFill>
                <a:latin typeface="Courier New"/>
              </a:rPr>
              <a:t>    k += 1</a:t>
            </a:r>
          </a:p>
          <a:p>
            <a:pPr algn="l"/>
            <a:r>
              <a:rPr sz="1000">
                <a:solidFill>
                  <a:srgbClr val="202020"/>
                </a:solidFill>
                <a:latin typeface="Courier New"/>
              </a:rPr>
              <a:t>    info = solver.step()                        # one step (G2)</a:t>
            </a:r>
          </a:p>
          <a:p>
            <a:pPr algn="l"/>
            <a:r>
              <a:rPr sz="1000">
                <a:solidFill>
                  <a:srgbClr val="202020"/>
                </a:solidFill>
                <a:latin typeface="Courier New"/>
              </a:rPr>
              <a:t>    hist.append(info)                           # t, dt, max_div, max_u, Cd, Cl</a:t>
            </a:r>
          </a:p>
          <a:p>
            <a:pPr algn="l"/>
            <a:r>
              <a:rPr sz="1000">
                <a:solidFill>
                  <a:srgbClr val="202020"/>
                </a:solidFill>
                <a:latin typeface="Courier New"/>
              </a:rPr>
              <a:t>    if k % every == 0:                          # every = 40 with --fine (--frame-every)</a:t>
            </a:r>
          </a:p>
          <a:p>
            <a:pPr algn="l"/>
            <a:r>
              <a:rPr sz="1000">
                <a:solidFill>
                  <a:srgbClr val="202020"/>
                </a:solidFill>
                <a:latin typeface="Courier New"/>
              </a:rPr>
              <a:t>        save_wake_frame(out / f"wake_{k:05d}_t{solver.t:08.4f}.png", solver)</a:t>
            </a:r>
          </a:p>
          <a:p>
            <a:pPr algn="l"/>
            <a:r>
              <a:rPr sz="1000">
                <a:solidFill>
                  <a:srgbClr val="202020"/>
                </a:solidFill>
                <a:latin typeface="Courier New"/>
              </a:rPr>
              <a:t>save_fields(out / "fields_central_fine.npz", solver, hist)   # u, v, p, Un, t + history</a:t>
            </a:r>
          </a:p>
          <a:p>
            <a:pPr algn="l"/>
            <a:r>
              <a:rPr sz="1000">
                <a:solidFill>
                  <a:srgbClr val="202020"/>
                </a:solidFill>
                <a:latin typeface="Courier New"/>
              </a:rPr>
              <a:t>plot_forces(out / "forces_central_fine.png", hist)           # Cd(t), Cl(t), St</a:t>
            </a:r>
          </a:p>
        </p:txBody>
      </p:sp>
      <p:pic>
        <p:nvPicPr>
          <p:cNvPr id="6" name="Picture 5" descr="eq_5de18988b2.png"/>
          <p:cNvPicPr>
            <a:picLocks noChangeAspect="1"/>
          </p:cNvPicPr>
          <p:nvPr/>
        </p:nvPicPr>
        <p:blipFill>
          <a:blip r:embed="rId2"/>
          <a:stretch>
            <a:fillRect/>
          </a:stretch>
        </p:blipFill>
        <p:spPr>
          <a:xfrm>
            <a:off x="548640" y="3931920"/>
            <a:ext cx="5082307" cy="731520"/>
          </a:xfrm>
          <a:prstGeom prst="rect">
            <a:avLst/>
          </a:prstGeom>
        </p:spPr>
      </p:pic>
      <p:sp>
        <p:nvSpPr>
          <p:cNvPr id="7" name="TextBox 6"/>
          <p:cNvSpPr txBox="1"/>
          <p:nvPr/>
        </p:nvSpPr>
        <p:spPr>
          <a:xfrm>
            <a:off x="548640" y="4754880"/>
            <a:ext cx="6949440" cy="1737360"/>
          </a:xfrm>
          <a:prstGeom prst="rect">
            <a:avLst/>
          </a:prstGeom>
          <a:noFill/>
        </p:spPr>
        <p:txBody>
          <a:bodyPr wrap="square">
            <a:spAutoFit/>
          </a:bodyPr>
          <a:lstStyle/>
          <a:p>
            <a:pPr>
              <a:spcAft>
                <a:spcPts val="500"/>
              </a:spcAft>
            </a:pPr>
            <a:r>
              <a:rPr sz="1200" b="0">
                <a:solidFill>
                  <a:srgbClr val="444444"/>
                </a:solidFill>
              </a:rPr>
              <a:t>• Forces on the cylinder = pressure (p_P n L on each cylinder face) + wall shear (viscosity × tangential velocity of the first cell / half its distance). Divide by ½ρU∞²D → Cd (x) and Cl (y)</a:t>
            </a:r>
          </a:p>
          <a:p>
            <a:pPr>
              <a:spcAft>
                <a:spcPts val="500"/>
              </a:spcAft>
            </a:pPr>
            <a:r>
              <a:rPr sz="1200" b="0">
                <a:solidFill>
                  <a:srgbClr val="444444"/>
                </a:solidFill>
              </a:rPr>
              <a:t>• Cl oscillating in time is the signature of shedding; its frequency gives St; Cd oscillates at twice that frequency</a:t>
            </a:r>
          </a:p>
          <a:p>
            <a:pPr>
              <a:spcAft>
                <a:spcPts val="500"/>
              </a:spcAft>
            </a:pPr>
            <a:r>
              <a:rPr sz="1200" b="1">
                <a:solidFill>
                  <a:srgbClr val="444444"/>
                </a:solidFill>
              </a:rPr>
              <a:t>• Restart: fields_*.npz holds u, v, p, U_n, t and the history; --restart continues from it on the same mesh (we ran 0→150, then 150→240)</a:t>
            </a:r>
          </a:p>
        </p:txBody>
      </p:sp>
      <p:sp>
        <p:nvSpPr>
          <p:cNvPr id="8" name="Rectangle 7"/>
          <p:cNvSpPr/>
          <p:nvPr/>
        </p:nvSpPr>
        <p:spPr>
          <a:xfrm>
            <a:off x="7772400" y="1280160"/>
            <a:ext cx="4114800" cy="219456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Numbers on the fine mesh (LU, central):</a:t>
            </a:r>
          </a:p>
          <a:p>
            <a:r>
              <a:rPr sz="1200" b="1">
                <a:solidFill>
                  <a:srgbClr val="B23A2A"/>
                </a:solidFill>
              </a:rPr>
              <a:t>• 12 ms per step</a:t>
            </a:r>
          </a:p>
          <a:p>
            <a:r>
              <a:rPr sz="1200" b="1">
                <a:solidFill>
                  <a:srgbClr val="B23A2A"/>
                </a:solidFill>
              </a:rPr>
              <a:t>• 25,725 steps to t = 120 → 5.6 min</a:t>
            </a:r>
          </a:p>
          <a:p>
            <a:r>
              <a:rPr sz="1200" b="1">
                <a:solidFill>
                  <a:srgbClr val="B23A2A"/>
                </a:solidFill>
              </a:rPr>
              <a:t>• frames ≈ 0.5 s each (266 at --frame-every 100)</a:t>
            </a:r>
          </a:p>
          <a:p>
            <a:r>
              <a:rPr sz="1200" b="1">
                <a:solidFill>
                  <a:srgbClr val="B23A2A"/>
                </a:solidFill>
              </a:rPr>
              <a:t>• run to t = 240 with --restart: +5 min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H</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Running it</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commands, what the console shows, which files appear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H1  </a:t>
            </a:r>
            <a:r>
              <a:rPr sz="2600" b="1">
                <a:solidFill>
                  <a:srgbClr val="1F3A5F"/>
                </a:solidFill>
              </a:rPr>
              <a:t>Commands, from smoke test to shedding</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36</a:t>
            </a:r>
          </a:p>
        </p:txBody>
      </p:sp>
      <p:sp>
        <p:nvSpPr>
          <p:cNvPr id="5" name="Rectangle 4"/>
          <p:cNvSpPr/>
          <p:nvPr/>
        </p:nvSpPr>
        <p:spPr>
          <a:xfrm>
            <a:off x="548640" y="1188720"/>
            <a:ext cx="11064240" cy="402336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100">
                <a:solidFill>
                  <a:srgbClr val="202020"/>
                </a:solidFill>
                <a:latin typeface="Courier New"/>
              </a:rPr>
              <a:t>cd cylinder_re150</a:t>
            </a:r>
          </a:p>
          <a:p>
            <a:pPr algn="l"/>
            <a:r>
              <a:rPr sz="1100">
                <a:solidFill>
                  <a:srgbClr val="202020"/>
                </a:solidFill>
                <a:latin typeface="Courier New"/>
              </a:rPr>
              <a:t> </a:t>
            </a:r>
          </a:p>
          <a:p>
            <a:pPr algn="l"/>
            <a:r>
              <a:rPr sz="1100">
                <a:solidFill>
                  <a:srgbClr val="202020"/>
                </a:solidFill>
                <a:latin typeface="Courier New"/>
              </a:rPr>
              <a:t># 1. smoke test (6,630-cell mesh, 40 time units, ~1 min): is everything wired up?</a:t>
            </a:r>
          </a:p>
          <a:p>
            <a:pPr algn="l"/>
            <a:r>
              <a:rPr sz="1100">
                <a:solidFill>
                  <a:srgbClr val="202020"/>
                </a:solidFill>
                <a:latin typeface="Courier New"/>
              </a:rPr>
              <a:t>python ns_staggered_euler.py --quick --scheme donor --t-end 40 --demo</a:t>
            </a:r>
          </a:p>
          <a:p>
            <a:pPr algn="l"/>
            <a:r>
              <a:rPr sz="1100">
                <a:solidFill>
                  <a:srgbClr val="202020"/>
                </a:solidFill>
                <a:latin typeface="Courier New"/>
              </a:rPr>
              <a:t> </a:t>
            </a:r>
          </a:p>
          <a:p>
            <a:pPr algn="l"/>
            <a:r>
              <a:rPr sz="1100">
                <a:solidFill>
                  <a:srgbClr val="202020"/>
                </a:solidFill>
                <a:latin typeface="Courier New"/>
              </a:rPr>
              <a:t># 2. the real thing: fine mesh, central convection, 120 time units (~6 min + frames)</a:t>
            </a:r>
          </a:p>
          <a:p>
            <a:pPr algn="l"/>
            <a:r>
              <a:rPr sz="1100">
                <a:solidFill>
                  <a:srgbClr val="202020"/>
                </a:solidFill>
                <a:latin typeface="Courier New"/>
              </a:rPr>
              <a:t>python ns_staggered_euler.py --fine --scheme central --demo</a:t>
            </a:r>
          </a:p>
          <a:p>
            <a:pPr algn="l"/>
            <a:r>
              <a:rPr sz="1100">
                <a:solidFill>
                  <a:srgbClr val="202020"/>
                </a:solidFill>
                <a:latin typeface="Courier New"/>
              </a:rPr>
              <a:t>#    -&gt; output_ns/fields_central_fine.npz, plot_central_fine.png, forces_central_fine.png,</a:t>
            </a:r>
          </a:p>
          <a:p>
            <a:pPr algn="l"/>
            <a:r>
              <a:rPr sz="1100">
                <a:solidFill>
                  <a:srgbClr val="202020"/>
                </a:solidFill>
                <a:latin typeface="Courier New"/>
              </a:rPr>
              <a:t>#       wake_*.png, cylinder_wake_central.gif, demo/cylinder_wake_griebel.gif</a:t>
            </a:r>
          </a:p>
          <a:p>
            <a:pPr algn="l"/>
            <a:r>
              <a:rPr sz="1100">
                <a:solidFill>
                  <a:srgbClr val="202020"/>
                </a:solidFill>
                <a:latin typeface="Courier New"/>
              </a:rPr>
              <a:t> </a:t>
            </a:r>
          </a:p>
          <a:p>
            <a:pPr algn="l"/>
            <a:r>
              <a:rPr sz="1100">
                <a:solidFill>
                  <a:srgbClr val="202020"/>
                </a:solidFill>
                <a:latin typeface="Courier New"/>
              </a:rPr>
              <a:t># 3. more time, same mesh (continue from the saved state)</a:t>
            </a:r>
          </a:p>
          <a:p>
            <a:pPr algn="l"/>
            <a:r>
              <a:rPr sz="1100">
                <a:solidFill>
                  <a:srgbClr val="202020"/>
                </a:solidFill>
                <a:latin typeface="Courier New"/>
              </a:rPr>
              <a:t>python ns_staggered_euler.py --fine --scheme central --t-end 240 \</a:t>
            </a:r>
          </a:p>
          <a:p>
            <a:pPr algn="l"/>
            <a:r>
              <a:rPr sz="1100">
                <a:solidFill>
                  <a:srgbClr val="202020"/>
                </a:solidFill>
                <a:latin typeface="Courier New"/>
              </a:rPr>
              <a:t>       --restart output_ns/fields_central_fine.npz --gif-from 220</a:t>
            </a:r>
          </a:p>
          <a:p>
            <a:pPr algn="l"/>
            <a:r>
              <a:rPr sz="1100">
                <a:solidFill>
                  <a:srgbClr val="202020"/>
                </a:solidFill>
                <a:latin typeface="Courier New"/>
              </a:rPr>
              <a:t> </a:t>
            </a:r>
          </a:p>
          <a:p>
            <a:pPr algn="l"/>
            <a:r>
              <a:rPr sz="1100">
                <a:solidFill>
                  <a:srgbClr val="202020"/>
                </a:solidFill>
                <a:latin typeface="Courier New"/>
              </a:rPr>
              <a:t># 4. experiments</a:t>
            </a:r>
          </a:p>
          <a:p>
            <a:pPr algn="l"/>
            <a:r>
              <a:rPr sz="1100">
                <a:solidFill>
                  <a:srgbClr val="202020"/>
                </a:solidFill>
                <a:latin typeface="Courier New"/>
              </a:rPr>
              <a:t>python ns_staggered_euler.py --fine --scheme upwind         # watch the wake stay steady</a:t>
            </a:r>
          </a:p>
          <a:p>
            <a:pPr algn="l"/>
            <a:r>
              <a:rPr sz="1100">
                <a:solidFill>
                  <a:srgbClr val="202020"/>
                </a:solidFill>
                <a:latin typeface="Courier New"/>
              </a:rPr>
              <a:t>python ns_staggered_euler.py --fine --scheme central --perturb 0   # watch Cl stay 0 for 120 units</a:t>
            </a:r>
          </a:p>
          <a:p>
            <a:pPr algn="l"/>
            <a:r>
              <a:rPr sz="1100">
                <a:solidFill>
                  <a:srgbClr val="202020"/>
                </a:solidFill>
                <a:latin typeface="Courier New"/>
              </a:rPr>
              <a:t>python ns_staggered_euler.py --fine --poisson cg --steps 200       # feel the solver cost</a:t>
            </a:r>
          </a:p>
          <a:p>
            <a:pPr algn="l"/>
            <a:r>
              <a:rPr sz="1100">
                <a:solidFill>
                  <a:srgbClr val="202020"/>
                </a:solidFill>
                <a:latin typeface="Courier New"/>
              </a:rPr>
              <a:t>python ns_staggered_euler.py --fine --Re 40 --t-end 60             # below the shedding threshold</a:t>
            </a:r>
          </a:p>
        </p:txBody>
      </p:sp>
      <p:sp>
        <p:nvSpPr>
          <p:cNvPr id="6" name="TextBox 5"/>
          <p:cNvSpPr txBox="1"/>
          <p:nvPr/>
        </p:nvSpPr>
        <p:spPr>
          <a:xfrm>
            <a:off x="548640" y="5394960"/>
            <a:ext cx="11064240" cy="914400"/>
          </a:xfrm>
          <a:prstGeom prst="rect">
            <a:avLst/>
          </a:prstGeom>
          <a:noFill/>
        </p:spPr>
        <p:txBody>
          <a:bodyPr wrap="square">
            <a:spAutoFit/>
          </a:bodyPr>
          <a:lstStyle/>
          <a:p>
            <a:pPr>
              <a:spcAft>
                <a:spcPts val="500"/>
              </a:spcAft>
            </a:pPr>
            <a:r>
              <a:rPr sz="1300" b="0">
                <a:solidFill>
                  <a:srgbClr val="444444"/>
                </a:solidFill>
              </a:rPr>
              <a:t>• Every run prints its settings first (next slide) — check mesh, scheme, Re and poisson before waiting six minutes</a:t>
            </a:r>
          </a:p>
          <a:p>
            <a:pPr>
              <a:spcAft>
                <a:spcPts val="500"/>
              </a:spcAft>
            </a:pPr>
            <a:r>
              <a:rPr sz="1300" b="0">
                <a:solidFill>
                  <a:srgbClr val="444444"/>
                </a:solidFill>
              </a:rPr>
              <a:t>• The mesh is built once per preset and cached in mesh_output/; delete the npz or pass --build-mesh to regenerate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H1b  </a:t>
            </a:r>
            <a:r>
              <a:rPr sz="2600" b="1">
                <a:solidFill>
                  <a:srgbClr val="1F3A5F"/>
                </a:solidFill>
              </a:rPr>
              <a:t>Command-line flags</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37</a:t>
            </a:r>
          </a:p>
        </p:txBody>
      </p:sp>
      <p:graphicFrame>
        <p:nvGraphicFramePr>
          <p:cNvPr id="5" name="Table 4"/>
          <p:cNvGraphicFramePr>
            <a:graphicFrameLocks noGrp="1"/>
          </p:cNvGraphicFramePr>
          <p:nvPr/>
        </p:nvGraphicFramePr>
        <p:xfrm>
          <a:off x="548640" y="1188720"/>
          <a:ext cx="11064240" cy="4114800"/>
        </p:xfrm>
        <a:graphic>
          <a:graphicData uri="http://schemas.openxmlformats.org/drawingml/2006/table">
            <a:tbl>
              <a:tblPr firstRow="1" bandRow="1">
                <a:tableStyleId>{5C22544A-7EE6-4342-B048-85BDC9FD1C3A}</a:tableStyleId>
              </a:tblPr>
              <a:tblGrid>
                <a:gridCol w="3108960"/>
                <a:gridCol w="5394960"/>
                <a:gridCol w="2560320"/>
              </a:tblGrid>
              <a:tr h="274320">
                <a:tc>
                  <a:txBody>
                    <a:bodyPr/>
                    <a:lstStyle/>
                    <a:p>
                      <a:r>
                        <a:rPr sz="1200" b="1"/>
                        <a:t>flag</a:t>
                      </a:r>
                    </a:p>
                  </a:txBody>
                  <a:tcPr marT="27432" marB="27432"/>
                </a:tc>
                <a:tc>
                  <a:txBody>
                    <a:bodyPr/>
                    <a:lstStyle/>
                    <a:p>
                      <a:r>
                        <a:rPr sz="1200" b="1"/>
                        <a:t>meaning</a:t>
                      </a:r>
                    </a:p>
                  </a:txBody>
                  <a:tcPr marT="27432" marB="27432"/>
                </a:tc>
                <a:tc>
                  <a:txBody>
                    <a:bodyPr/>
                    <a:lstStyle/>
                    <a:p>
                      <a:r>
                        <a:rPr sz="1200" b="1"/>
                        <a:t>default</a:t>
                      </a:r>
                    </a:p>
                  </a:txBody>
                  <a:tcPr marT="27432" marB="27432"/>
                </a:tc>
              </a:tr>
              <a:tr h="274320">
                <a:tc>
                  <a:txBody>
                    <a:bodyPr/>
                    <a:lstStyle/>
                    <a:p>
                      <a:r>
                        <a:rPr sz="1200" b="0"/>
                        <a:t>--quick / --fine</a:t>
                      </a:r>
                    </a:p>
                  </a:txBody>
                  <a:tcPr marT="27432" marB="27432"/>
                </a:tc>
                <a:tc>
                  <a:txBody>
                    <a:bodyPr/>
                    <a:lstStyle/>
                    <a:p>
                      <a:r>
                        <a:rPr sz="1200" b="0"/>
                        <a:t>mesh preset (built on first use with mesh_from_known_sizes, then reused from mesh_output/)</a:t>
                      </a:r>
                    </a:p>
                  </a:txBody>
                  <a:tcPr marT="27432" marB="27432"/>
                </a:tc>
                <a:tc>
                  <a:txBody>
                    <a:bodyPr/>
                    <a:lstStyle/>
                    <a:p>
                      <a:r>
                        <a:rPr sz="1200" b="0"/>
                        <a:t>INPUT mesh (d_min 0.006)</a:t>
                      </a:r>
                    </a:p>
                  </a:txBody>
                  <a:tcPr marT="27432" marB="27432"/>
                </a:tc>
              </a:tr>
              <a:tr h="274320">
                <a:tc>
                  <a:txBody>
                    <a:bodyPr/>
                    <a:lstStyle/>
                    <a:p>
                      <a:r>
                        <a:rPr sz="1200" b="0"/>
                        <a:t>--build-mesh / --mesh PATH</a:t>
                      </a:r>
                    </a:p>
                  </a:txBody>
                  <a:tcPr marT="27432" marB="27432"/>
                </a:tc>
                <a:tc>
                  <a:txBody>
                    <a:bodyPr/>
                    <a:lstStyle/>
                    <a:p>
                      <a:r>
                        <a:rPr sz="1200" b="0"/>
                        <a:t>force a rebuild / use another staggered_*.npz</a:t>
                      </a:r>
                    </a:p>
                  </a:txBody>
                  <a:tcPr marT="27432" marB="27432"/>
                </a:tc>
                <a:tc>
                  <a:txBody>
                    <a:bodyPr/>
                    <a:lstStyle/>
                    <a:p>
                      <a:r>
                        <a:rPr sz="1200" b="0"/>
                        <a:t>—</a:t>
                      </a:r>
                    </a:p>
                  </a:txBody>
                  <a:tcPr marT="27432" marB="27432"/>
                </a:tc>
              </a:tr>
              <a:tr h="274320">
                <a:tc>
                  <a:txBody>
                    <a:bodyPr/>
                    <a:lstStyle/>
                    <a:p>
                      <a:r>
                        <a:rPr sz="1200" b="0"/>
                        <a:t>--scheme</a:t>
                      </a:r>
                    </a:p>
                  </a:txBody>
                  <a:tcPr marT="27432" marB="27432"/>
                </a:tc>
                <a:tc>
                  <a:txBody>
                    <a:bodyPr/>
                    <a:lstStyle/>
                    <a:p>
                      <a:r>
                        <a:rPr sz="1200" b="0"/>
                        <a:t>central | upwind | donor (adaptive γ)</a:t>
                      </a:r>
                    </a:p>
                  </a:txBody>
                  <a:tcPr marT="27432" marB="27432"/>
                </a:tc>
                <a:tc>
                  <a:txBody>
                    <a:bodyPr/>
                    <a:lstStyle/>
                    <a:p>
                      <a:r>
                        <a:rPr sz="1200" b="0"/>
                        <a:t>donor</a:t>
                      </a:r>
                    </a:p>
                  </a:txBody>
                  <a:tcPr marT="27432" marB="27432"/>
                </a:tc>
              </a:tr>
              <a:tr h="274320">
                <a:tc>
                  <a:txBody>
                    <a:bodyPr/>
                    <a:lstStyle/>
                    <a:p>
                      <a:r>
                        <a:rPr sz="1200" b="0"/>
                        <a:t>--t-end / --steps</a:t>
                      </a:r>
                    </a:p>
                  </a:txBody>
                  <a:tcPr marT="27432" marB="27432"/>
                </a:tc>
                <a:tc>
                  <a:txBody>
                    <a:bodyPr/>
                    <a:lstStyle/>
                    <a:p>
                      <a:r>
                        <a:rPr sz="1200" b="0"/>
                        <a:t>stop at physical time / at step count, whichever comes first</a:t>
                      </a:r>
                    </a:p>
                  </a:txBody>
                  <a:tcPr marT="27432" marB="27432"/>
                </a:tc>
                <a:tc>
                  <a:txBody>
                    <a:bodyPr/>
                    <a:lstStyle/>
                    <a:p>
                      <a:r>
                        <a:rPr sz="1200" b="0"/>
                        <a:t>120 / 200000 with --fine</a:t>
                      </a:r>
                    </a:p>
                  </a:txBody>
                  <a:tcPr marT="27432" marB="27432"/>
                </a:tc>
              </a:tr>
              <a:tr h="274320">
                <a:tc>
                  <a:txBody>
                    <a:bodyPr/>
                    <a:lstStyle/>
                    <a:p>
                      <a:r>
                        <a:rPr sz="1200" b="0"/>
                        <a:t>--dt / --tau</a:t>
                      </a:r>
                    </a:p>
                  </a:txBody>
                  <a:tcPr marT="27432" marB="27432"/>
                </a:tc>
                <a:tc>
                  <a:txBody>
                    <a:bodyPr/>
                    <a:lstStyle/>
                    <a:p>
                      <a:r>
                        <a:rPr sz="1200" b="0"/>
                        <a:t>fixed time step / safety factor in the adaptive rule</a:t>
                      </a:r>
                    </a:p>
                  </a:txBody>
                  <a:tcPr marT="27432" marB="27432"/>
                </a:tc>
                <a:tc>
                  <a:txBody>
                    <a:bodyPr/>
                    <a:lstStyle/>
                    <a:p>
                      <a:r>
                        <a:rPr sz="1200" b="0"/>
                        <a:t>adaptive / 0.4</a:t>
                      </a:r>
                    </a:p>
                  </a:txBody>
                  <a:tcPr marT="27432" marB="27432"/>
                </a:tc>
              </a:tr>
              <a:tr h="274320">
                <a:tc>
                  <a:txBody>
                    <a:bodyPr/>
                    <a:lstStyle/>
                    <a:p>
                      <a:r>
                        <a:rPr sz="1200" b="0"/>
                        <a:t>--Re / --U-inf</a:t>
                      </a:r>
                    </a:p>
                  </a:txBody>
                  <a:tcPr marT="27432" marB="27432"/>
                </a:tc>
                <a:tc>
                  <a:txBody>
                    <a:bodyPr/>
                    <a:lstStyle/>
                    <a:p>
                      <a:r>
                        <a:rPr sz="1200" b="0"/>
                        <a:t>Reynolds number / inlet speed</a:t>
                      </a:r>
                    </a:p>
                  </a:txBody>
                  <a:tcPr marT="27432" marB="27432"/>
                </a:tc>
                <a:tc>
                  <a:txBody>
                    <a:bodyPr/>
                    <a:lstStyle/>
                    <a:p>
                      <a:r>
                        <a:rPr sz="1200" b="0"/>
                        <a:t>150 / 1</a:t>
                      </a:r>
                    </a:p>
                  </a:txBody>
                  <a:tcPr marT="27432" marB="27432"/>
                </a:tc>
              </a:tr>
              <a:tr h="274320">
                <a:tc>
                  <a:txBody>
                    <a:bodyPr/>
                    <a:lstStyle/>
                    <a:p>
                      <a:r>
                        <a:rPr sz="1200" b="0"/>
                        <a:t>--poisson</a:t>
                      </a:r>
                    </a:p>
                  </a:txBody>
                  <a:tcPr marT="27432" marB="27432"/>
                </a:tc>
                <a:tc>
                  <a:txBody>
                    <a:bodyPr/>
                    <a:lstStyle/>
                    <a:p>
                      <a:r>
                        <a:rPr sz="1200" b="0"/>
                        <a:t>lu | cg | sor</a:t>
                      </a:r>
                    </a:p>
                  </a:txBody>
                  <a:tcPr marT="27432" marB="27432"/>
                </a:tc>
                <a:tc>
                  <a:txBody>
                    <a:bodyPr/>
                    <a:lstStyle/>
                    <a:p>
                      <a:r>
                        <a:rPr sz="1200" b="0"/>
                        <a:t>lu</a:t>
                      </a:r>
                    </a:p>
                  </a:txBody>
                  <a:tcPr marT="27432" marB="27432"/>
                </a:tc>
              </a:tr>
              <a:tr h="274320">
                <a:tc>
                  <a:txBody>
                    <a:bodyPr/>
                    <a:lstStyle/>
                    <a:p>
                      <a:r>
                        <a:rPr sz="1200" b="0"/>
                        <a:t>--perturb</a:t>
                      </a:r>
                    </a:p>
                  </a:txBody>
                  <a:tcPr marT="27432" marB="27432"/>
                </a:tc>
                <a:tc>
                  <a:txBody>
                    <a:bodyPr/>
                    <a:lstStyle/>
                    <a:p>
                      <a:r>
                        <a:rPr sz="1200" b="0"/>
                        <a:t>shedding-trigger amplitude × U∞ (near-wake seed + inlet pulse); 0 = off</a:t>
                      </a:r>
                    </a:p>
                  </a:txBody>
                  <a:tcPr marT="27432" marB="27432"/>
                </a:tc>
                <a:tc>
                  <a:txBody>
                    <a:bodyPr/>
                    <a:lstStyle/>
                    <a:p>
                      <a:r>
                        <a:rPr sz="1200" b="0"/>
                        <a:t>0.1</a:t>
                      </a:r>
                    </a:p>
                  </a:txBody>
                  <a:tcPr marT="27432" marB="27432"/>
                </a:tc>
              </a:tr>
              <a:tr h="274320">
                <a:tc>
                  <a:txBody>
                    <a:bodyPr/>
                    <a:lstStyle/>
                    <a:p>
                      <a:r>
                        <a:rPr sz="1200" b="0"/>
                        <a:t>--frame-every</a:t>
                      </a:r>
                    </a:p>
                  </a:txBody>
                  <a:tcPr marT="27432" marB="27432"/>
                </a:tc>
                <a:tc>
                  <a:txBody>
                    <a:bodyPr/>
                    <a:lstStyle/>
                    <a:p>
                      <a:r>
                        <a:rPr sz="1200" b="0"/>
                        <a:t>save a wake frame every N steps</a:t>
                      </a:r>
                    </a:p>
                  </a:txBody>
                  <a:tcPr marT="27432" marB="27432"/>
                </a:tc>
                <a:tc>
                  <a:txBody>
                    <a:bodyPr/>
                    <a:lstStyle/>
                    <a:p>
                      <a:r>
                        <a:rPr sz="1200" b="0"/>
                        <a:t>40 with --fine (100 used for the long runs here)</a:t>
                      </a:r>
                    </a:p>
                  </a:txBody>
                  <a:tcPr marT="27432" marB="27432"/>
                </a:tc>
              </a:tr>
              <a:tr h="274320">
                <a:tc>
                  <a:txBody>
                    <a:bodyPr/>
                    <a:lstStyle/>
                    <a:p>
                      <a:r>
                        <a:rPr sz="1200" b="0"/>
                        <a:t>--gif-from / --gif-max-frames / --gif-fps</a:t>
                      </a:r>
                    </a:p>
                  </a:txBody>
                  <a:tcPr marT="27432" marB="27432"/>
                </a:tc>
                <a:tc>
                  <a:txBody>
                    <a:bodyPr/>
                    <a:lstStyle/>
                    <a:p>
                      <a:r>
                        <a:rPr sz="1200" b="0"/>
                        <a:t>only frames with t ≥ this go into the GIF / cap / speed</a:t>
                      </a:r>
                    </a:p>
                  </a:txBody>
                  <a:tcPr marT="27432" marB="27432"/>
                </a:tc>
                <a:tc>
                  <a:txBody>
                    <a:bodyPr/>
                    <a:lstStyle/>
                    <a:p>
                      <a:r>
                        <a:rPr sz="1200" b="0"/>
                        <a:t>t_end − ~4 periods / 60 / 8</a:t>
                      </a:r>
                    </a:p>
                  </a:txBody>
                  <a:tcPr marT="27432" marB="27432"/>
                </a:tc>
              </a:tr>
              <a:tr h="274320">
                <a:tc>
                  <a:txBody>
                    <a:bodyPr/>
                    <a:lstStyle/>
                    <a:p>
                      <a:r>
                        <a:rPr sz="1200" b="0"/>
                        <a:t>--no-gif</a:t>
                      </a:r>
                    </a:p>
                  </a:txBody>
                  <a:tcPr marT="27432" marB="27432"/>
                </a:tc>
                <a:tc>
                  <a:txBody>
                    <a:bodyPr/>
                    <a:lstStyle/>
                    <a:p>
                      <a:r>
                        <a:rPr sz="1200" b="0"/>
                        <a:t>skip frames and GIF (fastest)</a:t>
                      </a:r>
                    </a:p>
                  </a:txBody>
                  <a:tcPr marT="27432" marB="27432"/>
                </a:tc>
                <a:tc>
                  <a:txBody>
                    <a:bodyPr/>
                    <a:lstStyle/>
                    <a:p>
                      <a:r>
                        <a:rPr sz="1200" b="0"/>
                        <a:t>off</a:t>
                      </a:r>
                    </a:p>
                  </a:txBody>
                  <a:tcPr marT="27432" marB="27432"/>
                </a:tc>
              </a:tr>
              <a:tr h="274320">
                <a:tc>
                  <a:txBody>
                    <a:bodyPr/>
                    <a:lstStyle/>
                    <a:p>
                      <a:r>
                        <a:rPr sz="1200" b="0"/>
                        <a:t>--restart PATH</a:t>
                      </a:r>
                    </a:p>
                  </a:txBody>
                  <a:tcPr marT="27432" marB="27432"/>
                </a:tc>
                <a:tc>
                  <a:txBody>
                    <a:bodyPr/>
                    <a:lstStyle/>
                    <a:p>
                      <a:r>
                        <a:rPr sz="1200" b="0"/>
                        <a:t>continue from a fields_*.npz of a previous run on the same mesh</a:t>
                      </a:r>
                    </a:p>
                  </a:txBody>
                  <a:tcPr marT="27432" marB="27432"/>
                </a:tc>
                <a:tc>
                  <a:txBody>
                    <a:bodyPr/>
                    <a:lstStyle/>
                    <a:p>
                      <a:r>
                        <a:rPr sz="1200" b="0"/>
                        <a:t>—</a:t>
                      </a:r>
                    </a:p>
                  </a:txBody>
                  <a:tcPr marT="27432" marB="27432"/>
                </a:tc>
              </a:tr>
              <a:tr h="274320">
                <a:tc>
                  <a:txBody>
                    <a:bodyPr/>
                    <a:lstStyle/>
                    <a:p>
                      <a:r>
                        <a:rPr sz="1200" b="0"/>
                        <a:t>--out-dir</a:t>
                      </a:r>
                    </a:p>
                  </a:txBody>
                  <a:tcPr marT="27432" marB="27432"/>
                </a:tc>
                <a:tc>
                  <a:txBody>
                    <a:bodyPr/>
                    <a:lstStyle/>
                    <a:p>
                      <a:r>
                        <a:rPr sz="1200" b="0"/>
                        <a:t>where everything is written</a:t>
                      </a:r>
                    </a:p>
                  </a:txBody>
                  <a:tcPr marT="27432" marB="27432"/>
                </a:tc>
                <a:tc>
                  <a:txBody>
                    <a:bodyPr/>
                    <a:lstStyle/>
                    <a:p>
                      <a:r>
                        <a:rPr sz="1200" b="0"/>
                        <a:t>cylinder_re150/output_ns</a:t>
                      </a:r>
                    </a:p>
                  </a:txBody>
                  <a:tcPr marT="27432" marB="27432"/>
                </a:tc>
              </a:tr>
              <a:tr h="274320">
                <a:tc>
                  <a:txBody>
                    <a:bodyPr/>
                    <a:lstStyle/>
                    <a:p>
                      <a:r>
                        <a:rPr sz="1200" b="0"/>
                        <a:t>--demo</a:t>
                      </a:r>
                    </a:p>
                  </a:txBody>
                  <a:tcPr marT="27432" marB="27432"/>
                </a:tc>
                <a:tc>
                  <a:txBody>
                    <a:bodyPr/>
                    <a:lstStyle/>
                    <a:p>
                      <a:r>
                        <a:rPr sz="1200" b="0"/>
                        <a:t>also copy the GIF and forces plot to cylinder_re150/demo/</a:t>
                      </a:r>
                    </a:p>
                  </a:txBody>
                  <a:tcPr marT="27432" marB="27432"/>
                </a:tc>
                <a:tc>
                  <a:txBody>
                    <a:bodyPr/>
                    <a:lstStyle/>
                    <a:p>
                      <a:r>
                        <a:rPr sz="1200" b="0"/>
                        <a:t>off</a:t>
                      </a:r>
                    </a:p>
                  </a:txBody>
                  <a:tcPr marT="27432" marB="27432"/>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H2  </a:t>
            </a:r>
            <a:r>
              <a:rPr sz="2600" b="1">
                <a:solidFill>
                  <a:srgbClr val="1F3A5F"/>
                </a:solidFill>
              </a:rPr>
              <a:t>What the console shows, and how to read it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38</a:t>
            </a:r>
          </a:p>
        </p:txBody>
      </p:sp>
      <p:sp>
        <p:nvSpPr>
          <p:cNvPr id="5" name="Rectangle 4"/>
          <p:cNvSpPr/>
          <p:nvPr/>
        </p:nvSpPr>
        <p:spPr>
          <a:xfrm>
            <a:off x="548640" y="1188720"/>
            <a:ext cx="11064240" cy="329184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GRIEBEL NS on known-sizes staggered mesh</a:t>
            </a:r>
          </a:p>
          <a:p>
            <a:pPr algn="l"/>
            <a:r>
              <a:rPr sz="1000">
                <a:solidFill>
                  <a:srgbClr val="202020"/>
                </a:solidFill>
                <a:latin typeface="Courier New"/>
              </a:rPr>
              <a:t>mesh     : mesh_output/staggered_fine.npz</a:t>
            </a:r>
          </a:p>
          <a:p>
            <a:pPr algn="l"/>
            <a:r>
              <a:rPr sz="1000">
                <a:solidFill>
                  <a:srgbClr val="202020"/>
                </a:solidFill>
                <a:latin typeface="Courier New"/>
              </a:rPr>
              <a:t>cells    : 26,444   faces: 53,286   hmin=0.01774</a:t>
            </a:r>
          </a:p>
          <a:p>
            <a:pPr algn="l"/>
            <a:r>
              <a:rPr sz="1000">
                <a:solidFill>
                  <a:srgbClr val="202020"/>
                </a:solidFill>
                <a:latin typeface="Courier New"/>
              </a:rPr>
              <a:t>sizing   : d_min=0.015  d_max=0.12  a=2.204</a:t>
            </a:r>
          </a:p>
          <a:p>
            <a:pPr algn="l"/>
            <a:r>
              <a:rPr sz="1000">
                <a:solidFill>
                  <a:srgbClr val="202020"/>
                </a:solidFill>
                <a:latin typeface="Courier New"/>
              </a:rPr>
              <a:t>scheme   : central   Re=150  nu=0.00666667  poisson=lu</a:t>
            </a:r>
          </a:p>
          <a:p>
            <a:pPr algn="l"/>
            <a:r>
              <a:rPr sz="1000">
                <a:solidFill>
                  <a:srgbClr val="202020"/>
                </a:solidFill>
                <a:latin typeface="Courier New"/>
              </a:rPr>
              <a:t>steps    : &lt;=200000  t_end=120</a:t>
            </a:r>
          </a:p>
          <a:p>
            <a:pPr algn="l"/>
            <a:r>
              <a:rPr sz="1000">
                <a:solidFill>
                  <a:srgbClr val="202020"/>
                </a:solidFill>
                <a:latin typeface="Courier New"/>
              </a:rPr>
              <a:t>------------------------------------------------------------------------</a:t>
            </a:r>
          </a:p>
          <a:p>
            <a:pPr algn="l"/>
            <a:r>
              <a:rPr sz="1000">
                <a:solidFill>
                  <a:srgbClr val="202020"/>
                </a:solidFill>
                <a:latin typeface="Courier New"/>
              </a:rPr>
              <a:t>step     1  t=0.0047  dt=0.004719  g=0.000  max|div|=5.3e-12    max|u|=1.87   Cd=320.1  Cl=-6.3</a:t>
            </a:r>
          </a:p>
          <a:p>
            <a:pPr algn="l"/>
            <a:r>
              <a:rPr sz="1000">
                <a:solidFill>
                  <a:srgbClr val="202020"/>
                </a:solidFill>
                <a:latin typeface="Courier New"/>
              </a:rPr>
              <a:t>step  1500  t=6.9399  dt=0.004719  g=0.000  max|div|=4.6e-12    max|u|=1.396  Cd=1.262  Cl=-0.100</a:t>
            </a:r>
          </a:p>
          <a:p>
            <a:pPr algn="l"/>
            <a:r>
              <a:rPr sz="1000">
                <a:solidFill>
                  <a:srgbClr val="202020"/>
                </a:solidFill>
                <a:latin typeface="Courier New"/>
              </a:rPr>
              <a:t>step  5840  t=27.199  dt=0.004438  g=0.000  max|div|=7.9e-12    max|u|=1.600  Cd=1.556  Cl=+0.594</a:t>
            </a:r>
          </a:p>
          <a:p>
            <a:pPr algn="l"/>
            <a:r>
              <a:rPr sz="1000">
                <a:solidFill>
                  <a:srgbClr val="202020"/>
                </a:solidFill>
                <a:latin typeface="Courier New"/>
              </a:rPr>
              <a:t>step 25725  t=120.00  dt=0.004673  g=0.000  max|div|=7.8e-12    max|u|=1.519  Cd=1.533  Cl=+0.066</a:t>
            </a:r>
          </a:p>
          <a:p>
            <a:pPr algn="l"/>
            <a:r>
              <a:rPr sz="1000">
                <a:solidFill>
                  <a:srgbClr val="202020"/>
                </a:solidFill>
                <a:latin typeface="Courier New"/>
              </a:rPr>
              <a:t>------------------------------------------------------------------------</a:t>
            </a:r>
          </a:p>
          <a:p>
            <a:pPr algn="l"/>
            <a:r>
              <a:rPr sz="1000">
                <a:solidFill>
                  <a:srgbClr val="202020"/>
                </a:solidFill>
                <a:latin typeface="Courier New"/>
              </a:rPr>
              <a:t>done in 335.1s  (13.0 ms/step)  t=120.005</a:t>
            </a:r>
          </a:p>
          <a:p>
            <a:pPr algn="l"/>
            <a:r>
              <a:rPr sz="1000">
                <a:solidFill>
                  <a:srgbClr val="202020"/>
                </a:solidFill>
                <a:latin typeface="Courier New"/>
              </a:rPr>
              <a:t>forces   : Cd_mean=1.564  Cl_amp=0.712  St=0.207 (ref ~0.18)</a:t>
            </a:r>
          </a:p>
          <a:p>
            <a:pPr algn="l"/>
            <a:r>
              <a:rPr sz="1000">
                <a:solidFill>
                  <a:srgbClr val="202020"/>
                </a:solidFill>
                <a:latin typeface="Courier New"/>
              </a:rPr>
              <a:t>wrote output_ns/cylinder_wake_central.gif  (44 of 44 frames, 5.6 MB)</a:t>
            </a:r>
          </a:p>
        </p:txBody>
      </p:sp>
      <p:graphicFrame>
        <p:nvGraphicFramePr>
          <p:cNvPr id="6" name="Table 5"/>
          <p:cNvGraphicFramePr>
            <a:graphicFrameLocks noGrp="1"/>
          </p:cNvGraphicFramePr>
          <p:nvPr/>
        </p:nvGraphicFramePr>
        <p:xfrm>
          <a:off x="548640" y="4572000"/>
          <a:ext cx="11064240" cy="1645920"/>
        </p:xfrm>
        <a:graphic>
          <a:graphicData uri="http://schemas.openxmlformats.org/drawingml/2006/table">
            <a:tbl>
              <a:tblPr firstRow="1" bandRow="1">
                <a:tableStyleId>{5C22544A-7EE6-4342-B048-85BDC9FD1C3A}</a:tableStyleId>
              </a:tblPr>
              <a:tblGrid>
                <a:gridCol w="1371600"/>
                <a:gridCol w="5486400"/>
                <a:gridCol w="4206240"/>
              </a:tblGrid>
              <a:tr h="274320">
                <a:tc>
                  <a:txBody>
                    <a:bodyPr/>
                    <a:lstStyle/>
                    <a:p>
                      <a:r>
                        <a:rPr sz="1000" b="1"/>
                        <a:t>column</a:t>
                      </a:r>
                    </a:p>
                  </a:txBody>
                  <a:tcPr marT="27432" marB="27432"/>
                </a:tc>
                <a:tc>
                  <a:txBody>
                    <a:bodyPr/>
                    <a:lstStyle/>
                    <a:p>
                      <a:r>
                        <a:rPr sz="1000" b="1"/>
                        <a:t>what it tells you</a:t>
                      </a:r>
                    </a:p>
                  </a:txBody>
                  <a:tcPr marT="27432" marB="27432"/>
                </a:tc>
                <a:tc>
                  <a:txBody>
                    <a:bodyPr/>
                    <a:lstStyle/>
                    <a:p>
                      <a:r>
                        <a:rPr sz="1000" b="1"/>
                        <a:t>healthy value</a:t>
                      </a:r>
                    </a:p>
                  </a:txBody>
                  <a:tcPr marT="27432" marB="27432"/>
                </a:tc>
              </a:tr>
              <a:tr h="274320">
                <a:tc>
                  <a:txBody>
                    <a:bodyPr/>
                    <a:lstStyle/>
                    <a:p>
                      <a:r>
                        <a:rPr sz="1000" b="0"/>
                        <a:t>dt</a:t>
                      </a:r>
                    </a:p>
                  </a:txBody>
                  <a:tcPr marT="27432" marB="27432"/>
                </a:tc>
                <a:tc>
                  <a:txBody>
                    <a:bodyPr/>
                    <a:lstStyle/>
                    <a:p>
                      <a:r>
                        <a:rPr sz="1000" b="0"/>
                        <a:t>the adaptive step (F2)</a:t>
                      </a:r>
                    </a:p>
                  </a:txBody>
                  <a:tcPr marT="27432" marB="27432"/>
                </a:tc>
                <a:tc>
                  <a:txBody>
                    <a:bodyPr/>
                    <a:lstStyle/>
                    <a:p>
                      <a:r>
                        <a:rPr sz="1000" b="0"/>
                        <a:t>0.0045–0.0047 after the start</a:t>
                      </a:r>
                    </a:p>
                  </a:txBody>
                  <a:tcPr marT="27432" marB="27432"/>
                </a:tc>
              </a:tr>
              <a:tr h="274320">
                <a:tc>
                  <a:txBody>
                    <a:bodyPr/>
                    <a:lstStyle/>
                    <a:p>
                      <a:r>
                        <a:rPr sz="1000" b="0"/>
                        <a:t>g (γ)</a:t>
                      </a:r>
                    </a:p>
                  </a:txBody>
                  <a:tcPr marT="27432" marB="27432"/>
                </a:tc>
                <a:tc>
                  <a:txBody>
                    <a:bodyPr/>
                    <a:lstStyle/>
                    <a:p>
                      <a:r>
                        <a:rPr sz="1000" b="0"/>
                        <a:t>upwind blend: 0 for central, 1 for upwind, CFL for donor</a:t>
                      </a:r>
                    </a:p>
                  </a:txBody>
                  <a:tcPr marT="27432" marB="27432"/>
                </a:tc>
                <a:tc>
                  <a:txBody>
                    <a:bodyPr/>
                    <a:lstStyle/>
                    <a:p>
                      <a:r>
                        <a:rPr sz="1000" b="0"/>
                        <a:t>as chosen</a:t>
                      </a:r>
                    </a:p>
                  </a:txBody>
                  <a:tcPr marT="27432" marB="27432"/>
                </a:tc>
              </a:tr>
              <a:tr h="274320">
                <a:tc>
                  <a:txBody>
                    <a:bodyPr/>
                    <a:lstStyle/>
                    <a:p>
                      <a:r>
                        <a:rPr sz="1000" b="0"/>
                        <a:t>max|div|</a:t>
                      </a:r>
                    </a:p>
                  </a:txBody>
                  <a:tcPr marT="27432" marB="27432"/>
                </a:tc>
                <a:tc>
                  <a:txBody>
                    <a:bodyPr/>
                    <a:lstStyle/>
                    <a:p>
                      <a:r>
                        <a:rPr sz="1000" b="0"/>
                        <a:t>largest cell divergence after the projection — THE correctness check</a:t>
                      </a:r>
                    </a:p>
                  </a:txBody>
                  <a:tcPr marT="27432" marB="27432"/>
                </a:tc>
                <a:tc>
                  <a:txBody>
                    <a:bodyPr/>
                    <a:lstStyle/>
                    <a:p>
                      <a:r>
                        <a:rPr sz="1000" b="0"/>
                        <a:t>~1e-11 (lu); 1e-8 (cg)</a:t>
                      </a:r>
                    </a:p>
                  </a:txBody>
                  <a:tcPr marT="27432" marB="27432"/>
                </a:tc>
              </a:tr>
              <a:tr h="274320">
                <a:tc>
                  <a:txBody>
                    <a:bodyPr/>
                    <a:lstStyle/>
                    <a:p>
                      <a:r>
                        <a:rPr sz="1000" b="0"/>
                        <a:t>max|u|</a:t>
                      </a:r>
                    </a:p>
                  </a:txBody>
                  <a:tcPr marT="27432" marB="27432"/>
                </a:tc>
                <a:tc>
                  <a:txBody>
                    <a:bodyPr/>
                    <a:lstStyle/>
                    <a:p>
                      <a:r>
                        <a:rPr sz="1000" b="0"/>
                        <a:t>fastest fluid anywhere</a:t>
                      </a:r>
                    </a:p>
                  </a:txBody>
                  <a:tcPr marT="27432" marB="27432"/>
                </a:tc>
                <a:tc>
                  <a:txBody>
                    <a:bodyPr/>
                    <a:lstStyle/>
                    <a:p>
                      <a:r>
                        <a:rPr sz="1000" b="0"/>
                        <a:t>≈ 1.4 steady wake, ≈ 1.5–1.6 while shedding; growing without bound = instability</a:t>
                      </a:r>
                    </a:p>
                  </a:txBody>
                  <a:tcPr marT="27432" marB="27432"/>
                </a:tc>
              </a:tr>
              <a:tr h="274320">
                <a:tc>
                  <a:txBody>
                    <a:bodyPr/>
                    <a:lstStyle/>
                    <a:p>
                      <a:r>
                        <a:rPr sz="1000" b="0"/>
                        <a:t>Cd, Cl</a:t>
                      </a:r>
                    </a:p>
                  </a:txBody>
                  <a:tcPr marT="27432" marB="27432"/>
                </a:tc>
                <a:tc>
                  <a:txBody>
                    <a:bodyPr/>
                    <a:lstStyle/>
                    <a:p>
                      <a:r>
                        <a:rPr sz="1000" b="0"/>
                        <a:t>drag and lift coefficients</a:t>
                      </a:r>
                    </a:p>
                  </a:txBody>
                  <a:tcPr marT="27432" marB="27432"/>
                </a:tc>
                <a:tc>
                  <a:txBody>
                    <a:bodyPr/>
                    <a:lstStyle/>
                    <a:p>
                      <a:r>
                        <a:rPr sz="1000" b="0"/>
                        <a:t>huge for a few steps (impulsive start), then Cd ≈ 1.6, Cl oscillating</a:t>
                      </a:r>
                    </a:p>
                  </a:txBody>
                  <a:tcPr marT="27432" marB="27432"/>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H3  </a:t>
            </a:r>
            <a:r>
              <a:rPr sz="2600" b="1">
                <a:solidFill>
                  <a:srgbClr val="1F3A5F"/>
                </a:solidFill>
              </a:rPr>
              <a:t>Files produced</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39</a:t>
            </a:r>
          </a:p>
        </p:txBody>
      </p:sp>
      <p:graphicFrame>
        <p:nvGraphicFramePr>
          <p:cNvPr id="5" name="Table 4"/>
          <p:cNvGraphicFramePr>
            <a:graphicFrameLocks noGrp="1"/>
          </p:cNvGraphicFramePr>
          <p:nvPr/>
        </p:nvGraphicFramePr>
        <p:xfrm>
          <a:off x="548640" y="1188720"/>
          <a:ext cx="11064240" cy="1920240"/>
        </p:xfrm>
        <a:graphic>
          <a:graphicData uri="http://schemas.openxmlformats.org/drawingml/2006/table">
            <a:tbl>
              <a:tblPr firstRow="1" bandRow="1">
                <a:tableStyleId>{5C22544A-7EE6-4342-B048-85BDC9FD1C3A}</a:tableStyleId>
              </a:tblPr>
              <a:tblGrid>
                <a:gridCol w="3108960"/>
                <a:gridCol w="4937760"/>
                <a:gridCol w="3017520"/>
              </a:tblGrid>
              <a:tr h="274320">
                <a:tc>
                  <a:txBody>
                    <a:bodyPr/>
                    <a:lstStyle/>
                    <a:p>
                      <a:r>
                        <a:rPr sz="1100" b="1"/>
                        <a:t>file (output_ns/)</a:t>
                      </a:r>
                    </a:p>
                  </a:txBody>
                  <a:tcPr marT="27432" marB="27432"/>
                </a:tc>
                <a:tc>
                  <a:txBody>
                    <a:bodyPr/>
                    <a:lstStyle/>
                    <a:p>
                      <a:r>
                        <a:rPr sz="1100" b="1"/>
                        <a:t>content</a:t>
                      </a:r>
                    </a:p>
                  </a:txBody>
                  <a:tcPr marT="27432" marB="27432"/>
                </a:tc>
                <a:tc>
                  <a:txBody>
                    <a:bodyPr/>
                    <a:lstStyle/>
                    <a:p>
                      <a:r>
                        <a:rPr sz="1100" b="1"/>
                        <a:t>look at it to…</a:t>
                      </a:r>
                    </a:p>
                  </a:txBody>
                  <a:tcPr marT="27432" marB="27432"/>
                </a:tc>
              </a:tr>
              <a:tr h="274320">
                <a:tc>
                  <a:txBody>
                    <a:bodyPr/>
                    <a:lstStyle/>
                    <a:p>
                      <a:r>
                        <a:rPr sz="1100" b="0"/>
                        <a:t>wake_{step}_t{time}.png</a:t>
                      </a:r>
                    </a:p>
                  </a:txBody>
                  <a:tcPr marT="27432" marB="27432"/>
                </a:tc>
                <a:tc>
                  <a:txBody>
                    <a:bodyPr/>
                    <a:lstStyle/>
                    <a:p>
                      <a:r>
                        <a:rPr sz="1100" b="0"/>
                        <a:t>two panels: 'Vorticity plot' (ω_z) and 'Velocity plot' (|u| with arrows)</a:t>
                      </a:r>
                    </a:p>
                  </a:txBody>
                  <a:tcPr marT="27432" marB="27432"/>
                </a:tc>
                <a:tc>
                  <a:txBody>
                    <a:bodyPr/>
                    <a:lstStyle/>
                    <a:p>
                      <a:r>
                        <a:rPr sz="1100" b="0"/>
                        <a:t>see the flow at one instant</a:t>
                      </a:r>
                    </a:p>
                  </a:txBody>
                  <a:tcPr marT="27432" marB="27432"/>
                </a:tc>
              </a:tr>
              <a:tr h="274320">
                <a:tc>
                  <a:txBody>
                    <a:bodyPr/>
                    <a:lstStyle/>
                    <a:p>
                      <a:r>
                        <a:rPr sz="1100" b="0"/>
                        <a:t>cylinder_wake_central.gif</a:t>
                      </a:r>
                    </a:p>
                  </a:txBody>
                  <a:tcPr marT="27432" marB="27432"/>
                </a:tc>
                <a:tc>
                  <a:txBody>
                    <a:bodyPr/>
                    <a:lstStyle/>
                    <a:p>
                      <a:r>
                        <a:rPr sz="1100" b="0"/>
                        <a:t>the last ~4 shedding periods, looped (≤ 60 frames)</a:t>
                      </a:r>
                    </a:p>
                  </a:txBody>
                  <a:tcPr marT="27432" marB="27432"/>
                </a:tc>
                <a:tc>
                  <a:txBody>
                    <a:bodyPr/>
                    <a:lstStyle/>
                    <a:p>
                      <a:r>
                        <a:rPr sz="1100" b="0"/>
                        <a:t>see the shedding</a:t>
                      </a:r>
                    </a:p>
                  </a:txBody>
                  <a:tcPr marT="27432" marB="27432"/>
                </a:tc>
              </a:tr>
              <a:tr h="274320">
                <a:tc>
                  <a:txBody>
                    <a:bodyPr/>
                    <a:lstStyle/>
                    <a:p>
                      <a:r>
                        <a:rPr sz="1100" b="0"/>
                        <a:t>forces_central_fine.png</a:t>
                      </a:r>
                    </a:p>
                  </a:txBody>
                  <a:tcPr marT="27432" marB="27432"/>
                </a:tc>
                <a:tc>
                  <a:txBody>
                    <a:bodyPr/>
                    <a:lstStyle/>
                    <a:p>
                      <a:r>
                        <a:rPr sz="1100" b="0"/>
                        <a:t>Cd(t), Cl(t), late-time Cd mean, Cl amplitude, St</a:t>
                      </a:r>
                    </a:p>
                  </a:txBody>
                  <a:tcPr marT="27432" marB="27432"/>
                </a:tc>
                <a:tc>
                  <a:txBody>
                    <a:bodyPr/>
                    <a:lstStyle/>
                    <a:p>
                      <a:r>
                        <a:rPr sz="1100" b="0"/>
                        <a:t>measure the result</a:t>
                      </a:r>
                    </a:p>
                  </a:txBody>
                  <a:tcPr marT="27432" marB="27432"/>
                </a:tc>
              </a:tr>
              <a:tr h="274320">
                <a:tc>
                  <a:txBody>
                    <a:bodyPr/>
                    <a:lstStyle/>
                    <a:p>
                      <a:r>
                        <a:rPr sz="1100" b="0"/>
                        <a:t>plot_central_fine.png</a:t>
                      </a:r>
                    </a:p>
                  </a:txBody>
                  <a:tcPr marT="27432" marB="27432"/>
                </a:tc>
                <a:tc>
                  <a:txBody>
                    <a:bodyPr/>
                    <a:lstStyle/>
                    <a:p>
                      <a:r>
                        <a:rPr sz="1100" b="0"/>
                        <a:t>final Velocity plot and max|div|(t) on a log scale</a:t>
                      </a:r>
                    </a:p>
                  </a:txBody>
                  <a:tcPr marT="27432" marB="27432"/>
                </a:tc>
                <a:tc>
                  <a:txBody>
                    <a:bodyPr/>
                    <a:lstStyle/>
                    <a:p>
                      <a:r>
                        <a:rPr sz="1100" b="0"/>
                        <a:t>confirm mass conservation held all run</a:t>
                      </a:r>
                    </a:p>
                  </a:txBody>
                  <a:tcPr marT="27432" marB="27432"/>
                </a:tc>
              </a:tr>
              <a:tr h="274320">
                <a:tc>
                  <a:txBody>
                    <a:bodyPr/>
                    <a:lstStyle/>
                    <a:p>
                      <a:r>
                        <a:rPr sz="1100" b="0"/>
                        <a:t>fields_central_fine.npz</a:t>
                      </a:r>
                    </a:p>
                  </a:txBody>
                  <a:tcPr marT="27432" marB="27432"/>
                </a:tc>
                <a:tc>
                  <a:txBody>
                    <a:bodyPr/>
                    <a:lstStyle/>
                    <a:p>
                      <a:r>
                        <a:rPr sz="1100" b="0"/>
                        <a:t>u, v, p, Un, t, hist_t, hist_Cd, hist_Cl, hist_div, hist_umax</a:t>
                      </a:r>
                    </a:p>
                  </a:txBody>
                  <a:tcPr marT="27432" marB="27432"/>
                </a:tc>
                <a:tc>
                  <a:txBody>
                    <a:bodyPr/>
                    <a:lstStyle/>
                    <a:p>
                      <a:r>
                        <a:rPr sz="1100" b="0"/>
                        <a:t>post-process yourself / --restart</a:t>
                      </a:r>
                    </a:p>
                  </a:txBody>
                  <a:tcPr marT="27432" marB="27432"/>
                </a:tc>
              </a:tr>
              <a:tr h="274320">
                <a:tc>
                  <a:txBody>
                    <a:bodyPr/>
                    <a:lstStyle/>
                    <a:p>
                      <a:r>
                        <a:rPr sz="1100" b="0"/>
                        <a:t>demo/cylinder_wake_griebel.gif (--demo)</a:t>
                      </a:r>
                    </a:p>
                  </a:txBody>
                  <a:tcPr marT="27432" marB="27432"/>
                </a:tc>
                <a:tc>
                  <a:txBody>
                    <a:bodyPr/>
                    <a:lstStyle/>
                    <a:p>
                      <a:r>
                        <a:rPr sz="1100" b="0"/>
                        <a:t>copy of the GIF for the README</a:t>
                      </a:r>
                    </a:p>
                  </a:txBody>
                  <a:tcPr marT="27432" marB="27432"/>
                </a:tc>
                <a:tc>
                  <a:txBody>
                    <a:bodyPr/>
                    <a:lstStyle/>
                    <a:p>
                      <a:r>
                        <a:rPr sz="1100" b="0"/>
                        <a:t>share</a:t>
                      </a:r>
                    </a:p>
                  </a:txBody>
                  <a:tcPr marT="27432" marB="27432"/>
                </a:tc>
              </a:tr>
            </a:tbl>
          </a:graphicData>
        </a:graphic>
      </p:graphicFrame>
      <p:sp>
        <p:nvSpPr>
          <p:cNvPr id="6" name="Rectangle 5"/>
          <p:cNvSpPr/>
          <p:nvPr/>
        </p:nvSpPr>
        <p:spPr>
          <a:xfrm>
            <a:off x="548640" y="3931920"/>
            <a:ext cx="11064240" cy="182880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import numpy as np</a:t>
            </a:r>
          </a:p>
          <a:p>
            <a:pPr algn="l"/>
            <a:r>
              <a:rPr sz="1000">
                <a:solidFill>
                  <a:srgbClr val="202020"/>
                </a:solidFill>
                <a:latin typeface="Courier New"/>
              </a:rPr>
              <a:t>d = np.load("output_ns/fields_central_fine.npz")</a:t>
            </a:r>
          </a:p>
          <a:p>
            <a:pPr algn="l"/>
            <a:r>
              <a:rPr sz="1000">
                <a:solidFill>
                  <a:srgbClr val="202020"/>
                </a:solidFill>
                <a:latin typeface="Courier New"/>
              </a:rPr>
              <a:t>t, Cl = d["hist_t"], d["hist_Cl"]</a:t>
            </a:r>
          </a:p>
          <a:p>
            <a:pPr algn="l"/>
            <a:r>
              <a:rPr sz="1000">
                <a:solidFill>
                  <a:srgbClr val="202020"/>
                </a:solidFill>
                <a:latin typeface="Courier New"/>
              </a:rPr>
              <a:t>late = t &gt; 0.6 * t[-1]</a:t>
            </a:r>
          </a:p>
          <a:p>
            <a:pPr algn="l"/>
            <a:r>
              <a:rPr sz="1000">
                <a:solidFill>
                  <a:srgbClr val="202020"/>
                </a:solidFill>
                <a:latin typeface="Courier New"/>
              </a:rPr>
              <a:t>zc = np.where(np.diff(np.sign(Cl[late] - Cl[late].mean())) &gt; 0)[0]   # upward zero crossings</a:t>
            </a:r>
          </a:p>
          <a:p>
            <a:pPr algn="l"/>
            <a:r>
              <a:rPr sz="1000">
                <a:solidFill>
                  <a:srgbClr val="202020"/>
                </a:solidFill>
                <a:latin typeface="Courier New"/>
              </a:rPr>
              <a:t>St = 1.0 / np.mean(np.diff(t[late][zc]))                             # f D / U with D = U = 1</a:t>
            </a:r>
          </a:p>
          <a:p>
            <a:pPr algn="l"/>
            <a:r>
              <a:rPr sz="1000">
                <a:solidFill>
                  <a:srgbClr val="202020"/>
                </a:solidFill>
                <a:latin typeface="Courier New"/>
              </a:rPr>
              <a:t>print("St =", St, " Cl amp =", 0.5 * np.ptp(Cl[late]), " Cd mean =", d["hist_Cd"][late].mean())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I</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Checking the answer</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three levels: is it consistent, is it converged, is it physical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I1  </a:t>
            </a:r>
            <a:r>
              <a:rPr sz="2600" b="1">
                <a:solidFill>
                  <a:srgbClr val="1F3A5F"/>
                </a:solidFill>
              </a:rPr>
              <a:t>Level 1 — internal consistency checks (do these first)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41</a:t>
            </a:r>
          </a:p>
        </p:txBody>
      </p:sp>
      <p:graphicFrame>
        <p:nvGraphicFramePr>
          <p:cNvPr id="5" name="Table 4"/>
          <p:cNvGraphicFramePr>
            <a:graphicFrameLocks noGrp="1"/>
          </p:cNvGraphicFramePr>
          <p:nvPr/>
        </p:nvGraphicFramePr>
        <p:xfrm>
          <a:off x="548640" y="1188720"/>
          <a:ext cx="11064240" cy="2194560"/>
        </p:xfrm>
        <a:graphic>
          <a:graphicData uri="http://schemas.openxmlformats.org/drawingml/2006/table">
            <a:tbl>
              <a:tblPr firstRow="1" bandRow="1">
                <a:tableStyleId>{5C22544A-7EE6-4342-B048-85BDC9FD1C3A}</a:tableStyleId>
              </a:tblPr>
              <a:tblGrid>
                <a:gridCol w="2377440"/>
                <a:gridCol w="3291840"/>
                <a:gridCol w="2651760"/>
                <a:gridCol w="2743200"/>
              </a:tblGrid>
              <a:tr h="274320">
                <a:tc>
                  <a:txBody>
                    <a:bodyPr/>
                    <a:lstStyle/>
                    <a:p>
                      <a:r>
                        <a:rPr sz="1100" b="1"/>
                        <a:t>check</a:t>
                      </a:r>
                    </a:p>
                  </a:txBody>
                  <a:tcPr marT="27432" marB="27432"/>
                </a:tc>
                <a:tc>
                  <a:txBody>
                    <a:bodyPr/>
                    <a:lstStyle/>
                    <a:p>
                      <a:r>
                        <a:rPr sz="1100" b="1"/>
                        <a:t>how</a:t>
                      </a:r>
                    </a:p>
                  </a:txBody>
                  <a:tcPr marT="27432" marB="27432"/>
                </a:tc>
                <a:tc>
                  <a:txBody>
                    <a:bodyPr/>
                    <a:lstStyle/>
                    <a:p>
                      <a:r>
                        <a:rPr sz="1100" b="1"/>
                        <a:t>expected</a:t>
                      </a:r>
                    </a:p>
                  </a:txBody>
                  <a:tcPr marT="27432" marB="27432"/>
                </a:tc>
                <a:tc>
                  <a:txBody>
                    <a:bodyPr/>
                    <a:lstStyle/>
                    <a:p>
                      <a:r>
                        <a:rPr sz="1100" b="1"/>
                        <a:t>if not</a:t>
                      </a:r>
                    </a:p>
                  </a:txBody>
                  <a:tcPr marT="27432" marB="27432"/>
                </a:tc>
              </a:tr>
              <a:tr h="274320">
                <a:tc>
                  <a:txBody>
                    <a:bodyPr/>
                    <a:lstStyle/>
                    <a:p>
                      <a:r>
                        <a:rPr sz="1100" b="0"/>
                        <a:t>mesh is valid</a:t>
                      </a:r>
                    </a:p>
                  </a:txBody>
                  <a:tcPr marT="27432" marB="27432"/>
                </a:tc>
                <a:tc>
                  <a:txBody>
                    <a:bodyPr/>
                    <a:lstStyle/>
                    <a:p>
                      <a:r>
                        <a:rPr sz="1100" b="0"/>
                        <a:t>mesher [PASS] lines</a:t>
                      </a:r>
                    </a:p>
                  </a:txBody>
                  <a:tcPr marT="27432" marB="27432"/>
                </a:tc>
                <a:tc>
                  <a:txBody>
                    <a:bodyPr/>
                    <a:lstStyle/>
                    <a:p>
                      <a:r>
                        <a:rPr sz="1100" b="0"/>
                        <a:t>no inverted cells, 0 unclassified edges</a:t>
                      </a:r>
                    </a:p>
                  </a:txBody>
                  <a:tcPr marT="27432" marB="27432"/>
                </a:tc>
                <a:tc>
                  <a:txBody>
                    <a:bodyPr/>
                    <a:lstStyle/>
                    <a:p>
                      <a:r>
                        <a:rPr sz="1100" b="0"/>
                        <a:t>increase a / max_jump, reduce d_max</a:t>
                      </a:r>
                    </a:p>
                  </a:txBody>
                  <a:tcPr marT="27432" marB="27432"/>
                </a:tc>
              </a:tr>
              <a:tr h="274320">
                <a:tc>
                  <a:txBody>
                    <a:bodyPr/>
                    <a:lstStyle/>
                    <a:p>
                      <a:r>
                        <a:rPr sz="1100" b="0"/>
                        <a:t>cell areas</a:t>
                      </a:r>
                    </a:p>
                  </a:txBody>
                  <a:tcPr marT="27432" marB="27432"/>
                </a:tc>
                <a:tc>
                  <a:txBody>
                    <a:bodyPr/>
                    <a:lstStyle/>
                    <a:p>
                      <a:r>
                        <a:rPr sz="1100" b="0"/>
                        <a:t>vol.sum() vs 24·12 − π/4 = 287.21</a:t>
                      </a:r>
                    </a:p>
                  </a:txBody>
                  <a:tcPr marT="27432" marB="27432"/>
                </a:tc>
                <a:tc>
                  <a:txBody>
                    <a:bodyPr/>
                    <a:lstStyle/>
                    <a:p>
                      <a:r>
                        <a:rPr sz="1100" b="0"/>
                        <a:t>equal to 1e-10</a:t>
                      </a:r>
                    </a:p>
                  </a:txBody>
                  <a:tcPr marT="27432" marB="27432"/>
                </a:tc>
                <a:tc>
                  <a:txBody>
                    <a:bodyPr/>
                    <a:lstStyle/>
                    <a:p>
                      <a:r>
                        <a:rPr sz="1100" b="0"/>
                        <a:t>owner/neighbour or normal orientation wrong</a:t>
                      </a:r>
                    </a:p>
                  </a:txBody>
                  <a:tcPr marT="27432" marB="27432"/>
                </a:tc>
              </a:tr>
              <a:tr h="274320">
                <a:tc>
                  <a:txBody>
                    <a:bodyPr/>
                    <a:lstStyle/>
                    <a:p>
                      <a:r>
                        <a:rPr sz="1100" b="0"/>
                        <a:t>A is symmetric &amp; singular</a:t>
                      </a:r>
                    </a:p>
                  </a:txBody>
                  <a:tcPr marT="27432" marB="27432"/>
                </a:tc>
                <a:tc>
                  <a:txBody>
                    <a:bodyPr/>
                    <a:lstStyle/>
                    <a:p>
                      <a:r>
                        <a:rPr sz="1100" b="0"/>
                        <a:t>abs(A − A.T).max(), A @ ones</a:t>
                      </a:r>
                    </a:p>
                  </a:txBody>
                  <a:tcPr marT="27432" marB="27432"/>
                </a:tc>
                <a:tc>
                  <a:txBody>
                    <a:bodyPr/>
                    <a:lstStyle/>
                    <a:p>
                      <a:r>
                        <a:rPr sz="1100" b="0"/>
                        <a:t>0, 0</a:t>
                      </a:r>
                    </a:p>
                  </a:txBody>
                  <a:tcPr marT="27432" marB="27432"/>
                </a:tc>
                <a:tc>
                  <a:txBody>
                    <a:bodyPr/>
                    <a:lstStyle/>
                    <a:p>
                      <a:r>
                        <a:rPr sz="1100" b="0"/>
                        <a:t>assembly sign error</a:t>
                      </a:r>
                    </a:p>
                  </a:txBody>
                  <a:tcPr marT="27432" marB="27432"/>
                </a:tc>
              </a:tr>
              <a:tr h="274320">
                <a:tc>
                  <a:txBody>
                    <a:bodyPr/>
                    <a:lstStyle/>
                    <a:p>
                      <a:r>
                        <a:rPr sz="1100" b="0"/>
                        <a:t>uniform flow is preserved</a:t>
                      </a:r>
                    </a:p>
                  </a:txBody>
                  <a:tcPr marT="27432" marB="27432"/>
                </a:tc>
                <a:tc>
                  <a:txBody>
                    <a:bodyPr/>
                    <a:lstStyle/>
                    <a:p>
                      <a:r>
                        <a:rPr sz="1100" b="0"/>
                        <a:t>run with no cylinder forces: u stays U∞</a:t>
                      </a:r>
                    </a:p>
                  </a:txBody>
                  <a:tcPr marT="27432" marB="27432"/>
                </a:tc>
                <a:tc>
                  <a:txBody>
                    <a:bodyPr/>
                    <a:lstStyle/>
                    <a:p>
                      <a:r>
                        <a:rPr sz="1100" b="0"/>
                        <a:t>exactly</a:t>
                      </a:r>
                    </a:p>
                  </a:txBody>
                  <a:tcPr marT="27432" marB="27432"/>
                </a:tc>
                <a:tc>
                  <a:txBody>
                    <a:bodyPr/>
                    <a:lstStyle/>
                    <a:p>
                      <a:r>
                        <a:rPr sz="1100" b="0"/>
                        <a:t>BC or flux error</a:t>
                      </a:r>
                    </a:p>
                  </a:txBody>
                  <a:tcPr marT="27432" marB="27432"/>
                </a:tc>
              </a:tr>
              <a:tr h="274320">
                <a:tc>
                  <a:txBody>
                    <a:bodyPr/>
                    <a:lstStyle/>
                    <a:p>
                      <a:r>
                        <a:rPr sz="1100" b="0"/>
                        <a:t>mass conservation</a:t>
                      </a:r>
                    </a:p>
                  </a:txBody>
                  <a:tcPr marT="27432" marB="27432"/>
                </a:tc>
                <a:tc>
                  <a:txBody>
                    <a:bodyPr/>
                    <a:lstStyle/>
                    <a:p>
                      <a:r>
                        <a:rPr sz="1100" b="0"/>
                        <a:t>max|div| column</a:t>
                      </a:r>
                    </a:p>
                  </a:txBody>
                  <a:tcPr marT="27432" marB="27432"/>
                </a:tc>
                <a:tc>
                  <a:txBody>
                    <a:bodyPr/>
                    <a:lstStyle/>
                    <a:p>
                      <a:r>
                        <a:rPr sz="1100" b="0"/>
                        <a:t>1e-12 (lu)</a:t>
                      </a:r>
                    </a:p>
                  </a:txBody>
                  <a:tcPr marT="27432" marB="27432"/>
                </a:tc>
                <a:tc>
                  <a:txBody>
                    <a:bodyPr/>
                    <a:lstStyle/>
                    <a:p>
                      <a:r>
                        <a:rPr sz="1100" b="0"/>
                        <a:t>outlet not balanced / solver tolerance</a:t>
                      </a:r>
                    </a:p>
                  </a:txBody>
                  <a:tcPr marT="27432" marB="27432"/>
                </a:tc>
              </a:tr>
              <a:tr h="274320">
                <a:tc>
                  <a:txBody>
                    <a:bodyPr/>
                    <a:lstStyle/>
                    <a:p>
                      <a:r>
                        <a:rPr sz="1100" b="0"/>
                        <a:t>symmetry (perturb 0)</a:t>
                      </a:r>
                    </a:p>
                  </a:txBody>
                  <a:tcPr marT="27432" marB="27432"/>
                </a:tc>
                <a:tc>
                  <a:txBody>
                    <a:bodyPr/>
                    <a:lstStyle/>
                    <a:p>
                      <a:r>
                        <a:rPr sz="1100" b="0"/>
                        <a:t>Cl</a:t>
                      </a:r>
                    </a:p>
                  </a:txBody>
                  <a:tcPr marT="27432" marB="27432"/>
                </a:tc>
                <a:tc>
                  <a:txBody>
                    <a:bodyPr/>
                    <a:lstStyle/>
                    <a:p>
                      <a:r>
                        <a:rPr sz="1100" b="0"/>
                        <a:t>exactly 0</a:t>
                      </a:r>
                    </a:p>
                  </a:txBody>
                  <a:tcPr marT="27432" marB="27432"/>
                </a:tc>
                <a:tc>
                  <a:txBody>
                    <a:bodyPr/>
                    <a:lstStyle/>
                    <a:p>
                      <a:r>
                        <a:rPr sz="1100" b="0"/>
                        <a:t>an operator breaks mirror symmetry</a:t>
                      </a:r>
                    </a:p>
                  </a:txBody>
                  <a:tcPr marT="27432" marB="27432"/>
                </a:tc>
              </a:tr>
              <a:tr h="274320">
                <a:tc>
                  <a:txBody>
                    <a:bodyPr/>
                    <a:lstStyle/>
                    <a:p>
                      <a:r>
                        <a:rPr sz="1100" b="0"/>
                        <a:t>Δt</a:t>
                      </a:r>
                    </a:p>
                  </a:txBody>
                  <a:tcPr marT="27432" marB="27432"/>
                </a:tc>
                <a:tc>
                  <a:txBody>
                    <a:bodyPr/>
                    <a:lstStyle/>
                    <a:p>
                      <a:r>
                        <a:rPr sz="1100" b="0"/>
                        <a:t>dt column vs τ·min(h/u, Re h²/4)</a:t>
                      </a:r>
                    </a:p>
                  </a:txBody>
                  <a:tcPr marT="27432" marB="27432"/>
                </a:tc>
                <a:tc>
                  <a:txBody>
                    <a:bodyPr/>
                    <a:lstStyle/>
                    <a:p>
                      <a:r>
                        <a:rPr sz="1100" b="0"/>
                        <a:t>equal</a:t>
                      </a:r>
                    </a:p>
                  </a:txBody>
                  <a:tcPr marT="27432" marB="27432"/>
                </a:tc>
                <a:tc>
                  <a:txBody>
                    <a:bodyPr/>
                    <a:lstStyle/>
                    <a:p>
                      <a:r>
                        <a:rPr sz="1100" b="0"/>
                        <a:t>—</a:t>
                      </a:r>
                    </a:p>
                  </a:txBody>
                  <a:tcPr marT="27432" marB="27432"/>
                </a:tc>
              </a:tr>
            </a:tbl>
          </a:graphicData>
        </a:graphic>
      </p:graphicFrame>
      <p:sp>
        <p:nvSpPr>
          <p:cNvPr id="6" name="TextBox 5"/>
          <p:cNvSpPr txBox="1"/>
          <p:nvPr/>
        </p:nvSpPr>
        <p:spPr>
          <a:xfrm>
            <a:off x="548640" y="4206240"/>
            <a:ext cx="11064240" cy="1371600"/>
          </a:xfrm>
          <a:prstGeom prst="rect">
            <a:avLst/>
          </a:prstGeom>
          <a:noFill/>
        </p:spPr>
        <p:txBody>
          <a:bodyPr wrap="square">
            <a:spAutoFit/>
          </a:bodyPr>
          <a:lstStyle/>
          <a:p>
            <a:pPr>
              <a:spcAft>
                <a:spcPts val="500"/>
              </a:spcAft>
            </a:pPr>
            <a:r>
              <a:rPr sz="1300" b="0">
                <a:solidFill>
                  <a:srgbClr val="444444"/>
                </a:solidFill>
              </a:rPr>
              <a:t>• These cost nothing and catch 90 % of bugs. All of them were used while writing this solver — two of them (mass conservation, symmetry) found real bugs</a:t>
            </a:r>
          </a:p>
          <a:p>
            <a:pPr>
              <a:spcAft>
                <a:spcPts val="500"/>
              </a:spcAft>
            </a:pPr>
            <a:r>
              <a:rPr sz="1300" b="0">
                <a:solidFill>
                  <a:srgbClr val="444444"/>
                </a:solidFill>
              </a:rPr>
              <a:t>• max|div| is printed every 20 steps precisely so that a broken projection is noticed in the first minute, not after six</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I2  </a:t>
            </a:r>
            <a:r>
              <a:rPr sz="2600" b="1">
                <a:solidFill>
                  <a:srgbClr val="1F3A5F"/>
                </a:solidFill>
              </a:rPr>
              <a:t>Level 2 &amp; 3 — is it converged, is it physical?</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42</a:t>
            </a:r>
          </a:p>
        </p:txBody>
      </p:sp>
      <p:pic>
        <p:nvPicPr>
          <p:cNvPr id="5" name="Picture 4" descr="forces_griebel_fine.png"/>
          <p:cNvPicPr>
            <a:picLocks noChangeAspect="1"/>
          </p:cNvPicPr>
          <p:nvPr/>
        </p:nvPicPr>
        <p:blipFill>
          <a:blip r:embed="rId2"/>
          <a:stretch>
            <a:fillRect/>
          </a:stretch>
        </p:blipFill>
        <p:spPr>
          <a:xfrm>
            <a:off x="548640" y="1188720"/>
            <a:ext cx="5087389" cy="3108960"/>
          </a:xfrm>
          <a:prstGeom prst="rect">
            <a:avLst/>
          </a:prstGeom>
        </p:spPr>
      </p:pic>
      <p:graphicFrame>
        <p:nvGraphicFramePr>
          <p:cNvPr id="6" name="Table 5"/>
          <p:cNvGraphicFramePr>
            <a:graphicFrameLocks noGrp="1"/>
          </p:cNvGraphicFramePr>
          <p:nvPr/>
        </p:nvGraphicFramePr>
        <p:xfrm>
          <a:off x="5760720" y="1280160"/>
          <a:ext cx="6126480" cy="1645920"/>
        </p:xfrm>
        <a:graphic>
          <a:graphicData uri="http://schemas.openxmlformats.org/drawingml/2006/table">
            <a:tbl>
              <a:tblPr firstRow="1" bandRow="1">
                <a:tableStyleId>{5C22544A-7EE6-4342-B048-85BDC9FD1C3A}</a:tableStyleId>
              </a:tblPr>
              <a:tblGrid>
                <a:gridCol w="1371600"/>
                <a:gridCol w="1463040"/>
                <a:gridCol w="1737360"/>
                <a:gridCol w="1554480"/>
              </a:tblGrid>
              <a:tr h="274320">
                <a:tc>
                  <a:txBody>
                    <a:bodyPr/>
                    <a:lstStyle/>
                    <a:p>
                      <a:r>
                        <a:rPr sz="1000" b="1"/>
                        <a:t>quantity</a:t>
                      </a:r>
                    </a:p>
                  </a:txBody>
                  <a:tcPr marT="27432" marB="27432"/>
                </a:tc>
                <a:tc>
                  <a:txBody>
                    <a:bodyPr/>
                    <a:lstStyle/>
                    <a:p>
                      <a:r>
                        <a:rPr sz="1000" b="1"/>
                        <a:t>this run (fine, central)</a:t>
                      </a:r>
                    </a:p>
                  </a:txBody>
                  <a:tcPr marT="27432" marB="27432"/>
                </a:tc>
                <a:tc>
                  <a:txBody>
                    <a:bodyPr/>
                    <a:lstStyle/>
                    <a:p>
                      <a:r>
                        <a:rPr sz="1000" b="1"/>
                        <a:t>literature, unbounded cylinder</a:t>
                      </a:r>
                    </a:p>
                  </a:txBody>
                  <a:tcPr marT="27432" marB="27432"/>
                </a:tc>
                <a:tc>
                  <a:txBody>
                    <a:bodyPr/>
                    <a:lstStyle/>
                    <a:p>
                      <a:r>
                        <a:rPr sz="1000" b="1"/>
                        <a:t>why different</a:t>
                      </a:r>
                    </a:p>
                  </a:txBody>
                  <a:tcPr marT="27432" marB="27432"/>
                </a:tc>
              </a:tr>
              <a:tr h="274320">
                <a:tc>
                  <a:txBody>
                    <a:bodyPr/>
                    <a:lstStyle/>
                    <a:p>
                      <a:r>
                        <a:rPr sz="1000" b="0"/>
                        <a:t>St</a:t>
                      </a:r>
                    </a:p>
                  </a:txBody>
                  <a:tcPr marT="27432" marB="27432"/>
                </a:tc>
                <a:tc>
                  <a:txBody>
                    <a:bodyPr/>
                    <a:lstStyle/>
                    <a:p>
                      <a:r>
                        <a:rPr sz="1000" b="0"/>
                        <a:t>0.207</a:t>
                      </a:r>
                    </a:p>
                  </a:txBody>
                  <a:tcPr marT="27432" marB="27432"/>
                </a:tc>
                <a:tc>
                  <a:txBody>
                    <a:bodyPr/>
                    <a:lstStyle/>
                    <a:p>
                      <a:r>
                        <a:rPr sz="1000" b="0"/>
                        <a:t>0.18 (Williamson 1996)</a:t>
                      </a:r>
                    </a:p>
                  </a:txBody>
                  <a:tcPr marT="27432" marB="27432"/>
                </a:tc>
                <a:tc>
                  <a:txBody>
                    <a:bodyPr/>
                    <a:lstStyle/>
                    <a:p>
                      <a:r>
                        <a:rPr sz="1000" b="0"/>
                        <a:t>8.3 % blockage raises St; 1st-order time</a:t>
                      </a:r>
                    </a:p>
                  </a:txBody>
                  <a:tcPr marT="27432" marB="27432"/>
                </a:tc>
              </a:tr>
              <a:tr h="274320">
                <a:tc>
                  <a:txBody>
                    <a:bodyPr/>
                    <a:lstStyle/>
                    <a:p>
                      <a:r>
                        <a:rPr sz="1000" b="0"/>
                        <a:t>Cd mean</a:t>
                      </a:r>
                    </a:p>
                  </a:txBody>
                  <a:tcPr marT="27432" marB="27432"/>
                </a:tc>
                <a:tc>
                  <a:txBody>
                    <a:bodyPr/>
                    <a:lstStyle/>
                    <a:p>
                      <a:r>
                        <a:rPr sz="1000" b="0"/>
                        <a:t>1.56</a:t>
                      </a:r>
                    </a:p>
                  </a:txBody>
                  <a:tcPr marT="27432" marB="27432"/>
                </a:tc>
                <a:tc>
                  <a:txBody>
                    <a:bodyPr/>
                    <a:lstStyle/>
                    <a:p>
                      <a:r>
                        <a:rPr sz="1000" b="0"/>
                        <a:t>1.33</a:t>
                      </a:r>
                    </a:p>
                  </a:txBody>
                  <a:tcPr marT="27432" marB="27432"/>
                </a:tc>
                <a:tc>
                  <a:txBody>
                    <a:bodyPr/>
                    <a:lstStyle/>
                    <a:p>
                      <a:r>
                        <a:rPr sz="1000" b="0"/>
                        <a:t>blockage (+10–15 %), coarse far field</a:t>
                      </a:r>
                    </a:p>
                  </a:txBody>
                  <a:tcPr marT="27432" marB="27432"/>
                </a:tc>
              </a:tr>
              <a:tr h="274320">
                <a:tc>
                  <a:txBody>
                    <a:bodyPr/>
                    <a:lstStyle/>
                    <a:p>
                      <a:r>
                        <a:rPr sz="1000" b="0"/>
                        <a:t>Cl amplitude</a:t>
                      </a:r>
                    </a:p>
                  </a:txBody>
                  <a:tcPr marT="27432" marB="27432"/>
                </a:tc>
                <a:tc>
                  <a:txBody>
                    <a:bodyPr/>
                    <a:lstStyle/>
                    <a:p>
                      <a:r>
                        <a:rPr sz="1000" b="0"/>
                        <a:t>0.71</a:t>
                      </a:r>
                    </a:p>
                  </a:txBody>
                  <a:tcPr marT="27432" marB="27432"/>
                </a:tc>
                <a:tc>
                  <a:txBody>
                    <a:bodyPr/>
                    <a:lstStyle/>
                    <a:p>
                      <a:r>
                        <a:rPr sz="1000" b="0"/>
                        <a:t>≈ 0.5</a:t>
                      </a:r>
                    </a:p>
                  </a:txBody>
                  <a:tcPr marT="27432" marB="27432"/>
                </a:tc>
                <a:tc>
                  <a:txBody>
                    <a:bodyPr/>
                    <a:lstStyle/>
                    <a:p>
                      <a:r>
                        <a:rPr sz="1000" b="0"/>
                        <a:t>blockage; central scheme on 0.12 cells</a:t>
                      </a:r>
                    </a:p>
                  </a:txBody>
                  <a:tcPr marT="27432" marB="27432"/>
                </a:tc>
              </a:tr>
              <a:tr h="274320">
                <a:tc>
                  <a:txBody>
                    <a:bodyPr/>
                    <a:lstStyle/>
                    <a:p>
                      <a:r>
                        <a:rPr sz="1000" b="0"/>
                        <a:t>Cd oscillation</a:t>
                      </a:r>
                    </a:p>
                  </a:txBody>
                  <a:tcPr marT="27432" marB="27432"/>
                </a:tc>
                <a:tc>
                  <a:txBody>
                    <a:bodyPr/>
                    <a:lstStyle/>
                    <a:p>
                      <a:r>
                        <a:rPr sz="1000" b="0"/>
                        <a:t>2 × lift frequency</a:t>
                      </a:r>
                    </a:p>
                  </a:txBody>
                  <a:tcPr marT="27432" marB="27432"/>
                </a:tc>
                <a:tc>
                  <a:txBody>
                    <a:bodyPr/>
                    <a:lstStyle/>
                    <a:p>
                      <a:r>
                        <a:rPr sz="1000" b="0"/>
                        <a:t>2 × lift frequency</a:t>
                      </a:r>
                    </a:p>
                  </a:txBody>
                  <a:tcPr marT="27432" marB="27432"/>
                </a:tc>
                <a:tc>
                  <a:txBody>
                    <a:bodyPr/>
                    <a:lstStyle/>
                    <a:p>
                      <a:r>
                        <a:rPr sz="1000" b="0"/>
                        <a:t>✓ one vortex from each side per cycle</a:t>
                      </a:r>
                    </a:p>
                  </a:txBody>
                  <a:tcPr marT="27432" marB="27432"/>
                </a:tc>
              </a:tr>
              <a:tr h="274320">
                <a:tc>
                  <a:txBody>
                    <a:bodyPr/>
                    <a:lstStyle/>
                    <a:p>
                      <a:r>
                        <a:rPr sz="1000" b="0"/>
                        <a:t>onset</a:t>
                      </a:r>
                    </a:p>
                  </a:txBody>
                  <a:tcPr marT="27432" marB="27432"/>
                </a:tc>
                <a:tc>
                  <a:txBody>
                    <a:bodyPr/>
                    <a:lstStyle/>
                    <a:p>
                      <a:r>
                        <a:rPr sz="1000" b="0"/>
                        <a:t>Hopf-type exponential growth → limit cycle</a:t>
                      </a:r>
                    </a:p>
                  </a:txBody>
                  <a:tcPr marT="27432" marB="27432"/>
                </a:tc>
                <a:tc>
                  <a:txBody>
                    <a:bodyPr/>
                    <a:lstStyle/>
                    <a:p>
                      <a:r>
                        <a:rPr sz="1000" b="0"/>
                        <a:t>same</a:t>
                      </a:r>
                    </a:p>
                  </a:txBody>
                  <a:tcPr marT="27432" marB="27432"/>
                </a:tc>
                <a:tc>
                  <a:txBody>
                    <a:bodyPr/>
                    <a:lstStyle/>
                    <a:p>
                      <a:r>
                        <a:rPr sz="1000" b="0"/>
                        <a:t>✓</a:t>
                      </a:r>
                    </a:p>
                  </a:txBody>
                  <a:tcPr marT="27432" marB="27432"/>
                </a:tc>
              </a:tr>
            </a:tbl>
          </a:graphicData>
        </a:graphic>
      </p:graphicFrame>
      <p:sp>
        <p:nvSpPr>
          <p:cNvPr id="7" name="TextBox 6"/>
          <p:cNvSpPr txBox="1"/>
          <p:nvPr/>
        </p:nvSpPr>
        <p:spPr>
          <a:xfrm>
            <a:off x="5760720" y="3977639"/>
            <a:ext cx="6126480" cy="2468880"/>
          </a:xfrm>
          <a:prstGeom prst="rect">
            <a:avLst/>
          </a:prstGeom>
          <a:noFill/>
        </p:spPr>
        <p:txBody>
          <a:bodyPr wrap="square">
            <a:spAutoFit/>
          </a:bodyPr>
          <a:lstStyle/>
          <a:p>
            <a:pPr>
              <a:spcAft>
                <a:spcPts val="300"/>
              </a:spcAft>
            </a:pPr>
            <a:r>
              <a:rPr sz="1100" b="1">
                <a:solidFill>
                  <a:srgbClr val="444444"/>
                </a:solidFill>
              </a:rPr>
              <a:t>• Converged in time? Cl amplitude and period constant for the last ~15 cycles → yes (a limit cycle)</a:t>
            </a:r>
          </a:p>
          <a:p>
            <a:pPr>
              <a:spcAft>
                <a:spcPts val="300"/>
              </a:spcAft>
            </a:pPr>
            <a:r>
              <a:rPr sz="1100" b="1">
                <a:solidFill>
                  <a:srgbClr val="444444"/>
                </a:solidFill>
              </a:rPr>
              <a:t>• Converged in space? Not tested here. The honest test is to rerun with d_min = 0.010 and d_max = 0.08 and see St, Cd move by less than a few %. Expect the far-field d_max to matter most for Cd</a:t>
            </a:r>
          </a:p>
          <a:p>
            <a:pPr>
              <a:spcAft>
                <a:spcPts val="300"/>
              </a:spcAft>
            </a:pPr>
            <a:r>
              <a:rPr sz="1100" b="1">
                <a:solidFill>
                  <a:srgbClr val="444444"/>
                </a:solidFill>
              </a:rPr>
              <a:t>• Physical? The qualitative picture (alternating street, St ≈ 0.2, Cd ≈ 1.3–1.6, Cd at 2f) is right; the quantitative gaps are explained by the 12 D channel height and first-order Euler — both deliberate simplifications of the setup, not bugs</a:t>
            </a:r>
          </a:p>
          <a:p>
            <a:pPr>
              <a:spcAft>
                <a:spcPts val="300"/>
              </a:spcAft>
            </a:pPr>
            <a:r>
              <a:rPr sz="1100" b="0">
                <a:solidFill>
                  <a:srgbClr val="444444"/>
                </a:solidFill>
              </a:rPr>
              <a:t>• To compare with the literature properly: widen the channel to 30 D (blockage 3 %) and refine the far field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J</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Making and reading the pictures</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what a frame is, and what it is not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J1  </a:t>
            </a:r>
            <a:r>
              <a:rPr sz="2600" b="1">
                <a:solidFill>
                  <a:srgbClr val="1F3A5F"/>
                </a:solidFill>
              </a:rPr>
              <a:t>How a frame is made — and what it is not</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44</a:t>
            </a:r>
          </a:p>
        </p:txBody>
      </p:sp>
      <p:sp>
        <p:nvSpPr>
          <p:cNvPr id="5" name="Rectangle 4"/>
          <p:cNvSpPr/>
          <p:nvPr/>
        </p:nvSpPr>
        <p:spPr>
          <a:xfrm>
            <a:off x="548640" y="1188720"/>
            <a:ext cx="6583680" cy="2743200"/>
          </a:xfrm>
          <a:prstGeom prst="rect">
            <a:avLst/>
          </a:prstGeom>
          <a:solidFill>
            <a:srgbClr val="F3F4F6"/>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000">
                <a:solidFill>
                  <a:srgbClr val="202020"/>
                </a:solidFill>
                <a:latin typeface="Courier New"/>
              </a:rPr>
              <a:t>def save_wake_frame(path, solver):</a:t>
            </a:r>
          </a:p>
          <a:p>
            <a:pPr algn="l"/>
            <a:r>
              <a:rPr sz="1000">
                <a:solidFill>
                  <a:srgbClr val="202020"/>
                </a:solidFill>
                <a:latin typeface="Courier New"/>
              </a:rPr>
              <a:t>    fig, (ax0, ax1) = plt.subplots(2, 1, figsize=(9.5, 7.6), sharex=True)</a:t>
            </a:r>
          </a:p>
          <a:p>
            <a:pPr algn="l"/>
            <a:r>
              <a:rPr sz="1000">
                <a:solidFill>
                  <a:srgbClr val="202020"/>
                </a:solidFill>
                <a:latin typeface="Courier New"/>
              </a:rPr>
              <a:t>    _draw_vorticity(ax0, solver);  ax0.set_title("Vorticity plot")          # top</a:t>
            </a:r>
          </a:p>
          <a:p>
            <a:pPr algn="l"/>
            <a:r>
              <a:rPr sz="1000">
                <a:solidFill>
                  <a:srgbClr val="202020"/>
                </a:solidFill>
                <a:latin typeface="Courier New"/>
              </a:rPr>
              <a:t>    _draw_velocity(ax1, solver, vmax=1.6);  ax1.set_title("Velocity plot")  # bottom: |u|</a:t>
            </a:r>
          </a:p>
          <a:p>
            <a:pPr algn="l"/>
            <a:r>
              <a:rPr sz="1000">
                <a:solidFill>
                  <a:srgbClr val="202020"/>
                </a:solidFill>
                <a:latin typeface="Courier New"/>
              </a:rPr>
              <a:t>    ...</a:t>
            </a:r>
          </a:p>
          <a:p>
            <a:pPr algn="l"/>
            <a:r>
              <a:rPr sz="1000">
                <a:solidFill>
                  <a:srgbClr val="202020"/>
                </a:solidFill>
                <a:latin typeface="Courier New"/>
              </a:rPr>
              <a:t>def _draw_field(ax, solver, field, vlim, quiver=True):</a:t>
            </a:r>
          </a:p>
          <a:p>
            <a:pPr algn="l"/>
            <a:r>
              <a:rPr sz="1000">
                <a:solidFill>
                  <a:srgbClr val="202020"/>
                </a:solidFill>
                <a:latin typeface="Courier New"/>
              </a:rPr>
              <a:t>    coll = PolyCollection(S["quads"], array=field, cmap="RdBu_r")  # one colour per CELL</a:t>
            </a:r>
          </a:p>
          <a:p>
            <a:pPr algn="l"/>
            <a:r>
              <a:rPr sz="1000">
                <a:solidFill>
                  <a:srgbClr val="202020"/>
                </a:solidFill>
                <a:latin typeface="Courier New"/>
              </a:rPr>
              <a:t>    coll.set_clim(-vlim, vlim); ax.add_collection(coll)</a:t>
            </a:r>
          </a:p>
          <a:p>
            <a:pPr algn="l"/>
            <a:r>
              <a:rPr sz="1000">
                <a:solidFill>
                  <a:srgbClr val="202020"/>
                </a:solidFill>
                <a:latin typeface="Courier New"/>
              </a:rPr>
              <a:t>    if quiver:</a:t>
            </a:r>
          </a:p>
          <a:p>
            <a:pPr algn="l"/>
            <a:r>
              <a:rPr sz="1000">
                <a:solidFill>
                  <a:srgbClr val="202020"/>
                </a:solidFill>
                <a:latin typeface="Courier New"/>
              </a:rPr>
              <a:t>        idx = np.arange(0, Nc, Nc // 400)                 # ~400 sampled cells</a:t>
            </a:r>
          </a:p>
          <a:p>
            <a:pPr algn="l"/>
            <a:r>
              <a:rPr sz="1000">
                <a:solidFill>
                  <a:srgbClr val="202020"/>
                </a:solidFill>
                <a:latin typeface="Courier New"/>
              </a:rPr>
              <a:t>        ax.quiver(P[idx, 0], P[idx, 1],</a:t>
            </a:r>
          </a:p>
          <a:p>
            <a:pPr algn="l"/>
            <a:r>
              <a:rPr sz="1000">
                <a:solidFill>
                  <a:srgbClr val="202020"/>
                </a:solidFill>
                <a:latin typeface="Courier New"/>
              </a:rPr>
              <a:t>                  solver.u[idx], solver.v[idx])           # the velocity VECTOR there</a:t>
            </a:r>
          </a:p>
        </p:txBody>
      </p:sp>
      <p:sp>
        <p:nvSpPr>
          <p:cNvPr id="6" name="TextBox 5"/>
          <p:cNvSpPr txBox="1"/>
          <p:nvPr/>
        </p:nvSpPr>
        <p:spPr>
          <a:xfrm>
            <a:off x="548640" y="4023360"/>
            <a:ext cx="6583680" cy="2377440"/>
          </a:xfrm>
          <a:prstGeom prst="rect">
            <a:avLst/>
          </a:prstGeom>
          <a:noFill/>
        </p:spPr>
        <p:txBody>
          <a:bodyPr wrap="square">
            <a:spAutoFit/>
          </a:bodyPr>
          <a:lstStyle/>
          <a:p>
            <a:pPr>
              <a:spcAft>
                <a:spcPts val="500"/>
              </a:spcAft>
            </a:pPr>
            <a:r>
              <a:rPr sz="1100" b="0">
                <a:solidFill>
                  <a:srgbClr val="444444"/>
                </a:solidFill>
              </a:rPr>
              <a:t>• Colour: every mesh cell is filled with its own value at this instant — 'Vorticity plot': ω_z = ∂v/∂x − ∂u/∂y (red/blue = the two senses of rotation); 'Velocity plot': the speed |u| = √(u²+v²) (free stream ≈ 1, wake dark, shoulders bright). Titles and colour-bar labels carry only the plot type</a:t>
            </a:r>
          </a:p>
          <a:p>
            <a:pPr>
              <a:spcAft>
                <a:spcPts val="500"/>
              </a:spcAft>
            </a:pPr>
            <a:r>
              <a:rPr sz="1100" b="0">
                <a:solidFill>
                  <a:srgbClr val="444444"/>
                </a:solidFill>
              </a:rPr>
              <a:t>• Arrows: the velocity vector (u_P, v_P) of ~400 sampled cells at this instant — direction and magnitude of the flow there</a:t>
            </a:r>
          </a:p>
          <a:p>
            <a:pPr>
              <a:spcAft>
                <a:spcPts val="500"/>
              </a:spcAft>
            </a:pPr>
            <a:r>
              <a:rPr sz="1100" b="0">
                <a:solidFill>
                  <a:srgbClr val="444444"/>
                </a:solidFill>
              </a:rPr>
              <a:t>• Time: one frame every 40 steps by default (≈ 0.18 time units, ~27 frames per shedding period; the long runs here used --frame-every 100); the GIF loops the last ~4 periods (--gif-from), the MP4 is the whole history</a:t>
            </a:r>
          </a:p>
          <a:p>
            <a:pPr>
              <a:spcAft>
                <a:spcPts val="500"/>
              </a:spcAft>
            </a:pPr>
            <a:r>
              <a:rPr sz="1100" b="1">
                <a:solidFill>
                  <a:srgbClr val="444444"/>
                </a:solidFill>
              </a:rPr>
              <a:t>• What it is NOT: there are no streamlines or particle paths (plt.streamplot is never called). Nothing is tracked from one frame to the next — the next frame is simply the next saved state, coloured and arrowed again</a:t>
            </a:r>
          </a:p>
        </p:txBody>
      </p:sp>
      <p:pic>
        <p:nvPicPr>
          <p:cNvPr id="7" name="Picture 6" descr="ns_fine_shedding_frame.png"/>
          <p:cNvPicPr>
            <a:picLocks noChangeAspect="1"/>
          </p:cNvPicPr>
          <p:nvPr/>
        </p:nvPicPr>
        <p:blipFill>
          <a:blip r:embed="rId2"/>
          <a:stretch>
            <a:fillRect/>
          </a:stretch>
        </p:blipFill>
        <p:spPr>
          <a:xfrm>
            <a:off x="7315200" y="1188720"/>
            <a:ext cx="4758781" cy="51206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J2  </a:t>
            </a:r>
            <a:r>
              <a:rPr sz="2600" b="1">
                <a:solidFill>
                  <a:srgbClr val="1F3A5F"/>
                </a:solidFill>
              </a:rPr>
              <a:t>Reading the near wake on the actual mesh</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45</a:t>
            </a:r>
          </a:p>
        </p:txBody>
      </p:sp>
      <p:pic>
        <p:nvPicPr>
          <p:cNvPr id="5" name="Picture 4" descr="zoom_wake.png"/>
          <p:cNvPicPr>
            <a:picLocks noChangeAspect="1"/>
          </p:cNvPicPr>
          <p:nvPr/>
        </p:nvPicPr>
        <p:blipFill>
          <a:blip r:embed="rId2"/>
          <a:stretch>
            <a:fillRect/>
          </a:stretch>
        </p:blipFill>
        <p:spPr>
          <a:xfrm>
            <a:off x="548640" y="1188720"/>
            <a:ext cx="11064240" cy="4626864"/>
          </a:xfrm>
          <a:prstGeom prst="rect">
            <a:avLst/>
          </a:prstGeom>
        </p:spPr>
      </p:pic>
      <p:sp>
        <p:nvSpPr>
          <p:cNvPr id="6" name="TextBox 5"/>
          <p:cNvSpPr txBox="1"/>
          <p:nvPr/>
        </p:nvSpPr>
        <p:spPr>
          <a:xfrm>
            <a:off x="548640" y="5486400"/>
            <a:ext cx="11064240" cy="1005840"/>
          </a:xfrm>
          <a:prstGeom prst="rect">
            <a:avLst/>
          </a:prstGeom>
          <a:noFill/>
        </p:spPr>
        <p:txBody>
          <a:bodyPr wrap="square">
            <a:spAutoFit/>
          </a:bodyPr>
          <a:lstStyle/>
          <a:p>
            <a:pPr>
              <a:spcAft>
                <a:spcPts val="500"/>
              </a:spcAft>
            </a:pPr>
            <a:r>
              <a:rPr sz="1100" b="0">
                <a:solidFill>
                  <a:srgbClr val="444444"/>
                </a:solidFill>
              </a:rPr>
              <a:t>• Cell values drawn with their edges: the solution is smooth across the O-ring → square → Cartesian block interfaces — no checkerboard, no jumps at the size steps</a:t>
            </a:r>
          </a:p>
          <a:p>
            <a:pPr>
              <a:spcAft>
                <a:spcPts val="500"/>
              </a:spcAft>
            </a:pPr>
            <a:r>
              <a:rPr sz="1100" b="0">
                <a:solidFill>
                  <a:srgbClr val="444444"/>
                </a:solidFill>
              </a:rPr>
              <a:t>• Left: the recirculating wake (|u| ≈ 0, dark) is pulled to one side — this frame is at a lift maximum</a:t>
            </a:r>
          </a:p>
          <a:p>
            <a:pPr>
              <a:spcAft>
                <a:spcPts val="500"/>
              </a:spcAft>
            </a:pPr>
            <a:r>
              <a:rPr sz="1100" b="0">
                <a:solidFill>
                  <a:srgbClr val="444444"/>
                </a:solidFill>
              </a:rPr>
              <a:t>• Right: the two shear layers (opposite-sign vorticity) roll up alternately into the street; each vortex is about one diameter across and resolved by ~10 cells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none">
            <a:spAutoFit/>
          </a:bodyPr>
          <a:lstStyle/>
          <a:p>
            <a:r>
              <a:rPr sz="1800" b="1">
                <a:solidFill>
                  <a:srgbClr val="F0B4A8"/>
                </a:solidFill>
              </a:rPr>
              <a:t>PART K</a:t>
            </a:r>
          </a:p>
        </p:txBody>
      </p:sp>
      <p:sp>
        <p:nvSpPr>
          <p:cNvPr id="4" name="TextBox 3"/>
          <p:cNvSpPr txBox="1"/>
          <p:nvPr/>
        </p:nvSpPr>
        <p:spPr>
          <a:xfrm>
            <a:off x="822960" y="2651760"/>
            <a:ext cx="10515600" cy="1280160"/>
          </a:xfrm>
          <a:prstGeom prst="rect">
            <a:avLst/>
          </a:prstGeom>
          <a:noFill/>
        </p:spPr>
        <p:txBody>
          <a:bodyPr wrap="square">
            <a:spAutoFit/>
          </a:bodyPr>
          <a:lstStyle/>
          <a:p>
            <a:r>
              <a:rPr sz="4000" b="1">
                <a:solidFill>
                  <a:srgbClr val="FFFFFF"/>
                </a:solidFill>
              </a:rPr>
              <a:t>Pitfalls, exercises, glossary</a:t>
            </a:r>
          </a:p>
        </p:txBody>
      </p:sp>
      <p:sp>
        <p:nvSpPr>
          <p:cNvPr id="5" name="TextBox 4"/>
          <p:cNvSpPr txBox="1"/>
          <p:nvPr/>
        </p:nvSpPr>
        <p:spPr>
          <a:xfrm>
            <a:off x="822960" y="3840480"/>
            <a:ext cx="10515600" cy="1371600"/>
          </a:xfrm>
          <a:prstGeom prst="rect">
            <a:avLst/>
          </a:prstGeom>
          <a:noFill/>
        </p:spPr>
        <p:txBody>
          <a:bodyPr wrap="square">
            <a:spAutoFit/>
          </a:bodyPr>
          <a:lstStyle/>
          <a:p>
            <a:r>
              <a:rPr sz="1800">
                <a:solidFill>
                  <a:srgbClr val="DDE6F0"/>
                </a:solidFill>
              </a:rPr>
              <a:t>what went wrong for us, so it doesn't for you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K1  </a:t>
            </a:r>
            <a:r>
              <a:rPr sz="2600" b="1">
                <a:solidFill>
                  <a:srgbClr val="1F3A5F"/>
                </a:solidFill>
              </a:rPr>
              <a:t>Pitfalls we hit — symptom → cause → fix</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47</a:t>
            </a:r>
          </a:p>
        </p:txBody>
      </p:sp>
      <p:graphicFrame>
        <p:nvGraphicFramePr>
          <p:cNvPr id="5" name="Table 4"/>
          <p:cNvGraphicFramePr>
            <a:graphicFrameLocks noGrp="1"/>
          </p:cNvGraphicFramePr>
          <p:nvPr/>
        </p:nvGraphicFramePr>
        <p:xfrm>
          <a:off x="548640" y="1188720"/>
          <a:ext cx="11064240" cy="2468880"/>
        </p:xfrm>
        <a:graphic>
          <a:graphicData uri="http://schemas.openxmlformats.org/drawingml/2006/table">
            <a:tbl>
              <a:tblPr firstRow="1" bandRow="1">
                <a:tableStyleId>{5C22544A-7EE6-4342-B048-85BDC9FD1C3A}</a:tableStyleId>
              </a:tblPr>
              <a:tblGrid>
                <a:gridCol w="2377440"/>
                <a:gridCol w="3566160"/>
                <a:gridCol w="2926080"/>
                <a:gridCol w="2194560"/>
              </a:tblGrid>
              <a:tr h="274320">
                <a:tc>
                  <a:txBody>
                    <a:bodyPr/>
                    <a:lstStyle/>
                    <a:p>
                      <a:r>
                        <a:rPr sz="1200" b="1"/>
                        <a:t>symptom</a:t>
                      </a:r>
                    </a:p>
                  </a:txBody>
                  <a:tcPr marT="27432" marB="27432"/>
                </a:tc>
                <a:tc>
                  <a:txBody>
                    <a:bodyPr/>
                    <a:lstStyle/>
                    <a:p>
                      <a:r>
                        <a:rPr sz="1200" b="1"/>
                        <a:t>cause</a:t>
                      </a:r>
                    </a:p>
                  </a:txBody>
                  <a:tcPr marT="27432" marB="27432"/>
                </a:tc>
                <a:tc>
                  <a:txBody>
                    <a:bodyPr/>
                    <a:lstStyle/>
                    <a:p>
                      <a:r>
                        <a:rPr sz="1200" b="1"/>
                        <a:t>fix</a:t>
                      </a:r>
                    </a:p>
                  </a:txBody>
                  <a:tcPr marT="27432" marB="27432"/>
                </a:tc>
                <a:tc>
                  <a:txBody>
                    <a:bodyPr/>
                    <a:lstStyle/>
                    <a:p>
                      <a:r>
                        <a:rPr sz="1200" b="1"/>
                        <a:t>how we noticed</a:t>
                      </a:r>
                    </a:p>
                  </a:txBody>
                  <a:tcPr marT="27432" marB="27432"/>
                </a:tc>
              </a:tr>
              <a:tr h="274320">
                <a:tc>
                  <a:txBody>
                    <a:bodyPr/>
                    <a:lstStyle/>
                    <a:p>
                      <a:r>
                        <a:rPr sz="1200" b="0"/>
                        <a:t>Cd = 500 while the flow looked fine</a:t>
                      </a:r>
                    </a:p>
                  </a:txBody>
                  <a:tcPr marT="27432" marB="27432"/>
                </a:tc>
                <a:tc>
                  <a:txBody>
                    <a:bodyPr/>
                    <a:lstStyle/>
                    <a:p>
                      <a:r>
                        <a:rPr sz="1200" b="0"/>
                        <a:t>p was accumulated (p += p_corr) although F, G carry no old pressure</a:t>
                      </a:r>
                    </a:p>
                  </a:txBody>
                  <a:tcPr marT="27432" marB="27432"/>
                </a:tc>
                <a:tc>
                  <a:txBody>
                    <a:bodyPr/>
                    <a:lstStyle/>
                    <a:p>
                      <a:r>
                        <a:rPr sz="1200" b="0"/>
                        <a:t>p = p_corr: the Poisson solution is the pressure</a:t>
                      </a:r>
                    </a:p>
                  </a:txBody>
                  <a:tcPr marT="27432" marB="27432"/>
                </a:tc>
                <a:tc>
                  <a:txBody>
                    <a:bodyPr/>
                    <a:lstStyle/>
                    <a:p>
                      <a:r>
                        <a:rPr sz="1200" b="0"/>
                        <a:t>unphysical number in the forces plot</a:t>
                      </a:r>
                    </a:p>
                  </a:txBody>
                  <a:tcPr marT="27432" marB="27432"/>
                </a:tc>
              </a:tr>
              <a:tr h="274320">
                <a:tc>
                  <a:txBody>
                    <a:bodyPr/>
                    <a:lstStyle/>
                    <a:p>
                      <a:r>
                        <a:rPr sz="1200" b="0"/>
                        <a:t>max|div| stuck at 1e-2</a:t>
                      </a:r>
                    </a:p>
                  </a:txBody>
                  <a:tcPr marT="27432" marB="27432"/>
                </a:tc>
                <a:tc>
                  <a:txBody>
                    <a:bodyPr/>
                    <a:lstStyle/>
                    <a:p>
                      <a:r>
                        <a:rPr sz="1200" b="0"/>
                        <a:t>zero-gradient outlet → inflow ≠ outflow → Neumann problem unsolvable; the mean was spread as a uniform source</a:t>
                      </a:r>
                    </a:p>
                  </a:txBody>
                  <a:tcPr marT="27432" marB="27432"/>
                </a:tc>
                <a:tc>
                  <a:txBody>
                    <a:bodyPr/>
                    <a:lstStyle/>
                    <a:p>
                      <a:r>
                        <a:rPr sz="1200" b="0"/>
                        <a:t>shift outlet flux so Σ rhs = 0 (_balance_outlet)</a:t>
                      </a:r>
                    </a:p>
                  </a:txBody>
                  <a:tcPr marT="27432" marB="27432"/>
                </a:tc>
                <a:tc>
                  <a:txBody>
                    <a:bodyPr/>
                    <a:lstStyle/>
                    <a:p>
                      <a:r>
                        <a:rPr sz="1200" b="0"/>
                        <a:t>the max|div| column; largest in the smallest cells</a:t>
                      </a:r>
                    </a:p>
                  </a:txBody>
                  <a:tcPr marT="27432" marB="27432"/>
                </a:tc>
              </a:tr>
              <a:tr h="274320">
                <a:tc>
                  <a:txBody>
                    <a:bodyPr/>
                    <a:lstStyle/>
                    <a:p>
                      <a:r>
                        <a:rPr sz="1200" b="0"/>
                        <a:t>no shedding for 120 time units</a:t>
                      </a:r>
                    </a:p>
                  </a:txBody>
                  <a:tcPr marT="27432" marB="27432"/>
                </a:tc>
                <a:tc>
                  <a:txBody>
                    <a:bodyPr/>
                    <a:lstStyle/>
                    <a:p>
                      <a:r>
                        <a:rPr sz="1200" b="0"/>
                        <a:t>exactly symmetric mesh + operators; Cl ≡ 0</a:t>
                      </a:r>
                    </a:p>
                  </a:txBody>
                  <a:tcPr marT="27432" marB="27432"/>
                </a:tc>
                <a:tc>
                  <a:txBody>
                    <a:bodyPr/>
                    <a:lstStyle/>
                    <a:p>
                      <a:r>
                        <a:rPr sz="1200" b="0"/>
                        <a:t>small localised seed + inlet pulse (--perturb)</a:t>
                      </a:r>
                    </a:p>
                  </a:txBody>
                  <a:tcPr marT="27432" marB="27432"/>
                </a:tc>
                <a:tc>
                  <a:txBody>
                    <a:bodyPr/>
                    <a:lstStyle/>
                    <a:p>
                      <a:r>
                        <a:rPr sz="1200" b="0"/>
                        <a:t>Cl printed as −0.000 forever</a:t>
                      </a:r>
                    </a:p>
                  </a:txBody>
                  <a:tcPr marT="27432" marB="27432"/>
                </a:tc>
              </a:tr>
              <a:tr h="274320">
                <a:tc>
                  <a:txBody>
                    <a:bodyPr/>
                    <a:lstStyle/>
                    <a:p>
                      <a:r>
                        <a:rPr sz="1200" b="0"/>
                        <a:t>still no shedding with --scheme donor</a:t>
                      </a:r>
                    </a:p>
                  </a:txBody>
                  <a:tcPr marT="27432" marB="27432"/>
                </a:tc>
                <a:tc>
                  <a:txBody>
                    <a:bodyPr/>
                    <a:lstStyle/>
                    <a:p>
                      <a:r>
                        <a:rPr sz="1200" b="0"/>
                        <a:t>upwind blend adds viscosity ≈ ½|U|h → effective Re too low</a:t>
                      </a:r>
                    </a:p>
                  </a:txBody>
                  <a:tcPr marT="27432" marB="27432"/>
                </a:tc>
                <a:tc>
                  <a:txBody>
                    <a:bodyPr/>
                    <a:lstStyle/>
                    <a:p>
                      <a:r>
                        <a:rPr sz="1200" b="0"/>
                        <a:t>use central for this problem</a:t>
                      </a:r>
                    </a:p>
                  </a:txBody>
                  <a:tcPr marT="27432" marB="27432"/>
                </a:tc>
                <a:tc>
                  <a:txBody>
                    <a:bodyPr/>
                    <a:lstStyle/>
                    <a:p>
                      <a:r>
                        <a:rPr sz="1200" b="0"/>
                        <a:t>compare donor vs central at t = 150</a:t>
                      </a:r>
                    </a:p>
                  </a:txBody>
                  <a:tcPr marT="27432" marB="27432"/>
                </a:tc>
              </a:tr>
              <a:tr h="274320">
                <a:tc>
                  <a:txBody>
                    <a:bodyPr/>
                    <a:lstStyle/>
                    <a:p>
                      <a:r>
                        <a:rPr sz="1200" b="0"/>
                        <a:t>390 ms per step, hours per run</a:t>
                      </a:r>
                    </a:p>
                  </a:txBody>
                  <a:tcPr marT="27432" marB="27432"/>
                </a:tc>
                <a:tc>
                  <a:txBody>
                    <a:bodyPr/>
                    <a:lstStyle/>
                    <a:p>
                      <a:r>
                        <a:rPr sz="1200" b="0"/>
                        <a:t>Jacobi-CG needs ~1000 iterations on 37k cells</a:t>
                      </a:r>
                    </a:p>
                  </a:txBody>
                  <a:tcPr marT="27432" marB="27432"/>
                </a:tc>
                <a:tc>
                  <a:txBody>
                    <a:bodyPr/>
                    <a:lstStyle/>
                    <a:p>
                      <a:r>
                        <a:rPr sz="1200" b="0"/>
                        <a:t>sparse LU once, 2 ms per solve</a:t>
                      </a:r>
                    </a:p>
                  </a:txBody>
                  <a:tcPr marT="27432" marB="27432"/>
                </a:tc>
                <a:tc>
                  <a:txBody>
                    <a:bodyPr/>
                    <a:lstStyle/>
                    <a:p>
                      <a:r>
                        <a:rPr sz="1200" b="0"/>
                        <a:t>cProfile: 98 % in cg()</a:t>
                      </a:r>
                    </a:p>
                  </a:txBody>
                  <a:tcPr marT="27432" marB="27432"/>
                </a:tc>
              </a:tr>
              <a:tr h="274320">
                <a:tc>
                  <a:txBody>
                    <a:bodyPr/>
                    <a:lstStyle/>
                    <a:p>
                      <a:r>
                        <a:rPr sz="1200" b="0"/>
                        <a:t>CG diverged on the big mesh</a:t>
                      </a:r>
                    </a:p>
                  </a:txBody>
                  <a:tcPr marT="27432" marB="27432"/>
                </a:tc>
                <a:tc>
                  <a:txBody>
                    <a:bodyPr/>
                    <a:lstStyle/>
                    <a:p>
                      <a:r>
                        <a:rPr sz="1200" b="0"/>
                        <a:t>pinned row made the matrix non-symmetric for CG</a:t>
                      </a:r>
                    </a:p>
                  </a:txBody>
                  <a:tcPr marT="27432" marB="27432"/>
                </a:tc>
                <a:tc>
                  <a:txBody>
                    <a:bodyPr/>
                    <a:lstStyle/>
                    <a:p>
                      <a:r>
                        <a:rPr sz="1200" b="0"/>
                        <a:t>solve the singular symmetric system with a mean projection (or use LU)</a:t>
                      </a:r>
                    </a:p>
                  </a:txBody>
                  <a:tcPr marT="27432" marB="27432"/>
                </a:tc>
                <a:tc>
                  <a:txBody>
                    <a:bodyPr/>
                    <a:lstStyle/>
                    <a:p>
                      <a:r>
                        <a:rPr sz="1200" b="0"/>
                        <a:t>info ≠ 0, divergence growing</a:t>
                      </a:r>
                    </a:p>
                  </a:txBody>
                  <a:tcPr marT="27432" marB="27432"/>
                </a:tc>
              </a:tr>
              <a:tr h="274320">
                <a:tc>
                  <a:txBody>
                    <a:bodyPr/>
                    <a:lstStyle/>
                    <a:p>
                      <a:r>
                        <a:rPr sz="1200" b="0"/>
                        <a:t>20 MB GIF</a:t>
                      </a:r>
                    </a:p>
                  </a:txBody>
                  <a:tcPr marT="27432" marB="27432"/>
                </a:tc>
                <a:tc>
                  <a:txBody>
                    <a:bodyPr/>
                    <a:lstStyle/>
                    <a:p>
                      <a:r>
                        <a:rPr sz="1200" b="0"/>
                        <a:t>266 frames at 900 px</a:t>
                      </a:r>
                    </a:p>
                  </a:txBody>
                  <a:tcPr marT="27432" marB="27432"/>
                </a:tc>
                <a:tc>
                  <a:txBody>
                    <a:bodyPr/>
                    <a:lstStyle/>
                    <a:p>
                      <a:r>
                        <a:rPr sz="1200" b="0"/>
                        <a:t>window to ~4 periods, ≤ 60 frames, 640 px</a:t>
                      </a:r>
                    </a:p>
                  </a:txBody>
                  <a:tcPr marT="27432" marB="27432"/>
                </a:tc>
                <a:tc>
                  <a:txBody>
                    <a:bodyPr/>
                    <a:lstStyle/>
                    <a:p>
                      <a:r>
                        <a:rPr sz="1200" b="0"/>
                        <a:t>file size</a:t>
                      </a:r>
                    </a:p>
                  </a:txBody>
                  <a:tcPr marT="27432" marB="27432"/>
                </a:tc>
              </a:tr>
              <a:tr h="274320">
                <a:tc>
                  <a:txBody>
                    <a:bodyPr/>
                    <a:lstStyle/>
                    <a:p>
                      <a:r>
                        <a:rPr sz="1200" b="0"/>
                        <a:t>frames overwrote each other</a:t>
                      </a:r>
                    </a:p>
                  </a:txBody>
                  <a:tcPr marT="27432" marB="27432"/>
                </a:tc>
                <a:tc>
                  <a:txBody>
                    <a:bodyPr/>
                    <a:lstStyle/>
                    <a:p>
                      <a:r>
                        <a:rPr sz="1200" b="0"/>
                        <a:t>file name had t to 2 decimals; early steps collided</a:t>
                      </a:r>
                    </a:p>
                  </a:txBody>
                  <a:tcPr marT="27432" marB="27432"/>
                </a:tc>
                <a:tc>
                  <a:txBody>
                    <a:bodyPr/>
                    <a:lstStyle/>
                    <a:p>
                      <a:r>
                        <a:rPr sz="1200" b="0"/>
                        <a:t>include the step index in the name</a:t>
                      </a:r>
                    </a:p>
                  </a:txBody>
                  <a:tcPr marT="27432" marB="27432"/>
                </a:tc>
                <a:tc>
                  <a:txBody>
                    <a:bodyPr/>
                    <a:lstStyle/>
                    <a:p>
                      <a:r>
                        <a:rPr sz="1200" b="0"/>
                        <a:t>fewer frames than expected</a:t>
                      </a:r>
                    </a:p>
                  </a:txBody>
                  <a:tcPr marT="27432" marB="27432"/>
                </a:tc>
              </a:tr>
            </a:tbl>
          </a:graphicData>
        </a:graphic>
      </p:graphicFrame>
      <p:sp>
        <p:nvSpPr>
          <p:cNvPr id="6" name="TextBox 5"/>
          <p:cNvSpPr txBox="1"/>
          <p:nvPr/>
        </p:nvSpPr>
        <p:spPr>
          <a:xfrm>
            <a:off x="548640" y="5577840"/>
            <a:ext cx="11064240" cy="731520"/>
          </a:xfrm>
          <a:prstGeom prst="rect">
            <a:avLst/>
          </a:prstGeom>
          <a:noFill/>
        </p:spPr>
        <p:txBody>
          <a:bodyPr wrap="square">
            <a:spAutoFit/>
          </a:bodyPr>
          <a:lstStyle/>
          <a:p>
            <a:pPr>
              <a:spcAft>
                <a:spcPts val="500"/>
              </a:spcAft>
            </a:pPr>
            <a:r>
              <a:rPr sz="1300" b="0">
                <a:solidFill>
                  <a:srgbClr val="444444"/>
                </a:solidFill>
              </a:rPr>
              <a:t>• The common thread: every one of these was caught by a cheap printed diagnostic (max|div|, Cd, Cl, ms/step) or by looking at the picture — not by reading code. Print them from the first step 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K2  </a:t>
            </a:r>
            <a:r>
              <a:rPr sz="2600" b="1">
                <a:solidFill>
                  <a:srgbClr val="1F3A5F"/>
                </a:solidFill>
              </a:rPr>
              <a:t>Exercises — each one changes one thing</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48</a:t>
            </a:r>
          </a:p>
        </p:txBody>
      </p:sp>
      <p:graphicFrame>
        <p:nvGraphicFramePr>
          <p:cNvPr id="5" name="Table 4"/>
          <p:cNvGraphicFramePr>
            <a:graphicFrameLocks noGrp="1"/>
          </p:cNvGraphicFramePr>
          <p:nvPr/>
        </p:nvGraphicFramePr>
        <p:xfrm>
          <a:off x="548640" y="1188720"/>
          <a:ext cx="11064240" cy="2468880"/>
        </p:xfrm>
        <a:graphic>
          <a:graphicData uri="http://schemas.openxmlformats.org/drawingml/2006/table">
            <a:tbl>
              <a:tblPr firstRow="1" bandRow="1">
                <a:tableStyleId>{5C22544A-7EE6-4342-B048-85BDC9FD1C3A}</a:tableStyleId>
              </a:tblPr>
              <a:tblGrid>
                <a:gridCol w="1371600"/>
                <a:gridCol w="3840480"/>
                <a:gridCol w="3383280"/>
                <a:gridCol w="2468880"/>
              </a:tblGrid>
              <a:tr h="274320">
                <a:tc>
                  <a:txBody>
                    <a:bodyPr/>
                    <a:lstStyle/>
                    <a:p>
                      <a:r>
                        <a:rPr sz="1100" b="1"/>
                        <a:t>try</a:t>
                      </a:r>
                    </a:p>
                  </a:txBody>
                  <a:tcPr marT="27432" marB="27432"/>
                </a:tc>
                <a:tc>
                  <a:txBody>
                    <a:bodyPr/>
                    <a:lstStyle/>
                    <a:p>
                      <a:r>
                        <a:rPr sz="1100" b="1"/>
                        <a:t>command</a:t>
                      </a:r>
                    </a:p>
                  </a:txBody>
                  <a:tcPr marT="27432" marB="27432"/>
                </a:tc>
                <a:tc>
                  <a:txBody>
                    <a:bodyPr/>
                    <a:lstStyle/>
                    <a:p>
                      <a:r>
                        <a:rPr sz="1100" b="1"/>
                        <a:t>what to look for</a:t>
                      </a:r>
                    </a:p>
                  </a:txBody>
                  <a:tcPr marT="27432" marB="27432"/>
                </a:tc>
                <a:tc>
                  <a:txBody>
                    <a:bodyPr/>
                    <a:lstStyle/>
                    <a:p>
                      <a:r>
                        <a:rPr sz="1100" b="1"/>
                        <a:t>what you learn</a:t>
                      </a:r>
                    </a:p>
                  </a:txBody>
                  <a:tcPr marT="27432" marB="27432"/>
                </a:tc>
              </a:tr>
              <a:tr h="274320">
                <a:tc>
                  <a:txBody>
                    <a:bodyPr/>
                    <a:lstStyle/>
                    <a:p>
                      <a:r>
                        <a:rPr sz="1100" b="0"/>
                        <a:t>lower Re</a:t>
                      </a:r>
                    </a:p>
                  </a:txBody>
                  <a:tcPr marT="27432" marB="27432"/>
                </a:tc>
                <a:tc>
                  <a:txBody>
                    <a:bodyPr/>
                    <a:lstStyle/>
                    <a:p>
                      <a:r>
                        <a:rPr sz="1100" b="0"/>
                        <a:t>--fine --Re 40 --t-end 80</a:t>
                      </a:r>
                    </a:p>
                  </a:txBody>
                  <a:tcPr marT="27432" marB="27432"/>
                </a:tc>
                <a:tc>
                  <a:txBody>
                    <a:bodyPr/>
                    <a:lstStyle/>
                    <a:p>
                      <a:r>
                        <a:rPr sz="1100" b="0"/>
                        <a:t>Cl decays to 0; steady symmetric wake with two bubbles</a:t>
                      </a:r>
                    </a:p>
                  </a:txBody>
                  <a:tcPr marT="27432" marB="27432"/>
                </a:tc>
                <a:tc>
                  <a:txBody>
                    <a:bodyPr/>
                    <a:lstStyle/>
                    <a:p>
                      <a:r>
                        <a:rPr sz="1100" b="0"/>
                        <a:t>the shedding threshold (Re ≈ 47)</a:t>
                      </a:r>
                    </a:p>
                  </a:txBody>
                  <a:tcPr marT="27432" marB="27432"/>
                </a:tc>
              </a:tr>
              <a:tr h="274320">
                <a:tc>
                  <a:txBody>
                    <a:bodyPr/>
                    <a:lstStyle/>
                    <a:p>
                      <a:r>
                        <a:rPr sz="1100" b="0"/>
                        <a:t>upwind</a:t>
                      </a:r>
                    </a:p>
                  </a:txBody>
                  <a:tcPr marT="27432" marB="27432"/>
                </a:tc>
                <a:tc>
                  <a:txBody>
                    <a:bodyPr/>
                    <a:lstStyle/>
                    <a:p>
                      <a:r>
                        <a:rPr sz="1100" b="0"/>
                        <a:t>--fine --scheme upwind</a:t>
                      </a:r>
                    </a:p>
                  </a:txBody>
                  <a:tcPr marT="27432" marB="27432"/>
                </a:tc>
                <a:tc>
                  <a:txBody>
                    <a:bodyPr/>
                    <a:lstStyle/>
                    <a:p>
                      <a:r>
                        <a:rPr sz="1100" b="0"/>
                        <a:t>no shedding; shorter, fatter wake</a:t>
                      </a:r>
                    </a:p>
                  </a:txBody>
                  <a:tcPr marT="27432" marB="27432"/>
                </a:tc>
                <a:tc>
                  <a:txBody>
                    <a:bodyPr/>
                    <a:lstStyle/>
                    <a:p>
                      <a:r>
                        <a:rPr sz="1100" b="0"/>
                        <a:t>numerical viscosity</a:t>
                      </a:r>
                    </a:p>
                  </a:txBody>
                  <a:tcPr marT="27432" marB="27432"/>
                </a:tc>
              </a:tr>
              <a:tr h="274320">
                <a:tc>
                  <a:txBody>
                    <a:bodyPr/>
                    <a:lstStyle/>
                    <a:p>
                      <a:r>
                        <a:rPr sz="1100" b="0"/>
                        <a:t>no trigger</a:t>
                      </a:r>
                    </a:p>
                  </a:txBody>
                  <a:tcPr marT="27432" marB="27432"/>
                </a:tc>
                <a:tc>
                  <a:txBody>
                    <a:bodyPr/>
                    <a:lstStyle/>
                    <a:p>
                      <a:r>
                        <a:rPr sz="1100" b="0"/>
                        <a:t>--fine --scheme central --perturb 0</a:t>
                      </a:r>
                    </a:p>
                  </a:txBody>
                  <a:tcPr marT="27432" marB="27432"/>
                </a:tc>
                <a:tc>
                  <a:txBody>
                    <a:bodyPr/>
                    <a:lstStyle/>
                    <a:p>
                      <a:r>
                        <a:rPr sz="1100" b="0"/>
                        <a:t>Cl = 0 for ~120 units, then growth</a:t>
                      </a:r>
                    </a:p>
                  </a:txBody>
                  <a:tcPr marT="27432" marB="27432"/>
                </a:tc>
                <a:tc>
                  <a:txBody>
                    <a:bodyPr/>
                    <a:lstStyle/>
                    <a:p>
                      <a:r>
                        <a:rPr sz="1100" b="0"/>
                        <a:t>symmetry and instability</a:t>
                      </a:r>
                    </a:p>
                  </a:txBody>
                  <a:tcPr marT="27432" marB="27432"/>
                </a:tc>
              </a:tr>
              <a:tr h="274320">
                <a:tc>
                  <a:txBody>
                    <a:bodyPr/>
                    <a:lstStyle/>
                    <a:p>
                      <a:r>
                        <a:rPr sz="1100" b="0"/>
                        <a:t>bigger step</a:t>
                      </a:r>
                    </a:p>
                  </a:txBody>
                  <a:tcPr marT="27432" marB="27432"/>
                </a:tc>
                <a:tc>
                  <a:txBody>
                    <a:bodyPr/>
                    <a:lstStyle/>
                    <a:p>
                      <a:r>
                        <a:rPr sz="1100" b="0"/>
                        <a:t>--fine --tau 0.9</a:t>
                      </a:r>
                    </a:p>
                  </a:txBody>
                  <a:tcPr marT="27432" marB="27432"/>
                </a:tc>
                <a:tc>
                  <a:txBody>
                    <a:bodyPr/>
                    <a:lstStyle/>
                    <a:p>
                      <a:r>
                        <a:rPr sz="1100" b="0"/>
                        <a:t>max|u| grows, NaN</a:t>
                      </a:r>
                    </a:p>
                  </a:txBody>
                  <a:tcPr marT="27432" marB="27432"/>
                </a:tc>
                <a:tc>
                  <a:txBody>
                    <a:bodyPr/>
                    <a:lstStyle/>
                    <a:p>
                      <a:r>
                        <a:rPr sz="1100" b="0"/>
                        <a:t>the CFL / diffusive limits</a:t>
                      </a:r>
                    </a:p>
                  </a:txBody>
                  <a:tcPr marT="27432" marB="27432"/>
                </a:tc>
              </a:tr>
              <a:tr h="274320">
                <a:tc>
                  <a:txBody>
                    <a:bodyPr/>
                    <a:lstStyle/>
                    <a:p>
                      <a:r>
                        <a:rPr sz="1100" b="0"/>
                        <a:t>coarser mesh</a:t>
                      </a:r>
                    </a:p>
                  </a:txBody>
                  <a:tcPr marT="27432" marB="27432"/>
                </a:tc>
                <a:tc>
                  <a:txBody>
                    <a:bodyPr/>
                    <a:lstStyle/>
                    <a:p>
                      <a:r>
                        <a:rPr sz="1100" b="0"/>
                        <a:t>--quick --scheme central --t-end 120</a:t>
                      </a:r>
                    </a:p>
                  </a:txBody>
                  <a:tcPr marT="27432" marB="27432"/>
                </a:tc>
                <a:tc>
                  <a:txBody>
                    <a:bodyPr/>
                    <a:lstStyle/>
                    <a:p>
                      <a:r>
                        <a:rPr sz="1100" b="0"/>
                        <a:t>weak or no shedding</a:t>
                      </a:r>
                    </a:p>
                  </a:txBody>
                  <a:tcPr marT="27432" marB="27432"/>
                </a:tc>
                <a:tc>
                  <a:txBody>
                    <a:bodyPr/>
                    <a:lstStyle/>
                    <a:p>
                      <a:r>
                        <a:rPr sz="1100" b="0"/>
                        <a:t>resolution of the shear layers</a:t>
                      </a:r>
                    </a:p>
                  </a:txBody>
                  <a:tcPr marT="27432" marB="27432"/>
                </a:tc>
              </a:tr>
              <a:tr h="274320">
                <a:tc>
                  <a:txBody>
                    <a:bodyPr/>
                    <a:lstStyle/>
                    <a:p>
                      <a:r>
                        <a:rPr sz="1100" b="0"/>
                        <a:t>solver cost</a:t>
                      </a:r>
                    </a:p>
                  </a:txBody>
                  <a:tcPr marT="27432" marB="27432"/>
                </a:tc>
                <a:tc>
                  <a:txBody>
                    <a:bodyPr/>
                    <a:lstStyle/>
                    <a:p>
                      <a:r>
                        <a:rPr sz="1100" b="0"/>
                        <a:t>--fine --poisson cg --steps 100  vs  --poisson lu</a:t>
                      </a:r>
                    </a:p>
                  </a:txBody>
                  <a:tcPr marT="27432" marB="27432"/>
                </a:tc>
                <a:tc>
                  <a:txBody>
                    <a:bodyPr/>
                    <a:lstStyle/>
                    <a:p>
                      <a:r>
                        <a:rPr sz="1100" b="0"/>
                        <a:t>ms/step</a:t>
                      </a:r>
                    </a:p>
                  </a:txBody>
                  <a:tcPr marT="27432" marB="27432"/>
                </a:tc>
                <a:tc>
                  <a:txBody>
                    <a:bodyPr/>
                    <a:lstStyle/>
                    <a:p>
                      <a:r>
                        <a:rPr sz="1100" b="0"/>
                        <a:t>where the time goes</a:t>
                      </a:r>
                    </a:p>
                  </a:txBody>
                  <a:tcPr marT="27432" marB="27432"/>
                </a:tc>
              </a:tr>
              <a:tr h="274320">
                <a:tc>
                  <a:txBody>
                    <a:bodyPr/>
                    <a:lstStyle/>
                    <a:p>
                      <a:r>
                        <a:rPr sz="1100" b="0"/>
                        <a:t>blockage</a:t>
                      </a:r>
                    </a:p>
                  </a:txBody>
                  <a:tcPr marT="27432" marB="27432"/>
                </a:tc>
                <a:tc>
                  <a:txBody>
                    <a:bodyPr/>
                    <a:lstStyle/>
                    <a:p>
                      <a:r>
                        <a:rPr sz="1100" b="0"/>
                        <a:t>edit INPUT: y_max=30, yc=15 (30 D high)</a:t>
                      </a:r>
                    </a:p>
                  </a:txBody>
                  <a:tcPr marT="27432" marB="27432"/>
                </a:tc>
                <a:tc>
                  <a:txBody>
                    <a:bodyPr/>
                    <a:lstStyle/>
                    <a:p>
                      <a:r>
                        <a:rPr sz="1100" b="0"/>
                        <a:t>St and Cd move toward 0.18 / 1.33</a:t>
                      </a:r>
                    </a:p>
                  </a:txBody>
                  <a:tcPr marT="27432" marB="27432"/>
                </a:tc>
                <a:tc>
                  <a:txBody>
                    <a:bodyPr/>
                    <a:lstStyle/>
                    <a:p>
                      <a:r>
                        <a:rPr sz="1100" b="0"/>
                        <a:t>wall confinement</a:t>
                      </a:r>
                    </a:p>
                  </a:txBody>
                  <a:tcPr marT="27432" marB="27432"/>
                </a:tc>
              </a:tr>
              <a:tr h="274320">
                <a:tc>
                  <a:txBody>
                    <a:bodyPr/>
                    <a:lstStyle/>
                    <a:p>
                      <a:r>
                        <a:rPr sz="1100" b="0"/>
                        <a:t>frame content</a:t>
                      </a:r>
                    </a:p>
                  </a:txBody>
                  <a:tcPr marT="27432" marB="27432"/>
                </a:tc>
                <a:tc>
                  <a:txBody>
                    <a:bodyPr/>
                    <a:lstStyle/>
                    <a:p>
                      <a:r>
                        <a:rPr sz="1100" b="0"/>
                        <a:t>edit _draw_velocity to colour by p</a:t>
                      </a:r>
                    </a:p>
                  </a:txBody>
                  <a:tcPr marT="27432" marB="27432"/>
                </a:tc>
                <a:tc>
                  <a:txBody>
                    <a:bodyPr/>
                    <a:lstStyle/>
                    <a:p>
                      <a:r>
                        <a:rPr sz="1100" b="0"/>
                        <a:t>pressure minima at the vortex cores</a:t>
                      </a:r>
                    </a:p>
                  </a:txBody>
                  <a:tcPr marT="27432" marB="27432"/>
                </a:tc>
                <a:tc>
                  <a:txBody>
                    <a:bodyPr/>
                    <a:lstStyle/>
                    <a:p>
                      <a:r>
                        <a:rPr sz="1100" b="0"/>
                        <a:t>what the fields mean</a:t>
                      </a:r>
                    </a:p>
                  </a:txBody>
                  <a:tcPr marT="27432" marB="27432"/>
                </a:tc>
              </a:tr>
            </a:tbl>
          </a:graphicData>
        </a:graphic>
      </p:graphicFrame>
      <p:sp>
        <p:nvSpPr>
          <p:cNvPr id="6" name="TextBox 5"/>
          <p:cNvSpPr txBox="1"/>
          <p:nvPr/>
        </p:nvSpPr>
        <p:spPr>
          <a:xfrm>
            <a:off x="548640" y="4754880"/>
            <a:ext cx="11064240" cy="1371600"/>
          </a:xfrm>
          <a:prstGeom prst="rect">
            <a:avLst/>
          </a:prstGeom>
          <a:noFill/>
        </p:spPr>
        <p:txBody>
          <a:bodyPr wrap="square">
            <a:spAutoFit/>
          </a:bodyPr>
          <a:lstStyle/>
          <a:p>
            <a:pPr>
              <a:spcAft>
                <a:spcPts val="500"/>
              </a:spcAft>
            </a:pPr>
            <a:r>
              <a:rPr sz="1200" b="1">
                <a:solidFill>
                  <a:srgbClr val="444444"/>
                </a:solidFill>
              </a:rPr>
              <a:t>• Natural next steps for the code: treat diffusion implicitly (removes the h² limit on Δt), second-order time stepping (Adams–Bashforth / RK), non-orthogonal correction in _laplacian, a proper outflow (convective) condition, mesh-refinement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1500" b="1">
                <a:solidFill>
                  <a:srgbClr val="B23A2A"/>
                </a:solidFill>
              </a:rPr>
              <a:t>K3  </a:t>
            </a:r>
            <a:r>
              <a:rPr sz="2600" b="1">
                <a:solidFill>
                  <a:srgbClr val="1F3A5F"/>
                </a:solidFill>
              </a:rPr>
              <a:t>Glossary</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49</a:t>
            </a:r>
          </a:p>
        </p:txBody>
      </p:sp>
      <p:graphicFrame>
        <p:nvGraphicFramePr>
          <p:cNvPr id="5" name="Table 4"/>
          <p:cNvGraphicFramePr>
            <a:graphicFrameLocks noGrp="1"/>
          </p:cNvGraphicFramePr>
          <p:nvPr/>
        </p:nvGraphicFramePr>
        <p:xfrm>
          <a:off x="548640" y="1188720"/>
          <a:ext cx="11064240" cy="4114800"/>
        </p:xfrm>
        <a:graphic>
          <a:graphicData uri="http://schemas.openxmlformats.org/drawingml/2006/table">
            <a:tbl>
              <a:tblPr firstRow="1" bandRow="1">
                <a:tableStyleId>{5C22544A-7EE6-4342-B048-85BDC9FD1C3A}</a:tableStyleId>
              </a:tblPr>
              <a:tblGrid>
                <a:gridCol w="3017520"/>
                <a:gridCol w="8046720"/>
              </a:tblGrid>
              <a:tr h="274320">
                <a:tc>
                  <a:txBody>
                    <a:bodyPr/>
                    <a:lstStyle/>
                    <a:p>
                      <a:r>
                        <a:rPr sz="1100" b="1"/>
                        <a:t>term</a:t>
                      </a:r>
                    </a:p>
                  </a:txBody>
                  <a:tcPr marT="27432" marB="27432"/>
                </a:tc>
                <a:tc>
                  <a:txBody>
                    <a:bodyPr/>
                    <a:lstStyle/>
                    <a:p>
                      <a:r>
                        <a:rPr sz="1100" b="1"/>
                        <a:t>meaning here</a:t>
                      </a:r>
                    </a:p>
                  </a:txBody>
                  <a:tcPr marT="27432" marB="27432"/>
                </a:tc>
              </a:tr>
              <a:tr h="274320">
                <a:tc>
                  <a:txBody>
                    <a:bodyPr/>
                    <a:lstStyle/>
                    <a:p>
                      <a:r>
                        <a:rPr sz="1100" b="0"/>
                        <a:t>cell P / neighbour N / face f</a:t>
                      </a:r>
                    </a:p>
                  </a:txBody>
                  <a:tcPr marT="27432" marB="27432"/>
                </a:tc>
                <a:tc>
                  <a:txBody>
                    <a:bodyPr/>
                    <a:lstStyle/>
                    <a:p>
                      <a:r>
                        <a:rPr sz="1100" b="0"/>
                        <a:t>control volume where p lives / the cell across a face / the edge between two cells</a:t>
                      </a:r>
                    </a:p>
                  </a:txBody>
                  <a:tcPr marT="27432" marB="27432"/>
                </a:tc>
              </a:tr>
              <a:tr h="274320">
                <a:tc>
                  <a:txBody>
                    <a:bodyPr/>
                    <a:lstStyle/>
                    <a:p>
                      <a:r>
                        <a:rPr sz="1100" b="0"/>
                        <a:t>owner, neighbour</a:t>
                      </a:r>
                    </a:p>
                  </a:txBody>
                  <a:tcPr marT="27432" marB="27432"/>
                </a:tc>
                <a:tc>
                  <a:txBody>
                    <a:bodyPr/>
                    <a:lstStyle/>
                    <a:p>
                      <a:r>
                        <a:rPr sz="1100" b="0"/>
                        <a:t>the two cells of a face; the normal points owner → neighbour; neighbour = −1 on the boundary</a:t>
                      </a:r>
                    </a:p>
                  </a:txBody>
                  <a:tcPr marT="27432" marB="27432"/>
                </a:tc>
              </a:tr>
              <a:tr h="274320">
                <a:tc>
                  <a:txBody>
                    <a:bodyPr/>
                    <a:lstStyle/>
                    <a:p>
                      <a:r>
                        <a:rPr sz="1100" b="0"/>
                        <a:t>staggered (MAC) grid</a:t>
                      </a:r>
                    </a:p>
                  </a:txBody>
                  <a:tcPr marT="27432" marB="27432"/>
                </a:tc>
                <a:tc>
                  <a:txBody>
                    <a:bodyPr/>
                    <a:lstStyle/>
                    <a:p>
                      <a:r>
                        <a:rPr sz="1100" b="0"/>
                        <a:t>pressure in cells, normal velocity U_n on faces</a:t>
                      </a:r>
                    </a:p>
                  </a:txBody>
                  <a:tcPr marT="27432" marB="27432"/>
                </a:tc>
              </a:tr>
              <a:tr h="274320">
                <a:tc>
                  <a:txBody>
                    <a:bodyPr/>
                    <a:lstStyle/>
                    <a:p>
                      <a:r>
                        <a:rPr sz="1100" b="0"/>
                        <a:t>U_n</a:t>
                      </a:r>
                    </a:p>
                  </a:txBody>
                  <a:tcPr marT="27432" marB="27432"/>
                </a:tc>
                <a:tc>
                  <a:txBody>
                    <a:bodyPr/>
                    <a:lstStyle/>
                    <a:p>
                      <a:r>
                        <a:rPr sz="1100" b="0"/>
                        <a:t>velocity component through a face, u·n; the quantity that is made divergence-free</a:t>
                      </a:r>
                    </a:p>
                  </a:txBody>
                  <a:tcPr marT="27432" marB="27432"/>
                </a:tc>
              </a:tr>
              <a:tr h="274320">
                <a:tc>
                  <a:txBody>
                    <a:bodyPr/>
                    <a:lstStyle/>
                    <a:p>
                      <a:r>
                        <a:rPr sz="1100" b="0"/>
                        <a:t>finite volume (FV)</a:t>
                      </a:r>
                    </a:p>
                  </a:txBody>
                  <a:tcPr marT="27432" marB="27432"/>
                </a:tc>
                <a:tc>
                  <a:txBody>
                    <a:bodyPr/>
                    <a:lstStyle/>
                    <a:p>
                      <a:r>
                        <a:rPr sz="1100" b="0"/>
                        <a:t>discretisation by integrating over cells and summing fluxes over faces (Gauss' theorem)</a:t>
                      </a:r>
                    </a:p>
                  </a:txBody>
                  <a:tcPr marT="27432" marB="27432"/>
                </a:tc>
              </a:tr>
              <a:tr h="274320">
                <a:tc>
                  <a:txBody>
                    <a:bodyPr/>
                    <a:lstStyle/>
                    <a:p>
                      <a:r>
                        <a:rPr sz="1100" b="0"/>
                        <a:t>central / upwind / donor cell</a:t>
                      </a:r>
                    </a:p>
                  </a:txBody>
                  <a:tcPr marT="27432" marB="27432"/>
                </a:tc>
                <a:tc>
                  <a:txBody>
                    <a:bodyPr/>
                    <a:lstStyle/>
                    <a:p>
                      <a:r>
                        <a:rPr sz="1100" b="0"/>
                        <a:t>face value = average of both cells / the upstream cell / Griebel's blend of the two</a:t>
                      </a:r>
                    </a:p>
                  </a:txBody>
                  <a:tcPr marT="27432" marB="27432"/>
                </a:tc>
              </a:tr>
              <a:tr h="274320">
                <a:tc>
                  <a:txBody>
                    <a:bodyPr/>
                    <a:lstStyle/>
                    <a:p>
                      <a:r>
                        <a:rPr sz="1100" b="0"/>
                        <a:t>explicit Euler</a:t>
                      </a:r>
                    </a:p>
                  </a:txBody>
                  <a:tcPr marT="27432" marB="27432"/>
                </a:tc>
                <a:tc>
                  <a:txBody>
                    <a:bodyPr/>
                    <a:lstStyle/>
                    <a:p>
                      <a:r>
                        <a:rPr sz="1100" b="0"/>
                        <a:t>new = old + Δt × rate evaluated with the old field</a:t>
                      </a:r>
                    </a:p>
                  </a:txBody>
                  <a:tcPr marT="27432" marB="27432"/>
                </a:tc>
              </a:tr>
              <a:tr h="274320">
                <a:tc>
                  <a:txBody>
                    <a:bodyPr/>
                    <a:lstStyle/>
                    <a:p>
                      <a:r>
                        <a:rPr sz="1100" b="0"/>
                        <a:t>predictor F, G</a:t>
                      </a:r>
                    </a:p>
                  </a:txBody>
                  <a:tcPr marT="27432" marB="27432"/>
                </a:tc>
                <a:tc>
                  <a:txBody>
                    <a:bodyPr/>
                    <a:lstStyle/>
                    <a:p>
                      <a:r>
                        <a:rPr sz="1100" b="0"/>
                        <a:t>velocity after convection and diffusion but before the pressure acts</a:t>
                      </a:r>
                    </a:p>
                  </a:txBody>
                  <a:tcPr marT="27432" marB="27432"/>
                </a:tc>
              </a:tr>
              <a:tr h="274320">
                <a:tc>
                  <a:txBody>
                    <a:bodyPr/>
                    <a:lstStyle/>
                    <a:p>
                      <a:r>
                        <a:rPr sz="1100" b="0"/>
                        <a:t>projection</a:t>
                      </a:r>
                    </a:p>
                  </a:txBody>
                  <a:tcPr marT="27432" marB="27432"/>
                </a:tc>
                <a:tc>
                  <a:txBody>
                    <a:bodyPr/>
                    <a:lstStyle/>
                    <a:p>
                      <a:r>
                        <a:rPr sz="1100" b="0"/>
                        <a:t>solving a Poisson equation for p and subtracting Δt∇p so that ∇·u = 0</a:t>
                      </a:r>
                    </a:p>
                  </a:txBody>
                  <a:tcPr marT="27432" marB="27432"/>
                </a:tc>
              </a:tr>
              <a:tr h="274320">
                <a:tc>
                  <a:txBody>
                    <a:bodyPr/>
                    <a:lstStyle/>
                    <a:p>
                      <a:r>
                        <a:rPr sz="1100" b="0"/>
                        <a:t>CFL number</a:t>
                      </a:r>
                    </a:p>
                  </a:txBody>
                  <a:tcPr marT="27432" marB="27432"/>
                </a:tc>
                <a:tc>
                  <a:txBody>
                    <a:bodyPr/>
                    <a:lstStyle/>
                    <a:p>
                      <a:r>
                        <a:rPr sz="1100" b="0"/>
                        <a:t>|u| Δt / h: how many cells the fluid crosses per step; must be &lt; 1 for an explicit scheme</a:t>
                      </a:r>
                    </a:p>
                  </a:txBody>
                  <a:tcPr marT="27432" marB="27432"/>
                </a:tc>
              </a:tr>
              <a:tr h="274320">
                <a:tc>
                  <a:txBody>
                    <a:bodyPr/>
                    <a:lstStyle/>
                    <a:p>
                      <a:r>
                        <a:rPr sz="1100" b="0"/>
                        <a:t>h_min, d_PN, L_f, V_P</a:t>
                      </a:r>
                    </a:p>
                  </a:txBody>
                  <a:tcPr marT="27432" marB="27432"/>
                </a:tc>
                <a:tc>
                  <a:txBody>
                    <a:bodyPr/>
                    <a:lstStyle/>
                    <a:p>
                      <a:r>
                        <a:rPr sz="1100" b="0"/>
                        <a:t>smallest cell size / distance between two cell centres / face length / cell area</a:t>
                      </a:r>
                    </a:p>
                  </a:txBody>
                  <a:tcPr marT="27432" marB="27432"/>
                </a:tc>
              </a:tr>
              <a:tr h="274320">
                <a:tc>
                  <a:txBody>
                    <a:bodyPr/>
                    <a:lstStyle/>
                    <a:p>
                      <a:r>
                        <a:rPr sz="1100" b="0"/>
                        <a:t>Neumann condition</a:t>
                      </a:r>
                    </a:p>
                  </a:txBody>
                  <a:tcPr marT="27432" marB="27432"/>
                </a:tc>
                <a:tc>
                  <a:txBody>
                    <a:bodyPr/>
                    <a:lstStyle/>
                    <a:p>
                      <a:r>
                        <a:rPr sz="1100" b="0"/>
                        <a:t>∂φ/∂n = 0 on the boundary (zero gradient); for p on every boundary here</a:t>
                      </a:r>
                    </a:p>
                  </a:txBody>
                  <a:tcPr marT="27432" marB="27432"/>
                </a:tc>
              </a:tr>
              <a:tr h="274320">
                <a:tc>
                  <a:txBody>
                    <a:bodyPr/>
                    <a:lstStyle/>
                    <a:p>
                      <a:r>
                        <a:rPr sz="1100" b="0"/>
                        <a:t>Cd, Cl, St</a:t>
                      </a:r>
                    </a:p>
                  </a:txBody>
                  <a:tcPr marT="27432" marB="27432"/>
                </a:tc>
                <a:tc>
                  <a:txBody>
                    <a:bodyPr/>
                    <a:lstStyle/>
                    <a:p>
                      <a:r>
                        <a:rPr sz="1100" b="0"/>
                        <a:t>drag and lift coefficients F/(½ρU∞²D); Strouhal number f D/U∞ of the lift oscillation</a:t>
                      </a:r>
                    </a:p>
                  </a:txBody>
                  <a:tcPr marT="27432" marB="27432"/>
                </a:tc>
              </a:tr>
              <a:tr h="274320">
                <a:tc>
                  <a:txBody>
                    <a:bodyPr/>
                    <a:lstStyle/>
                    <a:p>
                      <a:r>
                        <a:rPr sz="1100" b="0"/>
                        <a:t>von Kármán street</a:t>
                      </a:r>
                    </a:p>
                  </a:txBody>
                  <a:tcPr marT="27432" marB="27432"/>
                </a:tc>
                <a:tc>
                  <a:txBody>
                    <a:bodyPr/>
                    <a:lstStyle/>
                    <a:p>
                      <a:r>
                        <a:rPr sz="1100" b="0"/>
                        <a:t>the staggered double row of alternating vortices behind a bluff body</a:t>
                      </a:r>
                    </a:p>
                  </a:txBody>
                  <a:tcPr marT="27432" marB="27432"/>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
            <a:ext cx="11247120" cy="822960"/>
          </a:xfrm>
          <a:prstGeom prst="rect">
            <a:avLst/>
          </a:prstGeom>
          <a:noFill/>
        </p:spPr>
        <p:txBody>
          <a:bodyPr wrap="square">
            <a:spAutoFit/>
          </a:bodyPr>
          <a:lstStyle/>
          <a:p>
            <a:r>
              <a:rPr sz="2600" b="1">
                <a:solidFill>
                  <a:srgbClr val="1F3A5F"/>
                </a:solidFill>
              </a:rPr>
              <a:t>File map</a:t>
            </a:r>
          </a:p>
        </p:txBody>
      </p:sp>
      <p:sp>
        <p:nvSpPr>
          <p:cNvPr id="3" name="Rectangle 2"/>
          <p:cNvSpPr/>
          <p:nvPr/>
        </p:nvSpPr>
        <p:spPr>
          <a:xfrm>
            <a:off x="457200" y="914400"/>
            <a:ext cx="11247120" cy="1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47120" cy="274320"/>
          </a:xfrm>
          <a:prstGeom prst="rect">
            <a:avLst/>
          </a:prstGeom>
          <a:noFill/>
        </p:spPr>
        <p:txBody>
          <a:bodyPr wrap="none">
            <a:spAutoFit/>
          </a:bodyPr>
          <a:lstStyle/>
          <a:p>
            <a:r>
              <a:rPr sz="1000">
                <a:solidFill>
                  <a:srgbClr val="999999"/>
                </a:solidFill>
              </a:rPr>
              <a:t>Flow past a cylinder at Re = 150 — reproducible walkthrough (cylinder_re150/)   ·   50</a:t>
            </a:r>
          </a:p>
        </p:txBody>
      </p:sp>
      <p:graphicFrame>
        <p:nvGraphicFramePr>
          <p:cNvPr id="5" name="Table 4"/>
          <p:cNvGraphicFramePr>
            <a:graphicFrameLocks noGrp="1"/>
          </p:cNvGraphicFramePr>
          <p:nvPr/>
        </p:nvGraphicFramePr>
        <p:xfrm>
          <a:off x="548640" y="1188720"/>
          <a:ext cx="11064240" cy="2468880"/>
        </p:xfrm>
        <a:graphic>
          <a:graphicData uri="http://schemas.openxmlformats.org/drawingml/2006/table">
            <a:tbl>
              <a:tblPr firstRow="1" bandRow="1">
                <a:tableStyleId>{5C22544A-7EE6-4342-B048-85BDC9FD1C3A}</a:tableStyleId>
              </a:tblPr>
              <a:tblGrid>
                <a:gridCol w="3657600"/>
                <a:gridCol w="7406640"/>
              </a:tblGrid>
              <a:tr h="274320">
                <a:tc>
                  <a:txBody>
                    <a:bodyPr/>
                    <a:lstStyle/>
                    <a:p>
                      <a:r>
                        <a:rPr sz="1200" b="1"/>
                        <a:t>file</a:t>
                      </a:r>
                    </a:p>
                  </a:txBody>
                  <a:tcPr marT="27432" marB="27432"/>
                </a:tc>
                <a:tc>
                  <a:txBody>
                    <a:bodyPr/>
                    <a:lstStyle/>
                    <a:p>
                      <a:r>
                        <a:rPr sz="1200" b="1"/>
                        <a:t>role</a:t>
                      </a:r>
                    </a:p>
                  </a:txBody>
                  <a:tcPr marT="27432" marB="27432"/>
                </a:tc>
              </a:tr>
              <a:tr h="274320">
                <a:tc>
                  <a:txBody>
                    <a:bodyPr/>
                    <a:lstStyle/>
                    <a:p>
                      <a:r>
                        <a:rPr sz="1200" b="0"/>
                        <a:t>cylinder_re150/mesh_from_known_sizes.py</a:t>
                      </a:r>
                    </a:p>
                  </a:txBody>
                  <a:tcPr marT="27432" marB="27432"/>
                </a:tc>
                <a:tc>
                  <a:txBody>
                    <a:bodyPr/>
                    <a:lstStyle/>
                    <a:p>
                      <a:r>
                        <a:rPr sz="1200" b="0"/>
                        <a:t>mesher: INPUT → O–H multiblock quads → verify → extract_staggered → mesh_output/staggered_*.npz</a:t>
                      </a:r>
                    </a:p>
                  </a:txBody>
                  <a:tcPr marT="27432" marB="27432"/>
                </a:tc>
              </a:tr>
              <a:tr h="274320">
                <a:tc>
                  <a:txBody>
                    <a:bodyPr/>
                    <a:lstStyle/>
                    <a:p>
                      <a:r>
                        <a:rPr sz="1200" b="0"/>
                        <a:t>cylinder_re150/ns_staggered_euler.py</a:t>
                      </a:r>
                    </a:p>
                  </a:txBody>
                  <a:tcPr marT="27432" marB="27432"/>
                </a:tc>
                <a:tc>
                  <a:txBody>
                    <a:bodyPr/>
                    <a:lstStyle/>
                    <a:p>
                      <a:r>
                        <a:rPr sz="1200" b="0"/>
                        <a:t>solver: load_staggered, build_topology, GriebelStaggeredNS (step, _project_Un, …), plotting, save_wake_gif, CLI</a:t>
                      </a:r>
                    </a:p>
                  </a:txBody>
                  <a:tcPr marT="27432" marB="27432"/>
                </a:tc>
              </a:tr>
              <a:tr h="274320">
                <a:tc>
                  <a:txBody>
                    <a:bodyPr/>
                    <a:lstStyle/>
                    <a:p>
                      <a:r>
                        <a:rPr sz="1200" b="0"/>
                        <a:t>cylinder_re150/tools/compare_nasa.py</a:t>
                      </a:r>
                    </a:p>
                  </a:txBody>
                  <a:tcPr marT="27432" marB="27432"/>
                </a:tc>
                <a:tc>
                  <a:txBody>
                    <a:bodyPr/>
                    <a:lstStyle/>
                    <a:p>
                      <a:r>
                        <a:rPr sz="1200" b="0"/>
                        <a:t>post-processing: Cd, Cl, St against the NASA Study #1 reference (VALIDATION_NASA.md)</a:t>
                      </a:r>
                    </a:p>
                  </a:txBody>
                  <a:tcPr marT="27432" marB="27432"/>
                </a:tc>
              </a:tr>
              <a:tr h="274320">
                <a:tc>
                  <a:txBody>
                    <a:bodyPr/>
                    <a:lstStyle/>
                    <a:p>
                      <a:r>
                        <a:rPr sz="1200" b="0"/>
                        <a:t>cylinder_re150/THEORY_12_steps.md</a:t>
                      </a:r>
                    </a:p>
                  </a:txBody>
                  <a:tcPr marT="27432" marB="27432"/>
                </a:tc>
                <a:tc>
                  <a:txBody>
                    <a:bodyPr/>
                    <a:lstStyle/>
                    <a:p>
                      <a:r>
                        <a:rPr sz="1200" b="0"/>
                        <a:t>the method as twelve short steps (this deck in text form)</a:t>
                      </a:r>
                    </a:p>
                  </a:txBody>
                  <a:tcPr marT="27432" marB="27432"/>
                </a:tc>
              </a:tr>
              <a:tr h="274320">
                <a:tc>
                  <a:txBody>
                    <a:bodyPr/>
                    <a:lstStyle/>
                    <a:p>
                      <a:r>
                        <a:rPr sz="1200" b="0"/>
                        <a:t>cylinder_re150/THEORY_ns_staggered.md</a:t>
                      </a:r>
                    </a:p>
                  </a:txBody>
                  <a:tcPr marT="27432" marB="27432"/>
                </a:tc>
                <a:tc>
                  <a:txBody>
                    <a:bodyPr/>
                    <a:lstStyle/>
                    <a:p>
                      <a:r>
                        <a:rPr sz="1200" b="0"/>
                        <a:t>compact term-by-term derivation</a:t>
                      </a:r>
                    </a:p>
                  </a:txBody>
                  <a:tcPr marT="27432" marB="27432"/>
                </a:tc>
              </a:tr>
              <a:tr h="274320">
                <a:tc>
                  <a:txBody>
                    <a:bodyPr/>
                    <a:lstStyle/>
                    <a:p>
                      <a:r>
                        <a:rPr sz="1200" b="0"/>
                        <a:t>cylinder_re150/demo/</a:t>
                      </a:r>
                    </a:p>
                  </a:txBody>
                  <a:tcPr marT="27432" marB="27432"/>
                </a:tc>
                <a:tc>
                  <a:txBody>
                    <a:bodyPr/>
                    <a:lstStyle/>
                    <a:p>
                      <a:r>
                        <a:rPr sz="1200" b="0"/>
                        <a:t>cylinder_wake_griebel.gif, forces_griebel_fine.png, ns_fine_shedding_frame.png, these slides</a:t>
                      </a:r>
                    </a:p>
                  </a:txBody>
                  <a:tcPr marT="27432" marB="27432"/>
                </a:tc>
              </a:tr>
              <a:tr h="274320">
                <a:tc>
                  <a:txBody>
                    <a:bodyPr/>
                    <a:lstStyle/>
                    <a:p>
                      <a:r>
                        <a:rPr sz="1200" b="0"/>
                        <a:t>cylinder_re150/mesh_output/ (generated)</a:t>
                      </a:r>
                    </a:p>
                  </a:txBody>
                  <a:tcPr marT="27432" marB="27432"/>
                </a:tc>
                <a:tc>
                  <a:txBody>
                    <a:bodyPr/>
                    <a:lstStyle/>
                    <a:p>
                      <a:r>
                        <a:rPr sz="1200" b="0"/>
                        <a:t>staggered_{quick,fine,result}.npz, mesh pictures, vtk/msh</a:t>
                      </a:r>
                    </a:p>
                  </a:txBody>
                  <a:tcPr marT="27432" marB="27432"/>
                </a:tc>
              </a:tr>
              <a:tr h="274320">
                <a:tc>
                  <a:txBody>
                    <a:bodyPr/>
                    <a:lstStyle/>
                    <a:p>
                      <a:r>
                        <a:rPr sz="1200" b="0"/>
                        <a:t>cylinder_re150/output_ns/ (generated)</a:t>
                      </a:r>
                    </a:p>
                  </a:txBody>
                  <a:tcPr marT="27432" marB="27432"/>
                </a:tc>
                <a:tc>
                  <a:txBody>
                    <a:bodyPr/>
                    <a:lstStyle/>
                    <a:p>
                      <a:r>
                        <a:rPr sz="1200" b="0"/>
                        <a:t>frames, GIF, fields npz, forces and solution plots</a:t>
                      </a:r>
                    </a:p>
                  </a:txBody>
                  <a:tcPr marT="27432" marB="27432"/>
                </a:tc>
              </a:tr>
            </a:tbl>
          </a:graphicData>
        </a:graphic>
      </p:graphicFrame>
      <p:sp>
        <p:nvSpPr>
          <p:cNvPr id="6" name="Rectangle 5"/>
          <p:cNvSpPr/>
          <p:nvPr/>
        </p:nvSpPr>
        <p:spPr>
          <a:xfrm>
            <a:off x="548640" y="4206240"/>
            <a:ext cx="11064240" cy="10972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t" lIns="137160" rIns="137160" wrap="square"/>
          <a:lstStyle/>
          <a:p>
            <a:pPr algn="ctr"/>
            <a:r>
              <a:rPr sz="1200" b="1">
                <a:solidFill>
                  <a:srgbClr val="B23A2A"/>
                </a:solidFill>
              </a:rPr>
              <a:t>Reference for the method: M. Griebel, T. Dornseifer, T. Neunhoeffer, Numerical Simulation in Fluid Dynamics: A Practical Introduction, SIAM 1998 — chapter 3 (the MAC/projection scheme, donor-cell convection, SOR) — and its C implementation at github.com/CaptainProton42/NavierStokes (integration.c, main.c).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