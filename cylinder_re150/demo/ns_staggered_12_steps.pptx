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12 steps to the cylinder wake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DDE6F0"/>
                </a:solidFill>
              </a:rPr>
              <a:t>How ns_staggered_euler.py solves flow past a cylinder at Re = 150 on the known-sizes O–H staggered mesh</a:t>
            </a:r>
          </a:p>
          <a:p>
            <a:r>
              <a:rPr sz="1800" i="1">
                <a:solidFill>
                  <a:srgbClr val="DDE6F0"/>
                </a:solidFill>
              </a:rPr>
              <a:t>equation → discretise on our mesh → rearrange for the unknown → code → what we see</a:t>
            </a:r>
          </a:p>
        </p:txBody>
      </p:sp>
      <p:pic>
        <p:nvPicPr>
          <p:cNvPr id="5" name="Picture 4" descr="ns_fine_shedding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566160"/>
            <a:ext cx="2804282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BC8D8"/>
                </a:solidFill>
              </a:rPr>
              <a:t>Time stepping / projection after Griebel, Dornseifer &amp; Neunhoeffer (1998)
as in github.com/CaptainProton42/NavierStokes; finite-volume operators on the multiblock 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1  </a:t>
            </a:r>
            <a:r>
              <a:rPr sz="2600" b="1">
                <a:solidFill>
                  <a:srgbClr val="1F3A5F"/>
                </a:solidFill>
              </a:rPr>
              <a:t>What we solve, and where the unknowns sit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_eb2960e1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852160" cy="305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920240"/>
            <a:ext cx="5852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</a:rPr>
              <a:t>• Mesh from mesh_from_known_sizes.py: O-ring + transition + Cartesian blocks, 26,444 cells (d_min = 0.015)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</a:rPr>
              <a:t>• No i, j — a cell knows its neighbours only through its faces (owner / neighbour arrays)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</a:rPr>
              <a:t>• Staggered (MAC): p, u, v at cell centres P;  U_n = u·n on face centres 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</a:rPr>
              <a:t>• The pressure difference across a face and the velocity through it sit in the same place → no checkerboard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97680"/>
            <a:ext cx="5852160" cy="192024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P   = S["cell_centers"]   # p, u, v live here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Fc  = S["face_centers"]   # Un lives here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n   = S["face_normals"]   # owner -&gt; neighbour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L   = S["face_lengths"]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own = S["face_owner"]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nei = S["face_neigh"]     # -1 on a boundary</a:t>
            </a:r>
          </a:p>
        </p:txBody>
      </p:sp>
      <p:pic>
        <p:nvPicPr>
          <p:cNvPr id="7" name="Picture 6" descr="staggered_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80160"/>
            <a:ext cx="5303520" cy="25685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39319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555"/>
                </a:solidFill>
              </a:rPr>
              <a:t>left: cell centres P (pressure)   right: face centres (velocity U_n) in the cylinder boundary layer</a:t>
            </a:r>
          </a:p>
        </p:txBody>
      </p:sp>
      <p:pic>
        <p:nvPicPr>
          <p:cNvPr id="9" name="Picture 8" descr="sketch_c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389120"/>
            <a:ext cx="277368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1b  </a:t>
            </a:r>
            <a:r>
              <a:rPr sz="2600" b="1">
                <a:solidFill>
                  <a:srgbClr val="1F3A5F"/>
                </a:solidFill>
              </a:rPr>
              <a:t>One tool for every term: cell integral → face sum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_98198b3c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277295" cy="6519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2468880"/>
            <a:ext cx="6949440" cy="173736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def accumulate(flux, own, nei, Nc):   # sum_f s_{P,f} * flux_f, for every cell at once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    out = np.zeros(Nc)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    np.add.at(out, own, flux)          # + for the owner cell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    m = nei &gt;= 0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    np.add.at(out, nei[m], -flux[m])   # - for the neighbour cell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    return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Convection, diffusion, divergence and pressure gradient are all this function with a different flux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On a Cartesian cell the face sum collapses to the usual (i+1) − 2(i) + (i−1) stencils; here the faces may point anywhere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Cell area V_P is itself a face sum:  V_P = ½ Σ (x_f · n_f) L_f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d_PN = |x_N − x_P| plays the role of Δx between the two cells; L_f plays the role of Δy of the face</a:t>
            </a:r>
          </a:p>
        </p:txBody>
      </p:sp>
      <p:pic>
        <p:nvPicPr>
          <p:cNvPr id="7" name="Picture 6" descr="sketch_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377440"/>
            <a:ext cx="4023360" cy="27854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2  </a:t>
            </a:r>
            <a:r>
              <a:rPr sz="2600" b="1">
                <a:solidFill>
                  <a:srgbClr val="1F3A5F"/>
                </a:solidFill>
              </a:rPr>
              <a:t>The time derivative: forward (explicit) Euler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_d84485ec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277295" cy="6136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555555"/>
                </a:solidFill>
              </a:rPr>
              <a:t>• Everything on the right-hand side is a known number → the new field is a one-line numpy expression, no equation to solve for the velocity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555555"/>
                </a:solidFill>
              </a:rPr>
              <a:t>• Same update for every cell, for u and for v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555555"/>
                </a:solidFill>
              </a:rPr>
              <a:t>• The price: Δt is limited by the smallest cell (Step 9) — the whole domain marches at the step dictated by the cylinder boundary layer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555555"/>
                </a:solidFill>
              </a:rPr>
              <a:t>• First order in time; this is one reason Cd and St come out a few % above reference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3  </a:t>
            </a:r>
            <a:r>
              <a:rPr sz="2600" b="1">
                <a:solidFill>
                  <a:srgbClr val="1F3A5F"/>
                </a:solidFill>
              </a:rPr>
              <a:t>The convective term — three ways to pick φ at the 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_22d64682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277295" cy="667551"/>
          </a:xfrm>
          <a:prstGeom prst="rect">
            <a:avLst/>
          </a:prstGeom>
        </p:spPr>
      </p:pic>
      <p:pic>
        <p:nvPicPr>
          <p:cNvPr id="5" name="Picture 4" descr="eq_244f4d4f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6291775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880360"/>
            <a:ext cx="6766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γ = 0  central: the average, 2nd order, no built-in damping  (--scheme central)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γ = 1  upwind / donor cell: the upstream cell, 1st order, numerical viscosity ≈ ½|U_n| d_PN  (--scheme upwind)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γ = CFL = max |U_n| Δt / h_min: Griebel's adaptive blend  (--scheme donor, ≈ 0.36 here)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89120"/>
            <a:ext cx="6766560" cy="137160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phi_f[interior] = (1-gamma)*0.5*(phi[o]+phi[nn]) \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                + gamma*np.where(Un[interior] &gt;= 0, phi[o], phi[nn])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ru = accumulate(Un * uf * L, own, nei, Nc)     # for u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rv = accumulate(Un * vf * L, own, nei, Nc)     # for v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conv_u, conv_v = -ru / vol, -rv / vol</a:t>
            </a:r>
          </a:p>
        </p:txBody>
      </p:sp>
      <p:pic>
        <p:nvPicPr>
          <p:cNvPr id="8" name="Picture 7" descr="sketch_f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280160"/>
            <a:ext cx="4206240" cy="2336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384048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23A2A"/>
                </a:solidFill>
              </a:rPr>
              <a:t>What we see: same 37k-cell mesh to tU/D = 150 — donor keeps Cl ≡ 0 (its numerical viscosity holds the symmetric wake), central sheds vortices. The scheme is not cosmetic.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</a:rPr>
              <a:t>Boundary faces: φ_f = (U∞, 0) at the inlet, 0 on walls and cylinder, owner value at the outlet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4  </a:t>
            </a:r>
            <a:r>
              <a:rPr sz="2600" b="1">
                <a:solidFill>
                  <a:srgbClr val="1F3A5F"/>
                </a:solidFill>
              </a:rPr>
              <a:t>The viscous term — central gradient across each 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_bfdccab5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277295" cy="863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2377440"/>
            <a:ext cx="6949440" cy="137160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g = np.empty(Nf)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g[interior] = (phi[nei[interior]] - phi[own[interior]]) / d_pn[interior]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g[bnd]      = (phi_bc[bnd] - phi[own[bnd]]) / (0.5 * d_pn[bnd])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lap = accumulate(nu * g * L, own, nei, Nc) / vol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</a:rPr>
              <a:t>• On a Cartesian cell this is exactly ν(φ_{i+1} − 2φ_i + φ_{i−1})/Δx² — written as a flux balance so skewed ring cells work too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</a:rPr>
              <a:t>• No non-orthogonal correction: first-order on strongly skewed cells, one reason the Δt safety factor τ is 0.4 rather than 0.5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555"/>
                </a:solidFill>
              </a:rPr>
              <a:t>• u_bc = U∞ at the inlet, 0 on walls / cylinder;  v_bc = 0 on all of them;  outlet: zero gradient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5  </a:t>
            </a:r>
            <a:r>
              <a:rPr sz="2600" b="1">
                <a:solidFill>
                  <a:srgbClr val="1F3A5F"/>
                </a:solidFill>
              </a:rPr>
              <a:t>The predictor F, G — momentum without pressure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_fd154347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277295" cy="5718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2103120"/>
            <a:ext cx="6583680" cy="192024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cu, cv = _convective(u, v, Un, gamma)        # Step 3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F = u + dt * (_laplacian(u, u_bc) + cu)      # Step 2 + 4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G = v + dt * (_laplacian(v, v_bc) + cv)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uf, vf  = face_values(F, G, gamma=0.0)       # average to faces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Un_star = uf * n[:, 0] + vf * n[:, 1]        # provisional flux</a:t>
            </a:r>
          </a:p>
        </p:txBody>
      </p:sp>
      <p:pic>
        <p:nvPicPr>
          <p:cNvPr id="6" name="Picture 5" descr="eq_316416f7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06240"/>
            <a:ext cx="6098922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46320"/>
            <a:ext cx="6766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F, G carry the right momentum but nobody has enforced continuity: ∇·(F,G) ≠ 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The pressure is left out on purpose — its only job (Steps 6–8) is to remove that divergence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Because F, G contain no old pressure, the p we solve for next is the pressure itself, not an increment</a:t>
            </a:r>
          </a:p>
        </p:txBody>
      </p:sp>
      <p:pic>
        <p:nvPicPr>
          <p:cNvPr id="8" name="Picture 7" descr="sketch_proj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03120"/>
            <a:ext cx="4572000" cy="15716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6  </a:t>
            </a:r>
            <a:r>
              <a:rPr sz="2600" b="1">
                <a:solidFill>
                  <a:srgbClr val="1F3A5F"/>
                </a:solidFill>
              </a:rPr>
              <a:t>Divergence of a cell ⇒ the equation for the pressure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_81f86be2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46392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</a:rPr>
              <a:t>We want the end-of-step flux to be corrected by the pressure difference across the face  AND  zero divergence:</a:t>
            </a:r>
          </a:p>
        </p:txBody>
      </p:sp>
      <p:pic>
        <p:nvPicPr>
          <p:cNvPr id="6" name="Picture 5" descr="eq_6188f3d0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7070225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</a:rPr>
              <a:t>Put the first into the second — one linear equation per cell, unknowns p in the cell and its neighbours:</a:t>
            </a:r>
          </a:p>
        </p:txBody>
      </p:sp>
      <p:pic>
        <p:nvPicPr>
          <p:cNvPr id="8" name="Picture 7" descr="eq_fd864f97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11880"/>
            <a:ext cx="556562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572000"/>
            <a:ext cx="7132320" cy="100584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o, c = own[interior], nei[interior];  g = L[interior] / d_pn[interior]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rows = r_[o, o, c, c]; cols = r_[c, o, o, c]; data = r_[g, -g, g, -g]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A = sparse.coo_matrix((data, (rows, cols)), shape=(Nc, Nc)).tocsr()   # built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48056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A is symmetric and never changes (the mesh does not move)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All boundaries ∂p/∂n = 0 → rows sum to zero: p defined up to a constant, and solvable only if rhs.sum() == 0 (inflow = outflow)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7  </a:t>
            </a:r>
            <a:r>
              <a:rPr sz="2600" b="1">
                <a:solidFill>
                  <a:srgbClr val="1F3A5F"/>
                </a:solidFill>
              </a:rPr>
              <a:t>Boundary conditions on the flux, and the mass balance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6949440" cy="301752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def _enforce_Un_bc(Un):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    Un[inlet] = U_inf * n[inlet, 0] + v_in(t) * n[inlet, 1]   # prescribed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    Un[wall_top] = Un[wall_bottom] = Un[cylinder] = 0.0        # no-slip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    return Un                       # outlet: left as is (zero gradient)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 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def _balance_outlet(Un):            # make rhs.sum() == 0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    Q_other = np.sum(Un[~outlet &amp; bnd] * L[~outlet &amp; bnd])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    Q_out   = np.sum(Un[outlet] * L[outlet])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    Un[outlet] += -(Q_other + Q_out) / np.sum(L[outlet])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    return 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inlet x = 0: u = U∞ (+ a short transverse pulse, Step 10);  outlet x = 24 D: ∂u/∂n = 0;  walls y = 0, 12 D and cylinder (centre 6 D, 6 D): u = 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A zero-gradient outlet does not automatically let out what came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23A2A"/>
                </a:solidFill>
              </a:rPr>
              <a:t>What we saw without _balance_outlet: the solver ran, but max|div| sat at 1e-2, largest in the tiny cells on the cylinder — the unbalanced mass was spread over the domain as a constant divergence.
With it: max|div| = 1e-12.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4206240"/>
            <a:ext cx="4023360" cy="82296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step 10220  t=48.09  max|div|=1.571e-02   # before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step 31819  t=150.0  max|div|=7.857e-13   # 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8  </a:t>
            </a:r>
            <a:r>
              <a:rPr sz="2600" b="1">
                <a:solidFill>
                  <a:srgbClr val="1F3A5F"/>
                </a:solidFill>
              </a:rPr>
              <a:t>Solve for p, then correct — faces first, cells second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6949440" cy="320040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rhs = vol / dt * _div(Un_star);  rhs -= rhs.mean()   # compatibility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p = solve(A, rhs);               p -= p.mean()       # free constant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Un = Un_star.copy()                                  # faces first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Un[interior] -= dt * (p[nei[interior]] - p[own[interior]]) / d_pn[interior]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Un = _enforce_Un_bc(Un)                              # _div(Un) ~ 1e-12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pf = 0.5 * (p[own] + p[nei]);  pf[bnd] = p[own[bnd]] # Green-Gauss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gx = accumulate(pf * n[:, 0] * L, own, nei, Nc) / vol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gy = accumulate(pf * n[:, 1] * L, own, nei, Nc) / vol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u = F - dt * gx;   v = G - dt * gy                   # cells second</a:t>
            </a:r>
          </a:p>
        </p:txBody>
      </p:sp>
      <p:pic>
        <p:nvPicPr>
          <p:cNvPr id="5" name="Picture 4" descr="eq_2be36aa8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63440"/>
            <a:ext cx="6949440" cy="3547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--poisson sor: Gauss–Seidel sweeps, ω = 1.7 (Griebel's original) — thousands of sweeps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--poisson cg: Jacobi-PCG on the mean-free operator — ≈1000 iterations, 390 ms/step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--poisson lu (default): pin one cell, splu(A) once, two triangular solves per step — 2 ms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Same (p_N − p_P)/d_PN that built A is used to correct the faces → divergence is zero to solver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23A2A"/>
                </a:solidFill>
              </a:rPr>
              <a:t>max|div| = 7.9e-13 in the log, every 20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9  </a:t>
            </a:r>
            <a:r>
              <a:rPr sz="2600" b="1">
                <a:solidFill>
                  <a:srgbClr val="1F3A5F"/>
                </a:solidFill>
              </a:rPr>
              <a:t>Choosing Δt — the smallest cell decides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_ad4a5892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0063625" cy="8229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2286000"/>
            <a:ext cx="5943600" cy="100584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def stable_dt():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    umax = max(np.abs(Un).max(), U_inf)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ourier New"/>
              </a:rPr>
              <a:t>    return tau * min(hmin / umax, Re * hmin**2 /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h_min / |u|_max — CFL: fluid may not cross more than one cell per step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Re h_min² / 4 — diffusive limit of explicit Euler: halving d_min quarters Δt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τ is the safety factor (Griebel use 0.5; 0.4 here for the skewed ring cells)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Fine mesh: h_min = 0.0177 (first ring on the cylinder), |u|_max ≈ 1.58 while shedding → Δt ≈ 0.0045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≈ 1,100 steps per shedding period, 26,600 steps to tU/D = 120 — about 12 ms each with the LU solver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Adaptive in name only once the start-up transient is over: h_min is fixed and |u|_max barely moves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Far-field cells are 0.12 wide and could take a 7× larger step; one global explicit Δt does not allow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10  </a:t>
            </a:r>
            <a:r>
              <a:rPr sz="2600" b="1">
                <a:solidFill>
                  <a:srgbClr val="1F3A5F"/>
                </a:solidFill>
              </a:rPr>
              <a:t>Initial condition — why a symmetric start never sheds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u = U∞, v = 0 everywhere (impulsive start), projected once with Steps 6–8 so step 1 begins divergence-free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The O–H mesh is exactly mirror-symmetric about y = 0, and so is every operator above → a symmetric start stays symmetric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Cl printed as −0.000 for 120 time units while the wake grew into the long, steady, unstable symmetric bubble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Only at tU/D ≈ 120 had round-off grown enough (×10¹³) to start the oscillation — the left plot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A small seed one diameter behind the cylinder brings the onset to tU/D ≈ 20 — the right plot; both end on the same limit cycle (earlier 40 D × 10 D domain; Cl ± 0.75)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54680"/>
            <a:ext cx="6400800" cy="68580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r2 = (P[:, 0] - 1.0)**2 + P[:, 1]**2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v += perturb * U_inf * np.exp(-r2 / 0.5**2)    # perturb = 0.1  (--perturb)</a:t>
            </a:r>
          </a:p>
        </p:txBody>
      </p:sp>
      <p:pic>
        <p:nvPicPr>
          <p:cNvPr id="6" name="Picture 5" descr="forces_noseed_40x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1920"/>
            <a:ext cx="3965171" cy="2423160"/>
          </a:xfrm>
          <a:prstGeom prst="rect">
            <a:avLst/>
          </a:prstGeom>
        </p:spPr>
      </p:pic>
      <p:pic>
        <p:nvPicPr>
          <p:cNvPr id="7" name="Picture 6" descr="forces_seed_40x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31920"/>
            <a:ext cx="3965171" cy="2423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11  </a:t>
            </a:r>
            <a:r>
              <a:rPr sz="2600" b="1">
                <a:solidFill>
                  <a:srgbClr val="1F3A5F"/>
                </a:solidFill>
              </a:rPr>
              <a:t>The time loop — and what comes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658368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while t &lt; t_end: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dt    = stable_dt()                                   # Step 9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gamma = scheme_gamma(dt)                              # Step 3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Un    = _enforce_Un_bc(Un)                            # Step 7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cu, cv = _convective(u, v, Un, gamma)                 # Step 3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F = u + dt * (_laplacian(u, u_bc) + cu)               # Steps 4-5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G = v + dt * (_laplacian(v, v_bc) + cv)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Un_star = face_normal(F, G)                           # Step 5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Un_star = _balance_outlet(_enforce_Un_bc(Un_star))    # Step 7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rhs = vol / dt * _div(Un_star); rhs -= rhs.mean()     # Step 6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p = solve(A, rhs); p -= p.mean()                      # Step 8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Un = Un_star - dt * grad_face(p); Un = _enforce_Un_bc(Un)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u, v = F - dt * gx(p), G - dt * gy(p)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t += dt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Cd, Cl = forces_on_cylinder(p, u, v)                  # diagnostics</a:t>
            </a:r>
          </a:p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    if step % 100 == 0: save_frame(u, v, t)               # Step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Forces: Σ_cyl p n L (pressure) + ν u_t/(d/2) (wall shear), over ½ρU∞²D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Fine mesh, central: after the impulsive transient Cl grows exponentially and saturates at ± 0.71 by tU/D ≈ 30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Period 1/St ≈ 4.8 → St ≈ 0.21;  Cd ≈ 1.56 oscillating at twice the lift frequency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Unbounded-cylinder references: St ≈ 0.18, Cd ≈ 1.33 — the 8.3 % blockage of the 12 D-high channel and first-order Euler push both up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Cost: 12 ms/step, 37k cells, 26,600 steps → ≈ 6 min to tU/D = 120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5394960"/>
            <a:ext cx="4572000" cy="45720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100">
                <a:solidFill>
                  <a:srgbClr val="202020"/>
                </a:solidFill>
                <a:latin typeface="Courier New"/>
              </a:rPr>
              <a:t>forces   : Cd_mean=1.564  Cl_amp=0.712  St=0.207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STEP 12  </a:t>
            </a:r>
            <a:r>
              <a:rPr sz="2600" b="1">
                <a:solidFill>
                  <a:srgbClr val="1F3A5F"/>
                </a:solidFill>
              </a:rPr>
              <a:t>The pictures — snapshots, one instant per frame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6035040" cy="1280160"/>
          </a:xfrm>
          <a:prstGeom prst="rect">
            <a:avLst/>
          </a:prstGeom>
          <a:solidFill>
            <a:srgbClr val="F3F4F6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coll = PolyCollection(S["quads"], array=field, cmap="RdBu_r")  # one colour per cell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ax.add_collection(coll)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idx = np.arange(0, Nc, Nc // 400)                              # ~400 sampled cells</a:t>
            </a:r>
          </a:p>
          <a:p>
            <a:pPr algn="l"/>
            <a:r>
              <a:rPr sz="1200">
                <a:solidFill>
                  <a:srgbClr val="202020"/>
                </a:solidFill>
                <a:latin typeface="Courier New"/>
              </a:rPr>
              <a:t>ax.quiver(P[idx, 0], P[idx, 1], u[idx], v[idx])                 # velocity vector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Top: vorticity ω_z = ∂v/∂x − ∂u/∂y from the Green–Gauss gradient of Step 8 — red / blue = the two senses of rotation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Bottom, 'Velocity plot': the speed |u| — free stream ≈ 1, wake (slow) dark, shoulders (fast) bright; arrows = (u_P, v_P) in the sampled cells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One frame every 100 steps (≈ 0.45 time units, ~11 per shedding period); GIF loops the last ~4 periods, MP4 is the whole history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Nothing is traced between frames: the next frame is simply the next saved state, coloured and arrowed again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55555"/>
                </a:solidFill>
              </a:rPr>
              <a:t>• No streamlines. An arrow is the local velocity vector at that instant, not a path</a:t>
            </a:r>
          </a:p>
        </p:txBody>
      </p:sp>
      <p:pic>
        <p:nvPicPr>
          <p:cNvPr id="6" name="Picture 5" descr="ns_fine_shedding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234440"/>
            <a:ext cx="4673803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B23A2A"/>
                </a:solidFill>
              </a:rPr>
              <a:t>SUMMARY  </a:t>
            </a:r>
            <a:r>
              <a:rPr sz="2600" b="1">
                <a:solidFill>
                  <a:srgbClr val="1F3A5F"/>
                </a:solidFill>
              </a:rPr>
              <a:t>The twelve steps on one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1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120640"/>
                <a:gridCol w="5212080"/>
              </a:tblGrid>
              <a:tr h="379827">
                <a:tc>
                  <a:txBody>
                    <a:bodyPr/>
                    <a:lstStyle/>
                    <a:p>
                      <a:r>
                        <a:rPr b="1" sz="130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in our solver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Mesh arrays, staggered unknowns, accumulate()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p, u, v at P; U_n on faces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Explicit Euler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φⁿ⁺¹ = φⁿ + Δt·RHS(n)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Convective flux, γ-blend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central / upwind / donor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Viscous 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ν (φ_N − φ_P)/d_PN · L_f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Predictor F,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momentum without pressure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Divergence ⇒ 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Σ L/d (p_N − p_P) = V/Δt ∇·u*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BCs + outlet mass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rhs.sum() == 0 → div 1e-12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Solve (LU) and 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faces first, then cells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Δt = τ·min(h/u, Re h²/4)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0.0045 on the fine mesh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2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Symmetric start +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shedding by tU/D ≈ 20–30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2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Loop, Cd / 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 ±0.71, St 0.21, Cd 1.56</a:t>
                      </a:r>
                    </a:p>
                  </a:txBody>
                  <a:tcPr/>
                </a:tc>
              </a:tr>
              <a:tr h="379836">
                <a:tc>
                  <a:txBody>
                    <a:bodyPr/>
                    <a:lstStyle/>
                    <a:p>
                      <a:r>
                        <a:rPr sz="12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Snapshots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cell colour + arrows, no streamlines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ns_staggered_euler.py on the known-sizes O–H staggered mesh   ·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